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41f78c5-f21e-e44c-d054-50f9254329d3}">
          <p14:sldIdLst>
            <p14:sldId id="256"/>
          </p14:sldIdLst>
        </p14:section>
        <p14:section name="Company" id="{861da94c-a39d-7816-85ff-3a89398f1377}">
          <p14:sldIdLst>
            <p14:sldId id="257"/>
            <p14:sldId id="258"/>
            <p14:sldId id="259"/>
          </p14:sldIdLst>
        </p14:section>
        <p14:section name="KOZHAN 4.0" id="{e6dcf5f7-6db5-bfdf-0b9a-0df956170af7}">
          <p14:sldIdLst>
            <p14:sldId id="260"/>
            <p14:sldId id="261"/>
            <p14:sldId id="262"/>
            <p14:sldId id="263"/>
          </p14:sldIdLst>
        </p14:section>
        <p14:section name="Products" id="{c2df39e9-01e3-2952-e29f-f6e5288cc5f3}">
          <p14:sldIdLst>
            <p14:sldId id="264"/>
          </p14:sldIdLst>
        </p14:section>
        <p14:section name="Portfolio" id="{a3cf6d8c-9570-c046-f66a-57e3e857e217}">
          <p14:sldIdLst>
            <p14:sldId id="265"/>
          </p14:sldIdLst>
        </p14:section>
        <p14:section name="Contact" id="{20544360-6cea-500a-4a50-a2e656ec94db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Introduce Vanguard and the purpose of the meeting: present the 2026 product line and discuss partnership with Norwegian investors.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Company overview and the three capability areas. Detailed product slides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advantages. The emphasis of this presentation is the KOZHAN 4.0 detector, covered in the next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we solve. The radar graphic is illustrative; KOZHAN 4.0 detects from 2 km.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KOZHAN 4.0 is the focus of this presentation. How it works: scan, detect, alert.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Specifications from the 2026 catalog. The catalog gives the upper band edge as 8260 MHz on the overview page and 8200 MHz in the specification table; confirm before sending.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 set, connectors and the optional active remote antenna (powered via MT-30; amplifier gain to be confirmed in the catalog).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layer works on its own and is stronger together. Delfin, Hydra 2U, Dokatka and Kraken all support connection to the KOZHAN detector.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products in three groups. All EW platforms can be switched on automatically by the KOZHAN detector.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EW platforms can be switched on automatically by the KOZHAN detector; NICH provides thermal observation at night. Partnership topics for discussion: distribution, localisation and joint development with Norwegian partners.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 with contacts and the QR code to the company website.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esentation-vanguard/assets/emblem_brass.png">    </p:cNvPr>
          <p:cNvPicPr>
            <a:picLocks noChangeAspect="1"/>
          </p:cNvPicPr>
          <p:nvPr/>
        </p:nvPicPr>
        <p:blipFill>
          <a:blip r:embed="rId1">
            <a:alphaModFix amt="6000"/>
          </a:blip>
          <a:stretch>
            <a:fillRect/>
          </a:stretch>
        </p:blipFill>
        <p:spPr>
          <a:xfrm>
            <a:off x="8778240" y="3291840"/>
            <a:ext cx="4023360" cy="39319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66928"/>
            <a:ext cx="10911535" cy="9144"/>
          </a:xfrm>
          <a:prstGeom prst="rect">
            <a:avLst/>
          </a:prstGeom>
          <a:solidFill>
            <a:srgbClr val="22334F"/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201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VANGUARD   ·   TECHNOLOGIES THAT PROTECT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resentation-vanguard/assets/emblem_brass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tretch>
            <a:fillRect/>
          </a:stretch>
        </p:blipFill>
        <p:spPr>
          <a:xfrm>
            <a:off x="7498080" y="-548640"/>
            <a:ext cx="5852160" cy="56692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slideLayout" Target="../slideLayouts/slideLayout3.xml"/><Relationship Id="rId1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hyperlink" Target="https://ursvanguard.com" TargetMode="External"/><Relationship Id="rId8" Type="http://schemas.openxmlformats.org/officeDocument/2006/relationships/hyperlink" Target="https://ursvanguard.com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7" Type="http://schemas.openxmlformats.org/officeDocument/2006/relationships/image" Target="../media/image-11-6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anguard emblem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-1097280" y="2194560"/>
            <a:ext cx="6035040" cy="5852160"/>
          </a:xfrm>
          <a:prstGeom prst="rect">
            <a:avLst/>
          </a:prstGeom>
        </p:spPr>
      </p:pic>
      <p:pic>
        <p:nvPicPr>
          <p:cNvPr id="3" name="Image 1" descr="Vanguard — Ukrainian Radioelectronic System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3566160" cy="1430805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2697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PRESENTATION   ·   NORWAY   ·   2026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640080" y="306324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Technologies that Protect</a:t>
            </a:r>
            <a:endParaRPr lang="en-US" sz="50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49377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Ukrainian radioelectronic systems: drone detection, thermal surveillance and electronic warfare, developed in Kyiv.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URS “Vanguard”   ·   Kyiv, Ukraine</a:t>
            </a:r>
            <a:endParaRPr lang="en-US" sz="1200" dirty="0"/>
          </a:p>
        </p:txBody>
      </p:sp>
      <p:pic>
        <p:nvPicPr>
          <p:cNvPr id="8" name="Image 2" descr="KOZHAN 4.0 drone detecto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789" y="502920"/>
            <a:ext cx="3223382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VANGUARD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Ukrainian engineering, built for the front line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URS “Vanguard” is a Kyiv-based developer of radioelectronic systems. Our motto, Technologies that Protect, is a design brief: give operators early warning, clear situational awareness and effective countermeasures where conditions are hardest.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43484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products in the 2026 catalog: a drone detector with an active antenna, a thermal camera and four mobile electronic warfare systems.</a:t>
            </a:r>
            <a:endParaRPr lang="en-US" sz="1600" dirty="0"/>
          </a:p>
        </p:txBody>
      </p:sp>
      <p:sp>
        <p:nvSpPr>
          <p:cNvPr id="6" name="Card"/>
          <p:cNvSpPr/>
          <p:nvPr/>
        </p:nvSpPr>
        <p:spPr>
          <a:xfrm>
            <a:off x="6309360" y="2103120"/>
            <a:ext cx="5239512" cy="1298448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7" name="IconRing"/>
          <p:cNvSpPr/>
          <p:nvPr/>
        </p:nvSpPr>
        <p:spPr>
          <a:xfrm>
            <a:off x="6583680" y="246888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8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36751" y="2621951"/>
            <a:ext cx="260787" cy="26078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406640" y="230428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Radioelectronic reconnaissance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406640" y="276148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KOZHAN 4.0 multi-band drone detector.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6309360" y="3584448"/>
            <a:ext cx="5239512" cy="1298448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2" name="IconRing"/>
          <p:cNvSpPr/>
          <p:nvPr/>
        </p:nvSpPr>
        <p:spPr>
          <a:xfrm>
            <a:off x="6583680" y="3950208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3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751" y="4103279"/>
            <a:ext cx="260787" cy="26078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06640" y="378561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surveillance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7406640" y="424281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 thermal camera for observation in darkness.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6309360" y="5065776"/>
            <a:ext cx="5239512" cy="1298448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7" name="IconRing"/>
          <p:cNvSpPr/>
          <p:nvPr/>
        </p:nvSpPr>
        <p:spPr>
          <a:xfrm>
            <a:off x="6583680" y="5431536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8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751" y="5584607"/>
            <a:ext cx="260787" cy="26078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406640" y="526694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Electronic warfare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7406640" y="5724144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Delfin, Hydra 2U, Dokatka and Kraken, 300–6000 MHz.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ADVANTAGES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partner with Vanguard</a:t>
            </a:r>
            <a:endParaRPr lang="en-US" sz="3600" dirty="0"/>
          </a:p>
        </p:txBody>
      </p:sp>
      <p:sp>
        <p:nvSpPr>
          <p:cNvPr id="4" name="Benefit card"/>
          <p:cNvSpPr/>
          <p:nvPr/>
        </p:nvSpPr>
        <p:spPr>
          <a:xfrm>
            <a:off x="640080" y="2103120"/>
            <a:ext cx="3593592" cy="20116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5" name="IconRing"/>
          <p:cNvSpPr/>
          <p:nvPr/>
        </p:nvSpPr>
        <p:spPr>
          <a:xfrm>
            <a:off x="914400" y="237744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6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7471" y="2530511"/>
            <a:ext cx="260787" cy="2607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3108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Born in the field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5204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in Ukraine, where drone threats are a daily reality.</a:t>
            </a:r>
            <a:endParaRPr lang="en-US" sz="1300" dirty="0"/>
          </a:p>
        </p:txBody>
      </p:sp>
      <p:sp>
        <p:nvSpPr>
          <p:cNvPr id="9" name="Benefit card"/>
          <p:cNvSpPr/>
          <p:nvPr/>
        </p:nvSpPr>
        <p:spPr>
          <a:xfrm>
            <a:off x="4297680" y="2103120"/>
            <a:ext cx="3593592" cy="20116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0" name="IconRing"/>
          <p:cNvSpPr/>
          <p:nvPr/>
        </p:nvSpPr>
        <p:spPr>
          <a:xfrm>
            <a:off x="4572000" y="237744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1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071" y="2530511"/>
            <a:ext cx="260787" cy="26078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3108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cycle from one vendor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5204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Detection, thermal surveillance and electronic warfare.</a:t>
            </a:r>
            <a:endParaRPr lang="en-US" sz="1300" dirty="0"/>
          </a:p>
        </p:txBody>
      </p:sp>
      <p:sp>
        <p:nvSpPr>
          <p:cNvPr id="14" name="Benefit card"/>
          <p:cNvSpPr/>
          <p:nvPr/>
        </p:nvSpPr>
        <p:spPr>
          <a:xfrm>
            <a:off x="7955280" y="2103120"/>
            <a:ext cx="3593592" cy="20116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5" name="IconRing"/>
          <p:cNvSpPr/>
          <p:nvPr/>
        </p:nvSpPr>
        <p:spPr>
          <a:xfrm>
            <a:off x="8229600" y="237744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6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671" y="2530511"/>
            <a:ext cx="260787" cy="26078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29600" y="3108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Compact and rugged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35204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KOZHAN 4.0: 780 g, IP54 case, up to 12 hours on battery.</a:t>
            </a:r>
            <a:endParaRPr lang="en-US" sz="1300" dirty="0"/>
          </a:p>
        </p:txBody>
      </p:sp>
      <p:sp>
        <p:nvSpPr>
          <p:cNvPr id="19" name="Benefit card"/>
          <p:cNvSpPr/>
          <p:nvPr/>
        </p:nvSpPr>
        <p:spPr>
          <a:xfrm>
            <a:off x="640080" y="4297680"/>
            <a:ext cx="3593592" cy="20116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20" name="IconRing"/>
          <p:cNvSpPr/>
          <p:nvPr/>
        </p:nvSpPr>
        <p:spPr>
          <a:xfrm>
            <a:off x="914400" y="457200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21" name="Image 3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7471" y="4725071"/>
            <a:ext cx="260787" cy="26078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14400" y="5303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integrate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914400" y="5715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Auto-start of EW systems, external display, remote antenna.</a:t>
            </a:r>
            <a:endParaRPr lang="en-US" sz="1300" dirty="0"/>
          </a:p>
        </p:txBody>
      </p:sp>
      <p:sp>
        <p:nvSpPr>
          <p:cNvPr id="24" name="Benefit card"/>
          <p:cNvSpPr/>
          <p:nvPr/>
        </p:nvSpPr>
        <p:spPr>
          <a:xfrm>
            <a:off x="4297680" y="4297680"/>
            <a:ext cx="3593592" cy="20116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25" name="IconRing"/>
          <p:cNvSpPr/>
          <p:nvPr/>
        </p:nvSpPr>
        <p:spPr>
          <a:xfrm>
            <a:off x="4572000" y="457200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26" name="Image 4" descr="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5071" y="4725071"/>
            <a:ext cx="260787" cy="26078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572000" y="5303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up to date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0" y="5715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updates over Wi-Fi, three automatic scan modes.</a:t>
            </a:r>
            <a:endParaRPr lang="en-US" sz="1300" dirty="0"/>
          </a:p>
        </p:txBody>
      </p:sp>
      <p:sp>
        <p:nvSpPr>
          <p:cNvPr id="29" name="Benefit card"/>
          <p:cNvSpPr/>
          <p:nvPr/>
        </p:nvSpPr>
        <p:spPr>
          <a:xfrm>
            <a:off x="7955280" y="4297680"/>
            <a:ext cx="3593592" cy="20116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30" name="IconRing"/>
          <p:cNvSpPr/>
          <p:nvPr/>
        </p:nvSpPr>
        <p:spPr>
          <a:xfrm>
            <a:off x="8229600" y="457200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31" name="Image 5" descr="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671" y="4725071"/>
            <a:ext cx="260787" cy="26078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29600" y="5303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for Europe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8229600" y="5715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in Ukrainian, English, German and Polish.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 first, then neutralise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4884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21671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Low-cost drones are everywhere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6060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UAVs threaten people, vehicles and positions, often with little warning.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2044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35387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Their signal gives them away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9776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 video links leave a radio signature that can be scanned for in real time.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89204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49103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triggers the response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53492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instant alert, or automatic activation of an EW system, closes the gap.</a:t>
            </a:r>
            <a:endParaRPr lang="en-US" sz="1400" dirty="0"/>
          </a:p>
        </p:txBody>
      </p:sp>
      <p:sp>
        <p:nvSpPr>
          <p:cNvPr id="13" name="Radar ring"/>
          <p:cNvSpPr/>
          <p:nvPr/>
        </p:nvSpPr>
        <p:spPr>
          <a:xfrm>
            <a:off x="6995160" y="1965960"/>
            <a:ext cx="4297680" cy="4297680"/>
          </a:xfrm>
          <a:prstGeom prst="ellipse">
            <a:avLst/>
          </a:prstGeom>
          <a:solidFill>
            <a:srgbClr val="111B2E">
              <a:alpha val="60000"/>
            </a:srgbClr>
          </a:solidFill>
          <a:ln w="12700">
            <a:solidFill>
              <a:srgbClr val="2F4468"/>
            </a:solidFill>
            <a:prstDash val="solid"/>
          </a:ln>
        </p:spPr>
      </p:sp>
      <p:sp>
        <p:nvSpPr>
          <p:cNvPr id="14" name="Radar ring"/>
          <p:cNvSpPr/>
          <p:nvPr/>
        </p:nvSpPr>
        <p:spPr>
          <a:xfrm>
            <a:off x="7680960" y="2651760"/>
            <a:ext cx="2926080" cy="2926080"/>
          </a:xfrm>
          <a:prstGeom prst="ellipse">
            <a:avLst/>
          </a:prstGeom>
          <a:solidFill>
            <a:srgbClr val="111B2E">
              <a:alpha val="0"/>
            </a:srgbClr>
          </a:solidFill>
          <a:ln w="12700">
            <a:solidFill>
              <a:srgbClr val="2F4468"/>
            </a:solidFill>
            <a:prstDash val="solid"/>
          </a:ln>
        </p:spPr>
      </p:sp>
      <p:sp>
        <p:nvSpPr>
          <p:cNvPr id="15" name="Radar ring"/>
          <p:cNvSpPr/>
          <p:nvPr/>
        </p:nvSpPr>
        <p:spPr>
          <a:xfrm>
            <a:off x="8366760" y="3337560"/>
            <a:ext cx="1554480" cy="1554480"/>
          </a:xfrm>
          <a:prstGeom prst="ellipse">
            <a:avLst/>
          </a:prstGeom>
          <a:solidFill>
            <a:srgbClr val="111B2E">
              <a:alpha val="0"/>
            </a:srgbClr>
          </a:solidFill>
          <a:ln w="12700">
            <a:solidFill>
              <a:srgbClr val="2F44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95160" y="4114800"/>
            <a:ext cx="4297680" cy="0"/>
          </a:xfrm>
          <a:prstGeom prst="line">
            <a:avLst/>
          </a:prstGeom>
          <a:noFill/>
          <a:ln w="9525">
            <a:solidFill>
              <a:srgbClr val="2233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0" y="1965960"/>
            <a:ext cx="0" cy="4297680"/>
          </a:xfrm>
          <a:prstGeom prst="line">
            <a:avLst/>
          </a:prstGeom>
          <a:noFill/>
          <a:ln w="9525">
            <a:solidFill>
              <a:srgbClr val="22334F"/>
            </a:solidFill>
            <a:prstDash val="solid"/>
          </a:ln>
        </p:spPr>
      </p:sp>
      <p:sp>
        <p:nvSpPr>
          <p:cNvPr id="18" name="Operator"/>
          <p:cNvSpPr/>
          <p:nvPr/>
        </p:nvSpPr>
        <p:spPr>
          <a:xfrm>
            <a:off x="9061704" y="4032504"/>
            <a:ext cx="164592" cy="164592"/>
          </a:xfrm>
          <a:prstGeom prst="ellipse">
            <a:avLst/>
          </a:prstGeom>
          <a:solidFill>
            <a:srgbClr val="C2A25D"/>
          </a:solidFill>
          <a:ln w="6350">
            <a:solidFill>
              <a:srgbClr val="C2A25D"/>
            </a:solidFill>
            <a:prstDash val="solid"/>
          </a:ln>
        </p:spPr>
      </p:sp>
      <p:sp>
        <p:nvSpPr>
          <p:cNvPr id="19" name="Contact"/>
          <p:cNvSpPr/>
          <p:nvPr/>
        </p:nvSpPr>
        <p:spPr>
          <a:xfrm>
            <a:off x="10222992" y="2724912"/>
            <a:ext cx="219456" cy="219456"/>
          </a:xfrm>
          <a:prstGeom prst="diamond">
            <a:avLst/>
          </a:prstGeom>
          <a:solidFill>
            <a:srgbClr val="B5483C"/>
          </a:solidFill>
          <a:ln w="9525">
            <a:solidFill>
              <a:srgbClr val="EDE8DC"/>
            </a:solidFill>
            <a:prstDash val="solid"/>
          </a:ln>
        </p:spPr>
      </p:sp>
      <p:sp>
        <p:nvSpPr>
          <p:cNvPr id="20" name="Contact"/>
          <p:cNvSpPr/>
          <p:nvPr/>
        </p:nvSpPr>
        <p:spPr>
          <a:xfrm>
            <a:off x="7616952" y="3456432"/>
            <a:ext cx="219456" cy="219456"/>
          </a:xfrm>
          <a:prstGeom prst="diamond">
            <a:avLst/>
          </a:prstGeom>
          <a:solidFill>
            <a:srgbClr val="B5483C"/>
          </a:solidFill>
          <a:ln w="9525">
            <a:solidFill>
              <a:srgbClr val="EDE8DC"/>
            </a:solidFill>
            <a:prstDash val="solid"/>
          </a:ln>
        </p:spPr>
      </p:sp>
      <p:sp>
        <p:nvSpPr>
          <p:cNvPr id="21" name="Contact"/>
          <p:cNvSpPr/>
          <p:nvPr/>
        </p:nvSpPr>
        <p:spPr>
          <a:xfrm>
            <a:off x="9674352" y="5422392"/>
            <a:ext cx="219456" cy="219456"/>
          </a:xfrm>
          <a:prstGeom prst="diamond">
            <a:avLst/>
          </a:prstGeom>
          <a:solidFill>
            <a:srgbClr val="B5483C"/>
          </a:solidFill>
          <a:ln w="9525">
            <a:solidFill>
              <a:srgbClr val="EDE8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625328" y="4160520"/>
            <a:ext cx="658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km+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KOZHAN 4.0 detection range (illustrative)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PRODUCT  ·  DRONE DETECTOR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24128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KOZHAN 4.0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48840"/>
            <a:ext cx="6492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multi-band detector that scans the set frequency ranges and picks up the analog video signal of UAVs. Three automatic scan modes, a log of detected signals and fast software updates over Wi-Fi. Interface languages: Ukrainian, English, German and Polish.</a:t>
            </a:r>
            <a:endParaRPr lang="en-US" sz="1600" dirty="0"/>
          </a:p>
        </p:txBody>
      </p:sp>
      <p:sp>
        <p:nvSpPr>
          <p:cNvPr id="5" name="Step card"/>
          <p:cNvSpPr/>
          <p:nvPr/>
        </p:nvSpPr>
        <p:spPr>
          <a:xfrm>
            <a:off x="640080" y="4023360"/>
            <a:ext cx="2148840" cy="20116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6" name="IconRing"/>
          <p:cNvSpPr/>
          <p:nvPr/>
        </p:nvSpPr>
        <p:spPr>
          <a:xfrm>
            <a:off x="868680" y="4206240"/>
            <a:ext cx="512064" cy="512064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7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6937" y="4344497"/>
            <a:ext cx="235549" cy="23554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8680" y="4828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SCAN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51663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monitoring of 4 radio bands in real time</a:t>
            </a:r>
            <a:endParaRPr lang="en-US" sz="1300" dirty="0"/>
          </a:p>
        </p:txBody>
      </p:sp>
      <p:sp>
        <p:nvSpPr>
          <p:cNvPr id="10" name="Step card"/>
          <p:cNvSpPr/>
          <p:nvPr/>
        </p:nvSpPr>
        <p:spPr>
          <a:xfrm>
            <a:off x="2926080" y="4023360"/>
            <a:ext cx="2148840" cy="20116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1" name="IconRing"/>
          <p:cNvSpPr/>
          <p:nvPr/>
        </p:nvSpPr>
        <p:spPr>
          <a:xfrm>
            <a:off x="3154680" y="4206240"/>
            <a:ext cx="512064" cy="512064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2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2937" y="4344497"/>
            <a:ext cx="235549" cy="23554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154680" y="4828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DETECT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3154680" y="51663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Locks onto the analog UAV video signal</a:t>
            </a:r>
            <a:endParaRPr lang="en-US" sz="1300" dirty="0"/>
          </a:p>
        </p:txBody>
      </p:sp>
      <p:sp>
        <p:nvSpPr>
          <p:cNvPr id="15" name="Step card"/>
          <p:cNvSpPr/>
          <p:nvPr/>
        </p:nvSpPr>
        <p:spPr>
          <a:xfrm>
            <a:off x="5212080" y="4023360"/>
            <a:ext cx="2148840" cy="20116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6" name="IconRing"/>
          <p:cNvSpPr/>
          <p:nvPr/>
        </p:nvSpPr>
        <p:spPr>
          <a:xfrm>
            <a:off x="5440680" y="4206240"/>
            <a:ext cx="512064" cy="512064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7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8937" y="4344497"/>
            <a:ext cx="235549" cy="235549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440680" y="4828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ALERT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440680" y="51663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operator notification and log entry</a:t>
            </a:r>
            <a:endParaRPr lang="en-US" sz="1300" dirty="0"/>
          </a:p>
        </p:txBody>
      </p:sp>
      <p:pic>
        <p:nvPicPr>
          <p:cNvPr id="20" name="Image 3" descr="KOZHAN 4.0 detector with four antenn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2566" y="1097280"/>
            <a:ext cx="3851548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KOZHAN 4.0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characteristics</a:t>
            </a:r>
            <a:endParaRPr lang="en-US" sz="3600" dirty="0"/>
          </a:p>
        </p:txBody>
      </p:sp>
      <p:sp>
        <p:nvSpPr>
          <p:cNvPr id="4" name="Stat card"/>
          <p:cNvSpPr/>
          <p:nvPr/>
        </p:nvSpPr>
        <p:spPr>
          <a:xfrm>
            <a:off x="640080" y="2103120"/>
            <a:ext cx="2514600" cy="173736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2402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08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bands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· 3G · 5G · 6G</a:t>
            </a:r>
            <a:endParaRPr lang="en-US" sz="1400" dirty="0"/>
          </a:p>
        </p:txBody>
      </p:sp>
      <p:sp>
        <p:nvSpPr>
          <p:cNvPr id="7" name="Stat card"/>
          <p:cNvSpPr/>
          <p:nvPr/>
        </p:nvSpPr>
        <p:spPr>
          <a:xfrm>
            <a:off x="3337560" y="2103120"/>
            <a:ext cx="2514600" cy="173736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22402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km+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3108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</a:t>
            </a:r>
            <a:endParaRPr lang="en-US" sz="1400" dirty="0"/>
          </a:p>
        </p:txBody>
      </p:sp>
      <p:sp>
        <p:nvSpPr>
          <p:cNvPr id="10" name="Stat card"/>
          <p:cNvSpPr/>
          <p:nvPr/>
        </p:nvSpPr>
        <p:spPr>
          <a:xfrm>
            <a:off x="640080" y="4023360"/>
            <a:ext cx="2514600" cy="173736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1605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h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5029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</a:t>
            </a:r>
            <a:endParaRPr lang="en-US" sz="1400" dirty="0"/>
          </a:p>
        </p:txBody>
      </p:sp>
      <p:sp>
        <p:nvSpPr>
          <p:cNvPr id="13" name="Stat card"/>
          <p:cNvSpPr/>
          <p:nvPr/>
        </p:nvSpPr>
        <p:spPr>
          <a:xfrm>
            <a:off x="3337560" y="4023360"/>
            <a:ext cx="2514600" cy="173736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41605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2A2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s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50292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989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Bands, MHz:  900–1800  ·  2700–4500  ·  4850–6150  ·  6000–8260</a:t>
            </a:r>
            <a:endParaRPr lang="en-US" sz="1200" dirty="0"/>
          </a:p>
        </p:txBody>
      </p:sp>
      <p:graphicFrame>
        <p:nvGraphicFramePr>
          <p:cNvPr id="7" name="Spec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2103120"/>
          <a:ext cx="528523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9067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2A2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2A2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8A4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 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8A4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280×110×45 mm; 155×110×45 mm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8A4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 5″ (800 × 480)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8A4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battery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 Wh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8A4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 protection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IP-54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8A4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display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 output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8A4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 auto-activation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MT-30 connector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KOZHAN 4.0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kit, ready for the field</a:t>
            </a:r>
            <a:endParaRPr lang="en-US" sz="3600" dirty="0"/>
          </a:p>
        </p:txBody>
      </p:sp>
      <p:pic>
        <p:nvPicPr>
          <p:cNvPr id="4" name="Image 0" descr="KOZHAN 4.0 with antenn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397" y="2011680"/>
            <a:ext cx="2316806" cy="4206240"/>
          </a:xfrm>
          <a:prstGeom prst="rect">
            <a:avLst/>
          </a:prstGeom>
        </p:spPr>
      </p:pic>
      <p:sp>
        <p:nvSpPr>
          <p:cNvPr id="5" name="Kit panel"/>
          <p:cNvSpPr/>
          <p:nvPr/>
        </p:nvSpPr>
        <p:spPr>
          <a:xfrm>
            <a:off x="3246120" y="2103120"/>
            <a:ext cx="2697480" cy="411480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47472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SET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474720" y="2697480"/>
            <a:ext cx="22860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4-band receiver 1G+3G+5G+6G in a solid case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1G, 3G, 5G, 6G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 charging cable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mount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Velcro strap set</a:t>
            </a:r>
            <a:endParaRPr lang="en-US" sz="1500" dirty="0"/>
          </a:p>
        </p:txBody>
      </p:sp>
      <p:sp>
        <p:nvSpPr>
          <p:cNvPr id="8" name="Interfaces panel"/>
          <p:cNvSpPr/>
          <p:nvPr/>
        </p:nvSpPr>
        <p:spPr>
          <a:xfrm>
            <a:off x="6126480" y="2103120"/>
            <a:ext cx="2697480" cy="411480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508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</a:t>
            </a:r>
            <a:endParaRPr lang="en-US" sz="1200" dirty="0"/>
          </a:p>
        </p:txBody>
      </p:sp>
      <p:sp>
        <p:nvSpPr>
          <p:cNvPr id="10" name="IconRing"/>
          <p:cNvSpPr/>
          <p:nvPr/>
        </p:nvSpPr>
        <p:spPr>
          <a:xfrm>
            <a:off x="6355080" y="2788920"/>
            <a:ext cx="502920" cy="502920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1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868" y="2924708"/>
            <a:ext cx="231343" cy="23134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40880" y="277063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7040880" y="30815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display</a:t>
            </a:r>
            <a:endParaRPr lang="en-US" sz="1200" dirty="0"/>
          </a:p>
        </p:txBody>
      </p:sp>
      <p:sp>
        <p:nvSpPr>
          <p:cNvPr id="14" name="IconRing"/>
          <p:cNvSpPr/>
          <p:nvPr/>
        </p:nvSpPr>
        <p:spPr>
          <a:xfrm>
            <a:off x="6355080" y="3886200"/>
            <a:ext cx="502920" cy="502920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5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0868" y="4021988"/>
            <a:ext cx="231343" cy="23134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040880" y="38679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USB-C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7040880" y="41788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</a:t>
            </a:r>
            <a:endParaRPr lang="en-US" sz="1200" dirty="0"/>
          </a:p>
        </p:txBody>
      </p:sp>
      <p:sp>
        <p:nvSpPr>
          <p:cNvPr id="18" name="IconRing"/>
          <p:cNvSpPr/>
          <p:nvPr/>
        </p:nvSpPr>
        <p:spPr>
          <a:xfrm>
            <a:off x="6355080" y="4983480"/>
            <a:ext cx="502920" cy="502920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9" name="Image 3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0868" y="5119268"/>
            <a:ext cx="231343" cy="231343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040880" y="49651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MT-30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7040880" y="527608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Auto-start of EW system</a:t>
            </a:r>
            <a:endParaRPr lang="en-US" sz="1200" dirty="0"/>
          </a:p>
        </p:txBody>
      </p:sp>
      <p:sp>
        <p:nvSpPr>
          <p:cNvPr id="22" name="Accessory panel"/>
          <p:cNvSpPr/>
          <p:nvPr/>
        </p:nvSpPr>
        <p:spPr>
          <a:xfrm>
            <a:off x="9006840" y="2103120"/>
            <a:ext cx="2542032" cy="411480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9235440" y="2286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ACCESSORY</a:t>
            </a:r>
            <a:endParaRPr lang="en-US" sz="1200" dirty="0"/>
          </a:p>
        </p:txBody>
      </p:sp>
      <p:pic>
        <p:nvPicPr>
          <p:cNvPr id="24" name="Image 4" descr="Active remote antenn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2722626"/>
            <a:ext cx="2286000" cy="86410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235440" y="3749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Active remote antenna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9235440" y="416052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mount, four antenna channels with built-in amplifiers, 3 m RG316 cables. For KOZHAN 4.0 and 3.0.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KOZHAN 4.0 IN A SYSTEM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detection to response</a:t>
            </a:r>
            <a:endParaRPr lang="en-US" sz="3600" dirty="0"/>
          </a:p>
        </p:txBody>
      </p:sp>
      <p:sp>
        <p:nvSpPr>
          <p:cNvPr id="4" name="Flow card"/>
          <p:cNvSpPr/>
          <p:nvPr/>
        </p:nvSpPr>
        <p:spPr>
          <a:xfrm>
            <a:off x="640080" y="2103120"/>
            <a:ext cx="2542032" cy="260604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5" name="IconRing"/>
          <p:cNvSpPr/>
          <p:nvPr/>
        </p:nvSpPr>
        <p:spPr>
          <a:xfrm>
            <a:off x="914400" y="233172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6" name="Image 0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7471" y="2484791"/>
            <a:ext cx="260787" cy="2607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59152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F44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108960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566160"/>
            <a:ext cx="1993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KOZHAN 4.0 scans the 1G, 3G, 5G and 6G bands for the UAV video signal.</a:t>
            </a:r>
            <a:endParaRPr lang="en-US" sz="1300" dirty="0"/>
          </a:p>
        </p:txBody>
      </p:sp>
      <p:pic>
        <p:nvPicPr>
          <p:cNvPr id="10" name="Image 1" descr="n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3337560"/>
            <a:ext cx="173736" cy="173736"/>
          </a:xfrm>
          <a:prstGeom prst="rect">
            <a:avLst/>
          </a:prstGeom>
        </p:spPr>
      </p:pic>
      <p:sp>
        <p:nvSpPr>
          <p:cNvPr id="11" name="Flow card"/>
          <p:cNvSpPr/>
          <p:nvPr/>
        </p:nvSpPr>
        <p:spPr>
          <a:xfrm>
            <a:off x="3429000" y="2103120"/>
            <a:ext cx="2542032" cy="260604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2" name="IconRing"/>
          <p:cNvSpPr/>
          <p:nvPr/>
        </p:nvSpPr>
        <p:spPr>
          <a:xfrm>
            <a:off x="3703320" y="233172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3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6391" y="2484791"/>
            <a:ext cx="260787" cy="26078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148072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F44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3703320" y="3108960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</a:t>
            </a:r>
            <a:endParaRPr lang="en-US" sz="2100" dirty="0"/>
          </a:p>
        </p:txBody>
      </p:sp>
      <p:sp>
        <p:nvSpPr>
          <p:cNvPr id="16" name="Text 11"/>
          <p:cNvSpPr txBox="1"/>
          <p:nvPr/>
        </p:nvSpPr>
        <p:spPr>
          <a:xfrm>
            <a:off x="3703320" y="3566160"/>
            <a:ext cx="1993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is notified instantly and the event is logged.</a:t>
            </a:r>
            <a:endParaRPr lang="en-US" sz="1300" dirty="0"/>
          </a:p>
        </p:txBody>
      </p:sp>
      <p:pic>
        <p:nvPicPr>
          <p:cNvPr id="17" name="Image 3" descr="nex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7608" y="3337560"/>
            <a:ext cx="173736" cy="173736"/>
          </a:xfrm>
          <a:prstGeom prst="rect">
            <a:avLst/>
          </a:prstGeom>
        </p:spPr>
      </p:pic>
      <p:sp>
        <p:nvSpPr>
          <p:cNvPr id="18" name="Flow card"/>
          <p:cNvSpPr/>
          <p:nvPr/>
        </p:nvSpPr>
        <p:spPr>
          <a:xfrm>
            <a:off x="6217920" y="2103120"/>
            <a:ext cx="2542032" cy="260604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19" name="IconRing"/>
          <p:cNvSpPr/>
          <p:nvPr/>
        </p:nvSpPr>
        <p:spPr>
          <a:xfrm>
            <a:off x="6492240" y="233172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20" name="Image 4" descr="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5311" y="2484791"/>
            <a:ext cx="260787" cy="26078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936992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F44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22" name="Text 15"/>
          <p:cNvSpPr txBox="1"/>
          <p:nvPr/>
        </p:nvSpPr>
        <p:spPr>
          <a:xfrm>
            <a:off x="6492240" y="3108960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RESPOND</a:t>
            </a:r>
            <a:endParaRPr lang="en-US" sz="2100" dirty="0"/>
          </a:p>
        </p:txBody>
      </p:sp>
      <p:sp>
        <p:nvSpPr>
          <p:cNvPr id="23" name="Text 16"/>
          <p:cNvSpPr txBox="1"/>
          <p:nvPr/>
        </p:nvSpPr>
        <p:spPr>
          <a:xfrm>
            <a:off x="6492240" y="3566160"/>
            <a:ext cx="1993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automatic start of an EW system via the MT-30 connector.</a:t>
            </a:r>
            <a:endParaRPr lang="en-US" sz="1300" dirty="0"/>
          </a:p>
        </p:txBody>
      </p:sp>
      <p:pic>
        <p:nvPicPr>
          <p:cNvPr id="24" name="Image 5" descr="nex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6528" y="3337560"/>
            <a:ext cx="173736" cy="173736"/>
          </a:xfrm>
          <a:prstGeom prst="rect">
            <a:avLst/>
          </a:prstGeom>
        </p:spPr>
      </p:pic>
      <p:sp>
        <p:nvSpPr>
          <p:cNvPr id="25" name="Flow card"/>
          <p:cNvSpPr/>
          <p:nvPr/>
        </p:nvSpPr>
        <p:spPr>
          <a:xfrm>
            <a:off x="9006840" y="2103120"/>
            <a:ext cx="2542032" cy="260604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26" name="IconRing"/>
          <p:cNvSpPr/>
          <p:nvPr/>
        </p:nvSpPr>
        <p:spPr>
          <a:xfrm>
            <a:off x="9281160" y="2331720"/>
            <a:ext cx="566928" cy="566928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27" name="Image 6" descr="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34231" y="2484791"/>
            <a:ext cx="260787" cy="260787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725912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2F44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29" name="Text 20"/>
          <p:cNvSpPr txBox="1"/>
          <p:nvPr/>
        </p:nvSpPr>
        <p:spPr>
          <a:xfrm>
            <a:off x="9281160" y="3108960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OBSERVE</a:t>
            </a:r>
            <a:endParaRPr lang="en-US" sz="2100" dirty="0"/>
          </a:p>
        </p:txBody>
      </p:sp>
      <p:sp>
        <p:nvSpPr>
          <p:cNvPr id="30" name="Text 21"/>
          <p:cNvSpPr txBox="1"/>
          <p:nvPr/>
        </p:nvSpPr>
        <p:spPr>
          <a:xfrm>
            <a:off x="9281160" y="3566160"/>
            <a:ext cx="1993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 thermal camera extends awareness in darkness.</a:t>
            </a:r>
            <a:endParaRPr lang="en-US" sz="1300" dirty="0"/>
          </a:p>
        </p:txBody>
      </p:sp>
      <p:sp>
        <p:nvSpPr>
          <p:cNvPr id="31" name="Platforms panel"/>
          <p:cNvSpPr/>
          <p:nvPr/>
        </p:nvSpPr>
        <p:spPr>
          <a:xfrm>
            <a:off x="640080" y="4937760"/>
            <a:ext cx="10911535" cy="13258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sp>
        <p:nvSpPr>
          <p:cNvPr id="32" name="Text 23"/>
          <p:cNvSpPr txBox="1"/>
          <p:nvPr/>
        </p:nvSpPr>
        <p:spPr>
          <a:xfrm>
            <a:off x="914400" y="50474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 PLATFORMS COMPATIBLE WITH KOZHAN</a:t>
            </a:r>
            <a:endParaRPr lang="en-US" sz="1200" dirty="0"/>
          </a:p>
        </p:txBody>
      </p:sp>
      <p:pic>
        <p:nvPicPr>
          <p:cNvPr id="33" name="Image 7" descr="Delf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5500861"/>
            <a:ext cx="1325880" cy="528862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2331720" y="5577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Delfin</a:t>
            </a:r>
            <a:endParaRPr lang="en-US" sz="1500" dirty="0"/>
          </a:p>
        </p:txBody>
      </p:sp>
      <p:pic>
        <p:nvPicPr>
          <p:cNvPr id="35" name="Image 8" descr="Hydra 2U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11880" y="5396228"/>
            <a:ext cx="1325880" cy="738128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5029200" y="5577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Hydra 2U</a:t>
            </a:r>
            <a:endParaRPr lang="en-US" sz="1500" dirty="0"/>
          </a:p>
        </p:txBody>
      </p:sp>
      <p:pic>
        <p:nvPicPr>
          <p:cNvPr id="37" name="Image 9" descr="Dokatka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13316" y="5376672"/>
            <a:ext cx="1317968" cy="777240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7726680" y="5577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Dokatka</a:t>
            </a:r>
            <a:endParaRPr lang="en-US" sz="1500" dirty="0"/>
          </a:p>
        </p:txBody>
      </p:sp>
      <p:pic>
        <p:nvPicPr>
          <p:cNvPr id="39" name="Image 10" descr="Krake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72999" y="5376672"/>
            <a:ext cx="993562" cy="777240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10424160" y="55778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Kraken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PORTFOLIO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catalog: detect, observe, suppress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AND SURVEILLANCE</a:t>
            </a:r>
            <a:endParaRPr lang="en-US" sz="1200" dirty="0"/>
          </a:p>
        </p:txBody>
      </p:sp>
      <p:sp>
        <p:nvSpPr>
          <p:cNvPr id="5" name="Product card"/>
          <p:cNvSpPr/>
          <p:nvPr/>
        </p:nvSpPr>
        <p:spPr>
          <a:xfrm>
            <a:off x="640080" y="2286000"/>
            <a:ext cx="3520440" cy="17830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pic>
        <p:nvPicPr>
          <p:cNvPr id="6" name="Image 0" descr="KOZHAN 4.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979" y="2395728"/>
            <a:ext cx="1100442" cy="1463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468880" y="26060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KOZHAN 4.0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468880" y="30175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Multi-band drone detector, 4 bands</a:t>
            </a:r>
            <a:endParaRPr lang="en-US" sz="1200" dirty="0"/>
          </a:p>
        </p:txBody>
      </p:sp>
      <p:sp>
        <p:nvSpPr>
          <p:cNvPr id="9" name="Product card"/>
          <p:cNvSpPr/>
          <p:nvPr/>
        </p:nvSpPr>
        <p:spPr>
          <a:xfrm>
            <a:off x="4334256" y="2286000"/>
            <a:ext cx="3520440" cy="17830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pic>
        <p:nvPicPr>
          <p:cNvPr id="10" name="Image 1" descr="Remote antenn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7136" y="2833451"/>
            <a:ext cx="1554480" cy="5875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163056" y="26060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antenna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163056" y="30175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mount, built-in amplifiers</a:t>
            </a:r>
            <a:endParaRPr lang="en-US" sz="1200" dirty="0"/>
          </a:p>
        </p:txBody>
      </p:sp>
      <p:sp>
        <p:nvSpPr>
          <p:cNvPr id="13" name="Product card"/>
          <p:cNvSpPr/>
          <p:nvPr/>
        </p:nvSpPr>
        <p:spPr>
          <a:xfrm>
            <a:off x="8028432" y="2286000"/>
            <a:ext cx="3520440" cy="17830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pic>
        <p:nvPicPr>
          <p:cNvPr id="14" name="Image 2" descr="N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2776935"/>
            <a:ext cx="1554480" cy="70062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857232" y="26060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9857232" y="30175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Pan-controlled thermal camera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640080" y="4224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WARFARE, 300–6000 MHZ</a:t>
            </a:r>
            <a:endParaRPr lang="en-US" sz="1200" dirty="0"/>
          </a:p>
        </p:txBody>
      </p:sp>
      <p:sp>
        <p:nvSpPr>
          <p:cNvPr id="18" name="Product card"/>
          <p:cNvSpPr/>
          <p:nvPr/>
        </p:nvSpPr>
        <p:spPr>
          <a:xfrm>
            <a:off x="640080" y="4526280"/>
            <a:ext cx="2615184" cy="17830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pic>
        <p:nvPicPr>
          <p:cNvPr id="19" name="Image 3" descr="Delf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763" y="4590288"/>
            <a:ext cx="2177817" cy="8686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22960" y="550468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Delfin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822960" y="578815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Disguised as a civilian car roof box</a:t>
            </a:r>
            <a:endParaRPr lang="en-US" sz="1200" dirty="0"/>
          </a:p>
        </p:txBody>
      </p:sp>
      <p:sp>
        <p:nvSpPr>
          <p:cNvPr id="22" name="Product card"/>
          <p:cNvSpPr/>
          <p:nvPr/>
        </p:nvSpPr>
        <p:spPr>
          <a:xfrm>
            <a:off x="3392424" y="4526280"/>
            <a:ext cx="2615184" cy="17830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pic>
        <p:nvPicPr>
          <p:cNvPr id="23" name="Image 4" descr="Hydra 2U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9823" y="4590288"/>
            <a:ext cx="1560387" cy="8686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3575304" y="550468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Hydra 2U</a:t>
            </a:r>
            <a:endParaRPr lang="en-US" sz="1600" dirty="0"/>
          </a:p>
        </p:txBody>
      </p:sp>
      <p:sp>
        <p:nvSpPr>
          <p:cNvPr id="25" name="Text 18"/>
          <p:cNvSpPr txBox="1"/>
          <p:nvPr/>
        </p:nvSpPr>
        <p:spPr>
          <a:xfrm>
            <a:off x="3575304" y="578815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19″ rack for heavy vehicles, 8–20 bands</a:t>
            </a:r>
            <a:endParaRPr lang="en-US" sz="1200" dirty="0"/>
          </a:p>
        </p:txBody>
      </p:sp>
      <p:sp>
        <p:nvSpPr>
          <p:cNvPr id="26" name="Product card"/>
          <p:cNvSpPr/>
          <p:nvPr/>
        </p:nvSpPr>
        <p:spPr>
          <a:xfrm>
            <a:off x="6144768" y="4526280"/>
            <a:ext cx="2615184" cy="17830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pic>
        <p:nvPicPr>
          <p:cNvPr id="27" name="Image 5" descr="Dokatk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5849" y="4590288"/>
            <a:ext cx="1473023" cy="86868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327648" y="550468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Dokatka</a:t>
            </a:r>
            <a:endParaRPr lang="en-US" sz="1600" dirty="0"/>
          </a:p>
        </p:txBody>
      </p:sp>
      <p:sp>
        <p:nvSpPr>
          <p:cNvPr id="29" name="Text 21"/>
          <p:cNvSpPr txBox="1"/>
          <p:nvPr/>
        </p:nvSpPr>
        <p:spPr>
          <a:xfrm>
            <a:off x="6327648" y="578815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in truck-wheel form factor</a:t>
            </a:r>
            <a:endParaRPr lang="en-US" sz="1200" dirty="0"/>
          </a:p>
        </p:txBody>
      </p:sp>
      <p:sp>
        <p:nvSpPr>
          <p:cNvPr id="30" name="Product card"/>
          <p:cNvSpPr/>
          <p:nvPr/>
        </p:nvSpPr>
        <p:spPr>
          <a:xfrm>
            <a:off x="8897112" y="4526280"/>
            <a:ext cx="2615184" cy="178308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pic>
        <p:nvPicPr>
          <p:cNvPr id="31" name="Image 6" descr="Krake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9478" y="4590288"/>
            <a:ext cx="1110451" cy="86868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9079992" y="550468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Kraken</a:t>
            </a:r>
            <a:endParaRPr lang="en-US" sz="1600" dirty="0"/>
          </a:p>
        </p:txBody>
      </p:sp>
      <p:sp>
        <p:nvSpPr>
          <p:cNvPr id="33" name="Text 24"/>
          <p:cNvSpPr txBox="1"/>
          <p:nvPr/>
        </p:nvSpPr>
        <p:spPr>
          <a:xfrm>
            <a:off x="9079992" y="578815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sector suppression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SYSTEMS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Electronic warfare family and thermal vision</a:t>
            </a:r>
            <a:endParaRPr lang="en-US" sz="3600" dirty="0"/>
          </a:p>
        </p:txBody>
      </p:sp>
      <p:graphicFrame>
        <p:nvGraphicFramePr>
          <p:cNvPr id="11" name="EW 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091153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00400"/>
                <a:gridCol w="2743200"/>
                <a:gridCol w="2194560"/>
                <a:gridCol w="12161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2A2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2A2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for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2A2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Bands / range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2A2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2A25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Delfin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Concealed on a civilian car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13 bands, 300–6000 MHz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W per module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60–80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Hydra 2U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vehicles, APCs, command vehicles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8–20 bands, 300–6000 MHz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W per band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60–80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Dokatka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Concealed on trucks and mobile positions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12 bands, 300–6000 MHz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W per band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30–40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Kraken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Directional suppression in a sector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300–4100 MHz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25–50 W per 100 MHz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D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25–30 kg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233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B2E"/>
                    </a:solidFill>
                  </a:tcPr>
                </a:tc>
              </a:tr>
            </a:tbl>
          </a:graphicData>
        </a:graphic>
      </p:graphicFrame>
      <p:sp>
        <p:nvSpPr>
          <p:cNvPr id="5" name="NICH panel"/>
          <p:cNvSpPr/>
          <p:nvPr/>
        </p:nvSpPr>
        <p:spPr>
          <a:xfrm>
            <a:off x="640080" y="4526280"/>
            <a:ext cx="10911535" cy="1737360"/>
          </a:xfrm>
          <a:prstGeom prst="rect">
            <a:avLst/>
          </a:prstGeom>
          <a:solidFill>
            <a:srgbClr val="111B2E"/>
          </a:solidFill>
          <a:ln w="9525">
            <a:solidFill>
              <a:srgbClr val="22334F"/>
            </a:solidFill>
            <a:prstDash val="solid"/>
          </a:ln>
        </p:spPr>
      </p:sp>
      <p:pic>
        <p:nvPicPr>
          <p:cNvPr id="6" name="Image 0" descr="NICH thermal camera with display un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756154"/>
            <a:ext cx="2834640" cy="12776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97680" y="46817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2A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  ·  THERMAL CAMERA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297680" y="502920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8A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Pan-controlled thermal camera with an uncooled VOx sensor (256 × 192 px, 50 Hz, 50° × 37.2° field of view) and a 5″ display. Cable 5–50 m, supply 9–24 V.</a:t>
            </a:r>
            <a:endParaRPr lang="en-US" sz="1300" dirty="0"/>
          </a:p>
        </p:txBody>
      </p:sp>
      <p:pic>
        <p:nvPicPr>
          <p:cNvPr id="9" name="Image 1" descr="Thermal image: a person detected in darkne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4663440"/>
            <a:ext cx="2464067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201168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C2A25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anguard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2926080" cy="1173994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228600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DE8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Let’s build protection together</a:t>
            </a:r>
            <a:endParaRPr lang="en-US" sz="4400" dirty="0"/>
          </a:p>
        </p:txBody>
      </p:sp>
      <p:sp>
        <p:nvSpPr>
          <p:cNvPr id="4" name="IconRing"/>
          <p:cNvSpPr/>
          <p:nvPr/>
        </p:nvSpPr>
        <p:spPr>
          <a:xfrm>
            <a:off x="640080" y="3931920"/>
            <a:ext cx="420624" cy="420624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5" name="Image 1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648" y="4045488"/>
            <a:ext cx="193487" cy="193487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280160" y="3931920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URS “Vanguard” LLC, Kyiv, Ukraine</a:t>
            </a:r>
            <a:endParaRPr lang="en-US" sz="1800" dirty="0"/>
          </a:p>
        </p:txBody>
      </p:sp>
      <p:sp>
        <p:nvSpPr>
          <p:cNvPr id="7" name="IconRing"/>
          <p:cNvSpPr/>
          <p:nvPr/>
        </p:nvSpPr>
        <p:spPr>
          <a:xfrm>
            <a:off x="640080" y="4535424"/>
            <a:ext cx="420624" cy="420624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8" name="Image 2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48" y="4648992"/>
            <a:ext cx="193487" cy="193487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80160" y="4535424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 (093) 968 59 73</a:t>
            </a:r>
            <a:endParaRPr lang="en-US" sz="1800" dirty="0"/>
          </a:p>
        </p:txBody>
      </p:sp>
      <p:sp>
        <p:nvSpPr>
          <p:cNvPr id="10" name="IconRing"/>
          <p:cNvSpPr/>
          <p:nvPr/>
        </p:nvSpPr>
        <p:spPr>
          <a:xfrm>
            <a:off x="640080" y="5138928"/>
            <a:ext cx="420624" cy="420624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1" name="Image 3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648" y="5252496"/>
            <a:ext cx="193487" cy="19348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80160" y="5138928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vanguardltd25@gmail.com</a:t>
            </a:r>
            <a:endParaRPr lang="en-US" sz="1800" dirty="0"/>
          </a:p>
        </p:txBody>
      </p:sp>
      <p:sp>
        <p:nvSpPr>
          <p:cNvPr id="13" name="IconRing"/>
          <p:cNvSpPr/>
          <p:nvPr/>
        </p:nvSpPr>
        <p:spPr>
          <a:xfrm>
            <a:off x="640080" y="5742432"/>
            <a:ext cx="420624" cy="420624"/>
          </a:xfrm>
          <a:prstGeom prst="ellipse">
            <a:avLst/>
          </a:prstGeom>
          <a:solidFill>
            <a:srgbClr val="0B1220"/>
          </a:solidFill>
          <a:ln w="12700">
            <a:solidFill>
              <a:srgbClr val="C2A25D"/>
            </a:solidFill>
            <a:prstDash val="solid"/>
          </a:ln>
        </p:spPr>
      </p:sp>
      <p:pic>
        <p:nvPicPr>
          <p:cNvPr id="14" name="Image 4" descr="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648" y="5856000"/>
            <a:ext cx="193487" cy="193487"/>
          </a:xfrm>
          <a:prstGeom prst="rect">
            <a:avLst/>
          </a:prstGeom>
        </p:spPr>
      </p:pic>
      <p:sp>
        <p:nvSpPr>
          <p:cNvPr id="15" name="Text 8">
            <a:hlinkClick r:id="rId6" tooltip=""/>
          </p:cNvPr>
          <p:cNvSpPr txBox="1"/>
          <p:nvPr/>
        </p:nvSpPr>
        <p:spPr>
          <a:xfrm>
            <a:off x="1280160" y="5742432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EDE8D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ursvanguard.com</a:t>
            </a:r>
            <a:endParaRPr lang="en-US" sz="1800" dirty="0"/>
          </a:p>
        </p:txBody>
      </p:sp>
      <p:sp>
        <p:nvSpPr>
          <p:cNvPr id="16" name="QR card"/>
          <p:cNvSpPr/>
          <p:nvPr/>
        </p:nvSpPr>
        <p:spPr>
          <a:xfrm>
            <a:off x="7818120" y="1920240"/>
            <a:ext cx="3749040" cy="4206240"/>
          </a:xfrm>
          <a:prstGeom prst="rect">
            <a:avLst/>
          </a:prstGeom>
          <a:solidFill>
            <a:srgbClr val="EDE8DC"/>
          </a:solidFill>
          <a:ln w="19050">
            <a:solidFill>
              <a:srgbClr val="C2A25D"/>
            </a:solidFill>
            <a:prstDash val="solid"/>
          </a:ln>
        </p:spPr>
      </p:sp>
      <p:pic>
        <p:nvPicPr>
          <p:cNvPr id="17" name="Image 5" descr="QR code linking to ursvanguard.com">
            <a:hlinkClick r:id="rId8" tooltip="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2440" y="2194560"/>
            <a:ext cx="3200400" cy="320040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818120" y="54864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VISIT US</a:t>
            </a:r>
            <a:endParaRPr lang="en-US" sz="1200" dirty="0"/>
          </a:p>
        </p:txBody>
      </p:sp>
      <p:sp>
        <p:nvSpPr>
          <p:cNvPr id="19" name="Text 11"/>
          <p:cNvSpPr txBox="1"/>
          <p:nvPr/>
        </p:nvSpPr>
        <p:spPr>
          <a:xfrm>
            <a:off x="7818120" y="5760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F44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ursvanguard.com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anguard Military">
  <a:themeElements>
    <a:clrScheme name="Vanguard Military">
      <a:dk1>
        <a:srgbClr val="0B1220"/>
      </a:dk1>
      <a:lt1>
        <a:srgbClr val="EDE8DC"/>
      </a:lt1>
      <a:dk2>
        <a:srgbClr val="111B2E"/>
      </a:dk2>
      <a:lt2>
        <a:srgbClr val="98A4B8"/>
      </a:lt2>
      <a:accent1>
        <a:srgbClr val="C2A25D"/>
      </a:accent1>
      <a:accent2>
        <a:srgbClr val="2F4468"/>
      </a:accent2>
      <a:accent3>
        <a:srgbClr val="6B7A55"/>
      </a:accent3>
      <a:accent4>
        <a:srgbClr val="8C7A4B"/>
      </a:accent4>
      <a:accent5>
        <a:srgbClr val="22334F"/>
      </a:accent5>
      <a:accent6>
        <a:srgbClr val="B7BFCC"/>
      </a:accent6>
      <a:hlink>
        <a:srgbClr val="C2A25D"/>
      </a:hlink>
      <a:folHlink>
        <a:srgbClr val="98A4B8"/>
      </a:folHlink>
    </a:clrScheme>
    <a:fontScheme name="Vanguard Militar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URS Vanguard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Vanguard — Technologies that Protect</dc:title>
  <dc:subject>PptxGenJS Presentation</dc:subject>
  <dc:creator>URS Vanguard</dc:creator>
  <cp:lastModifiedBy>URS Vanguard</cp:lastModifiedBy>
  <cp:revision>1</cp:revision>
  <dcterms:created xsi:type="dcterms:W3CDTF">2026-10-29T10:11:50Z</dcterms:created>
  <dcterms:modified xsi:type="dcterms:W3CDTF">2026-10-29T10:11:50Z</dcterms:modified>
</cp:coreProperties>
</file>