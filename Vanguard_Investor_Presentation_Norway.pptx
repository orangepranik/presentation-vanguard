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be165fa-f20f-2671-6cce-db8b80717566}">
          <p14:sldIdLst>
            <p14:sldId id="256"/>
          </p14:sldIdLst>
        </p14:section>
        <p14:section name="Company" id="{406d5a2e-bb97-61e8-c25a-c17c54e1f740}">
          <p14:sldIdLst>
            <p14:sldId id="257"/>
            <p14:sldId id="258"/>
            <p14:sldId id="259"/>
          </p14:sldIdLst>
        </p14:section>
        <p14:section name="KOZHAN 4.0" id="{c6528ce6-a7ab-9a93-f987-aad1670b9971}">
          <p14:sldIdLst>
            <p14:sldId id="260"/>
            <p14:sldId id="261"/>
            <p14:sldId id="262"/>
          </p14:sldIdLst>
        </p14:section>
        <p14:section name="Portfolio" id="{76312dc4-1e20-edc9-31ee-2560c0a0b5ad}">
          <p14:sldIdLst>
            <p14:sldId id="263"/>
          </p14:sldIdLst>
        </p14:section>
        <p14:section name="Readiness" id="{1bb6984d-66de-8aa6-35dd-db63ad2d7a7a}">
          <p14:sldIdLst>
            <p14:sldId id="264"/>
            <p14:sldId id="265"/>
          </p14:sldIdLst>
        </p14:section>
        <p14:section name="Contact" id="{4a47b23e-29c4-766e-4549-31a94e570861}">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Introduce Vanguard and the purpose of the meeting: present the 2026 product line and discuss partnership with Norwegian investors.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Company, mission and vision (from the earlier Vanguard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Traction figures are taken from the earlier Vanguard presentation; confirm they are current before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Advantages taken from the earlier Vanguard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KOZHAN 4.0 is the focus of this presentation. How it works: scan, detect,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Specifications are from the 2026 PDF catalog; re-check against ursvanguard.com (the site was not reachable from the build environment). The catalog gives the upper band edge as 8260 MHz on the overview page and 8200 MHz in the specification table; confirm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set, connectors and the optional active remote antenna (powered via MT-30; amplifier gain to be confirmed in the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products in three groups. All EW platforms can be switched on automatically by the KOZHAN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TRL and international engagement figures are taken from the earlier Vanguard presentation; confirm they are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and market drivers are taken from the earlier Vanguard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with contacts and the QR code to the company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B122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220"/>
        </a:solidFill>
      </p:bgPr>
    </p:bg>
    <p:spTree>
      <p:nvGrpSpPr>
        <p:cNvPr id="1" name=""/>
        <p:cNvGrpSpPr/>
        <p:nvPr/>
      </p:nvGrpSpPr>
      <p:grpSpPr>
        <a:xfrm>
          <a:off x="0" y="0"/>
          <a:ext cx="0" cy="0"/>
          <a:chOff x="0" y="0"/>
          <a:chExt cx="0" cy="0"/>
        </a:xfrm>
      </p:grpSpPr>
      <p:pic>
        <p:nvPicPr>
          <p:cNvPr id="2" name="Image 0" descr="/home/user/presentation-vanguard/assets/emblem_brass.png">    </p:cNvPr>
          <p:cNvPicPr>
            <a:picLocks noChangeAspect="1"/>
          </p:cNvPicPr>
          <p:nvPr/>
        </p:nvPicPr>
        <p:blipFill>
          <a:blip r:embed="rId1">
            <a:alphaModFix amt="6000"/>
          </a:blip>
          <a:stretch>
            <a:fillRect/>
          </a:stretch>
        </p:blipFill>
        <p:spPr>
          <a:xfrm>
            <a:off x="8778240" y="3291840"/>
            <a:ext cx="4023360" cy="3931920"/>
          </a:xfrm>
          <a:prstGeom prst="rect">
            <a:avLst/>
          </a:prstGeom>
        </p:spPr>
      </p:pic>
      <p:sp>
        <p:nvSpPr>
          <p:cNvPr id="3" name="Shape 0"/>
          <p:cNvSpPr/>
          <p:nvPr/>
        </p:nvSpPr>
        <p:spPr>
          <a:xfrm>
            <a:off x="640080" y="566928"/>
            <a:ext cx="10911535" cy="9144"/>
          </a:xfrm>
          <a:prstGeom prst="rect">
            <a:avLst/>
          </a:prstGeom>
          <a:solidFill>
            <a:srgbClr val="22334F"/>
          </a:solidFill>
          <a:ln/>
        </p:spPr>
      </p:sp>
      <p:sp>
        <p:nvSpPr>
          <p:cNvPr id="4" name="Text 1"/>
          <p:cNvSpPr/>
          <p:nvPr/>
        </p:nvSpPr>
        <p:spPr>
          <a:xfrm>
            <a:off x="640080" y="201168"/>
            <a:ext cx="6400800" cy="274320"/>
          </a:xfrm>
          <a:prstGeom prst="rect">
            <a:avLst/>
          </a:prstGeom>
          <a:noFill/>
          <a:ln/>
        </p:spPr>
        <p:txBody>
          <a:bodyPr wrap="square" lIns="0" tIns="0" rIns="0" bIns="0" rtlCol="0" anchor="ctr"/>
          <a:lstStyle/>
          <a:p>
            <a:pPr indent="0" marL="0">
              <a:buNone/>
            </a:pPr>
            <a:r>
              <a:rPr lang="en-US" sz="1000" spc="300" kern="0" dirty="0">
                <a:solidFill>
                  <a:srgbClr val="98A4B8"/>
                </a:solidFill>
                <a:latin typeface="Calibri" pitchFamily="34" charset="0"/>
                <a:ea typeface="Calibri" pitchFamily="34" charset="-122"/>
                <a:cs typeface="Calibri" pitchFamily="34" charset="-120"/>
              </a:rPr>
              <a:t>VANGUARD   ·   TECHNOLOGIES THAT PROTECT</a:t>
            </a:r>
            <a:endParaRPr lang="en-US" sz="1000" dirty="0"/>
          </a:p>
        </p:txBody>
      </p:sp>
      <p:sp>
        <p:nvSpPr>
          <p:cNvPr id="25" name="Slide Number Placeholder 0"/>
          <p:cNvSpPr>
            <a:spLocks noGrp="1"/>
          </p:cNvSpPr>
          <p:nvPr>
            <p:ph type="sldNum" sz="quarter" idx="4294967295"/>
          </p:nvPr>
        </p:nvSpPr>
        <p:spPr>
          <a:xfrm>
            <a:off x="10820095" y="20116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A25D"/>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0B1220"/>
        </a:solidFill>
      </p:bgPr>
    </p:bg>
    <p:spTree>
      <p:nvGrpSpPr>
        <p:cNvPr id="1" name=""/>
        <p:cNvGrpSpPr/>
        <p:nvPr/>
      </p:nvGrpSpPr>
      <p:grpSpPr>
        <a:xfrm>
          <a:off x="0" y="0"/>
          <a:ext cx="0" cy="0"/>
          <a:chOff x="0" y="0"/>
          <a:chExt cx="0" cy="0"/>
        </a:xfrm>
      </p:grpSpPr>
      <p:pic>
        <p:nvPicPr>
          <p:cNvPr id="2" name="Image 0" descr="/home/user/presentation-vanguard/assets/emblem_brass.png">    </p:cNvPr>
          <p:cNvPicPr>
            <a:picLocks noChangeAspect="1"/>
          </p:cNvPicPr>
          <p:nvPr/>
        </p:nvPicPr>
        <p:blipFill>
          <a:blip r:embed="rId1">
            <a:alphaModFix amt="8000"/>
          </a:blip>
          <a:stretch>
            <a:fillRect/>
          </a:stretch>
        </p:blipFill>
        <p:spPr>
          <a:xfrm>
            <a:off x="7498080" y="-548640"/>
            <a:ext cx="5852160" cy="56692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0095" y="20116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A25D"/>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6" Type="http://schemas.openxmlformats.org/officeDocument/2006/relationships/hyperlink" Target="https://ursvanguard.com" TargetMode="External"/><Relationship Id="rId8" Type="http://schemas.openxmlformats.org/officeDocument/2006/relationships/hyperlink" Target="https://ursvanguard.com" TargetMode="Externa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7" Type="http://schemas.openxmlformats.org/officeDocument/2006/relationships/image" Target="../media/image-11-6.png"/><Relationship Id="rId9" Type="http://schemas.openxmlformats.org/officeDocument/2006/relationships/slideLayout" Target="../slideLayouts/slideLayout4.xml"/><Relationship Id="rId10"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Vanguard emblem">    </p:cNvPr>
          <p:cNvPicPr>
            <a:picLocks noChangeAspect="1"/>
          </p:cNvPicPr>
          <p:nvPr/>
        </p:nvPicPr>
        <p:blipFill>
          <a:blip r:embed="rId1">
            <a:alphaModFix amt="9000"/>
          </a:blip>
          <a:stretch>
            <a:fillRect/>
          </a:stretch>
        </p:blipFill>
        <p:spPr>
          <a:xfrm>
            <a:off x="-1097280" y="2194560"/>
            <a:ext cx="6035040" cy="5852160"/>
          </a:xfrm>
          <a:prstGeom prst="rect">
            <a:avLst/>
          </a:prstGeom>
        </p:spPr>
      </p:pic>
      <p:pic>
        <p:nvPicPr>
          <p:cNvPr id="3" name="Image 1" descr="Vanguard — Ukrainian Radioelectronic Systems">    </p:cNvPr>
          <p:cNvPicPr>
            <a:picLocks noChangeAspect="1"/>
          </p:cNvPicPr>
          <p:nvPr/>
        </p:nvPicPr>
        <p:blipFill>
          <a:blip r:embed="rId2"/>
          <a:stretch>
            <a:fillRect/>
          </a:stretch>
        </p:blipFill>
        <p:spPr>
          <a:xfrm>
            <a:off x="640080" y="640080"/>
            <a:ext cx="3566160" cy="1430805"/>
          </a:xfrm>
          <a:prstGeom prst="rect">
            <a:avLst/>
          </a:prstGeom>
        </p:spPr>
      </p:pic>
      <p:sp>
        <p:nvSpPr>
          <p:cNvPr id="4" name="Text 0"/>
          <p:cNvSpPr txBox="1"/>
          <p:nvPr/>
        </p:nvSpPr>
        <p:spPr>
          <a:xfrm>
            <a:off x="640080" y="2697480"/>
            <a:ext cx="7315200" cy="274320"/>
          </a:xfrm>
          <a:prstGeom prst="rect">
            <a:avLst/>
          </a:prstGeom>
          <a:noFill/>
          <a:ln/>
        </p:spPr>
        <p:txBody>
          <a:bodyPr wrap="square" lIns="0" tIns="0" rIns="0" bIns="0" rtlCol="0" anchor="ctr"/>
          <a:lstStyle/>
          <a:p>
            <a:pPr indent="0" marL="0">
              <a:buNone/>
            </a:pPr>
            <a:r>
              <a:rPr lang="en-US" sz="1200" b="1" spc="300" kern="0" dirty="0">
                <a:solidFill>
                  <a:srgbClr val="C2A25D"/>
                </a:solidFill>
                <a:latin typeface="Calibri" pitchFamily="34" charset="0"/>
                <a:ea typeface="Calibri" pitchFamily="34" charset="-122"/>
                <a:cs typeface="Calibri" pitchFamily="34" charset="-120"/>
              </a:rPr>
              <a:t>INVESTOR PRESENTATION   ·   NORWAY   ·   2026</a:t>
            </a:r>
            <a:endParaRPr lang="en-US" sz="1200" dirty="0"/>
          </a:p>
        </p:txBody>
      </p:sp>
      <p:sp>
        <p:nvSpPr>
          <p:cNvPr id="5" name="Title"/>
          <p:cNvSpPr txBox="1"/>
          <p:nvPr/>
        </p:nvSpPr>
        <p:spPr>
          <a:xfrm>
            <a:off x="640080" y="3063240"/>
            <a:ext cx="6766560" cy="1554480"/>
          </a:xfrm>
          <a:prstGeom prst="rect">
            <a:avLst/>
          </a:prstGeom>
          <a:noFill/>
          <a:ln/>
        </p:spPr>
        <p:txBody>
          <a:bodyPr wrap="square" lIns="0" tIns="0" rIns="0" bIns="0" rtlCol="0" anchor="t"/>
          <a:lstStyle/>
          <a:p>
            <a:pPr indent="0" marL="0">
              <a:buNone/>
            </a:pPr>
            <a:r>
              <a:rPr lang="en-US" sz="5000" b="1" dirty="0">
                <a:solidFill>
                  <a:srgbClr val="EDE8DC"/>
                </a:solidFill>
                <a:latin typeface="Cambria" pitchFamily="34" charset="0"/>
                <a:ea typeface="Cambria" pitchFamily="34" charset="-122"/>
                <a:cs typeface="Cambria" pitchFamily="34" charset="-120"/>
              </a:rPr>
              <a:t>Technologies that Protect</a:t>
            </a:r>
            <a:endParaRPr lang="en-US" sz="5000" dirty="0"/>
          </a:p>
        </p:txBody>
      </p:sp>
      <p:sp>
        <p:nvSpPr>
          <p:cNvPr id="6" name="Text 2"/>
          <p:cNvSpPr txBox="1"/>
          <p:nvPr/>
        </p:nvSpPr>
        <p:spPr>
          <a:xfrm>
            <a:off x="640080" y="4937760"/>
            <a:ext cx="6035040" cy="914400"/>
          </a:xfrm>
          <a:prstGeom prst="rect">
            <a:avLst/>
          </a:prstGeom>
          <a:noFill/>
          <a:ln/>
        </p:spPr>
        <p:txBody>
          <a:bodyPr wrap="square" lIns="0" tIns="0" rIns="0" bIns="0" rtlCol="0" anchor="t"/>
          <a:lstStyle/>
          <a:p>
            <a:pPr indent="0" marL="0">
              <a:buNone/>
            </a:pPr>
            <a:r>
              <a:rPr lang="en-US" sz="1800" dirty="0">
                <a:solidFill>
                  <a:srgbClr val="98A4B8"/>
                </a:solidFill>
                <a:latin typeface="Calibri" pitchFamily="34" charset="0"/>
                <a:ea typeface="Calibri" pitchFamily="34" charset="-122"/>
                <a:cs typeface="Calibri" pitchFamily="34" charset="-120"/>
              </a:rPr>
              <a:t>Integrated protection ecosystem: EW, ER and next-generation counter-UAS. Combat-proven, built on proprietary SDR technologies for NATO-market expansion.</a:t>
            </a:r>
            <a:endParaRPr lang="en-US" sz="1800" dirty="0"/>
          </a:p>
        </p:txBody>
      </p:sp>
      <p:sp>
        <p:nvSpPr>
          <p:cNvPr id="7" name="Text 3"/>
          <p:cNvSpPr txBox="1"/>
          <p:nvPr/>
        </p:nvSpPr>
        <p:spPr>
          <a:xfrm>
            <a:off x="640080" y="6080760"/>
            <a:ext cx="5486400" cy="274320"/>
          </a:xfrm>
          <a:prstGeom prst="rect">
            <a:avLst/>
          </a:prstGeom>
          <a:noFill/>
          <a:ln/>
        </p:spPr>
        <p:txBody>
          <a:bodyPr wrap="square" lIns="0" tIns="0" rIns="0" bIns="0" rtlCol="0" anchor="t"/>
          <a:lstStyle/>
          <a:p>
            <a:pPr indent="0" marL="0">
              <a:buNone/>
            </a:pPr>
            <a:r>
              <a:rPr lang="en-US" sz="1200" spc="200" kern="0" dirty="0">
                <a:solidFill>
                  <a:srgbClr val="98A4B8"/>
                </a:solidFill>
                <a:latin typeface="Calibri" pitchFamily="34" charset="0"/>
                <a:ea typeface="Calibri" pitchFamily="34" charset="-122"/>
                <a:cs typeface="Calibri" pitchFamily="34" charset="-120"/>
              </a:rPr>
              <a:t>URS “Vanguard”   ·   Kyiv, Ukraine</a:t>
            </a:r>
            <a:endParaRPr lang="en-US" sz="1200" dirty="0"/>
          </a:p>
        </p:txBody>
      </p:sp>
      <p:pic>
        <p:nvPicPr>
          <p:cNvPr id="8" name="Image 2" descr="KOZHAN 4.0 drone detector">    </p:cNvPr>
          <p:cNvPicPr>
            <a:picLocks noChangeAspect="1"/>
          </p:cNvPicPr>
          <p:nvPr/>
        </p:nvPicPr>
        <p:blipFill>
          <a:blip r:embed="rId3"/>
          <a:stretch>
            <a:fillRect/>
          </a:stretch>
        </p:blipFill>
        <p:spPr>
          <a:xfrm>
            <a:off x="7943789" y="502920"/>
            <a:ext cx="3223382" cy="5852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640080" y="777240"/>
            <a:ext cx="8229600" cy="274320"/>
          </a:xfrm>
          <a:prstGeom prst="rect">
            <a:avLst/>
          </a:prstGeom>
          <a:noFill/>
          <a:ln/>
        </p:spPr>
        <p:txBody>
          <a:bodyPr wrap="square" lIns="0" tIns="0" rIns="0" bIns="0" rtlCol="0" anchor="ctr"/>
          <a:lstStyle/>
          <a:p>
            <a:pPr indent="0" marL="0">
              <a:buNone/>
            </a:pPr>
            <a:r>
              <a:rPr lang="en-US" sz="1200" b="1" spc="400" kern="0" dirty="0">
                <a:solidFill>
                  <a:srgbClr val="C2A25D"/>
                </a:solidFill>
                <a:latin typeface="Calibri" pitchFamily="34" charset="0"/>
                <a:ea typeface="Calibri" pitchFamily="34" charset="-122"/>
                <a:cs typeface="Calibri" pitchFamily="34" charset="-120"/>
              </a:rPr>
              <a:t>ABOUT URS VANGUARD</a:t>
            </a:r>
            <a:endParaRPr lang="en-US" sz="1200" dirty="0"/>
          </a:p>
        </p:txBody>
      </p:sp>
      <p:sp>
        <p:nvSpPr>
          <p:cNvPr id="3" name="Title"/>
          <p:cNvSpPr txBox="1"/>
          <p:nvPr/>
        </p:nvSpPr>
        <p:spPr>
          <a:xfrm>
            <a:off x="640080" y="1051560"/>
            <a:ext cx="10515600" cy="822960"/>
          </a:xfrm>
          <a:prstGeom prst="rect">
            <a:avLst/>
          </a:prstGeom>
          <a:noFill/>
          <a:ln/>
        </p:spPr>
        <p:txBody>
          <a:bodyPr wrap="square" lIns="0" tIns="0" rIns="0" bIns="0" rtlCol="0" anchor="t"/>
          <a:lstStyle/>
          <a:p>
            <a:pPr indent="0" marL="0">
              <a:buNone/>
            </a:pPr>
            <a:r>
              <a:rPr lang="en-US" sz="3600" b="1" dirty="0">
                <a:solidFill>
                  <a:srgbClr val="EDE8DC"/>
                </a:solidFill>
                <a:latin typeface="Cambria" pitchFamily="34" charset="0"/>
                <a:ea typeface="Cambria" pitchFamily="34" charset="-122"/>
                <a:cs typeface="Cambria" pitchFamily="34" charset="-120"/>
              </a:rPr>
              <a:t>Building Europe’s DefenseTech ecosystem</a:t>
            </a:r>
            <a:endParaRPr lang="en-US" sz="3600" dirty="0"/>
          </a:p>
        </p:txBody>
      </p:sp>
      <p:sp>
        <p:nvSpPr>
          <p:cNvPr id="4" name="Text 2"/>
          <p:cNvSpPr txBox="1"/>
          <p:nvPr/>
        </p:nvSpPr>
        <p:spPr>
          <a:xfrm>
            <a:off x="640080" y="2011680"/>
            <a:ext cx="10515600" cy="640080"/>
          </a:xfrm>
          <a:prstGeom prst="rect">
            <a:avLst/>
          </a:prstGeom>
          <a:noFill/>
          <a:ln/>
        </p:spPr>
        <p:txBody>
          <a:bodyPr wrap="square" lIns="0" tIns="0" rIns="0" bIns="0" rtlCol="0" anchor="t"/>
          <a:lstStyle/>
          <a:p>
            <a:pPr indent="0" marL="0">
              <a:buNone/>
            </a:pPr>
            <a:r>
              <a:rPr lang="en-US" sz="1800" dirty="0">
                <a:solidFill>
                  <a:srgbClr val="98A4B8"/>
                </a:solidFill>
                <a:latin typeface="Calibri" pitchFamily="34" charset="0"/>
                <a:ea typeface="Calibri" pitchFamily="34" charset="-122"/>
                <a:cs typeface="Calibri" pitchFamily="34" charset="-120"/>
              </a:rPr>
              <a:t>Kyiv-based developer of electronic warfare (EW), radioelectronic reconnaissance (ER) and counter-UAS systems on proprietary SDR technologies.</a:t>
            </a:r>
            <a:endParaRPr lang="en-US" sz="1800" dirty="0"/>
          </a:p>
        </p:txBody>
      </p:sp>
      <p:sp>
        <p:nvSpPr>
          <p:cNvPr id="5" name="Mission card"/>
          <p:cNvSpPr/>
          <p:nvPr/>
        </p:nvSpPr>
        <p:spPr>
          <a:xfrm>
            <a:off x="640080" y="2880360"/>
            <a:ext cx="3593592" cy="3337560"/>
          </a:xfrm>
          <a:prstGeom prst="rect">
            <a:avLst/>
          </a:prstGeom>
          <a:solidFill>
            <a:srgbClr val="111B2E"/>
          </a:solidFill>
          <a:ln w="9525">
            <a:solidFill>
              <a:srgbClr val="22334F"/>
            </a:solidFill>
            <a:prstDash val="solid"/>
          </a:ln>
        </p:spPr>
      </p:sp>
      <p:sp>
        <p:nvSpPr>
          <p:cNvPr id="6" name="IconRing"/>
          <p:cNvSpPr/>
          <p:nvPr/>
        </p:nvSpPr>
        <p:spPr>
          <a:xfrm>
            <a:off x="914400" y="3154680"/>
            <a:ext cx="640080" cy="640080"/>
          </a:xfrm>
          <a:prstGeom prst="ellipse">
            <a:avLst/>
          </a:prstGeom>
          <a:solidFill>
            <a:srgbClr val="0B1220"/>
          </a:solidFill>
          <a:ln w="12700">
            <a:solidFill>
              <a:srgbClr val="C2A25D"/>
            </a:solidFill>
            <a:prstDash val="solid"/>
          </a:ln>
        </p:spPr>
      </p:sp>
      <p:pic>
        <p:nvPicPr>
          <p:cNvPr id="7" name="Image 0" descr="icon">    </p:cNvPr>
          <p:cNvPicPr>
            <a:picLocks noChangeAspect="1"/>
          </p:cNvPicPr>
          <p:nvPr/>
        </p:nvPicPr>
        <p:blipFill>
          <a:blip r:embed="rId1"/>
          <a:stretch>
            <a:fillRect/>
          </a:stretch>
        </p:blipFill>
        <p:spPr>
          <a:xfrm>
            <a:off x="1087222" y="3327502"/>
            <a:ext cx="294437" cy="294437"/>
          </a:xfrm>
          <a:prstGeom prst="rect">
            <a:avLst/>
          </a:prstGeom>
        </p:spPr>
      </p:pic>
      <p:sp>
        <p:nvSpPr>
          <p:cNvPr id="8" name="Text 5"/>
          <p:cNvSpPr txBox="1"/>
          <p:nvPr/>
        </p:nvSpPr>
        <p:spPr>
          <a:xfrm>
            <a:off x="914400" y="3977640"/>
            <a:ext cx="3108960" cy="411480"/>
          </a:xfrm>
          <a:prstGeom prst="rect">
            <a:avLst/>
          </a:prstGeom>
          <a:noFill/>
          <a:ln/>
        </p:spPr>
        <p:txBody>
          <a:bodyPr wrap="square" lIns="0" tIns="0" rIns="0" bIns="0" rtlCol="0" anchor="ctr"/>
          <a:lstStyle/>
          <a:p>
            <a:pPr indent="0" marL="0">
              <a:buNone/>
            </a:pPr>
            <a:r>
              <a:rPr lang="en-US" sz="2200" b="1" dirty="0">
                <a:solidFill>
                  <a:srgbClr val="EDE8DC"/>
                </a:solidFill>
                <a:latin typeface="Cambria" pitchFamily="34" charset="0"/>
                <a:ea typeface="Cambria" pitchFamily="34" charset="-122"/>
                <a:cs typeface="Cambria" pitchFamily="34" charset="-120"/>
              </a:rPr>
              <a:t>Our mission</a:t>
            </a:r>
            <a:endParaRPr lang="en-US" sz="2200" dirty="0"/>
          </a:p>
        </p:txBody>
      </p:sp>
      <p:sp>
        <p:nvSpPr>
          <p:cNvPr id="9" name="Text 6"/>
          <p:cNvSpPr txBox="1"/>
          <p:nvPr/>
        </p:nvSpPr>
        <p:spPr>
          <a:xfrm>
            <a:off x="914400" y="4480560"/>
            <a:ext cx="3063240" cy="1645920"/>
          </a:xfrm>
          <a:prstGeom prst="rect">
            <a:avLst/>
          </a:prstGeom>
          <a:noFill/>
          <a:ln/>
        </p:spPr>
        <p:txBody>
          <a:bodyPr wrap="square" lIns="0" tIns="0" rIns="0" bIns="0" rtlCol="0" anchor="t"/>
          <a:lstStyle/>
          <a:p>
            <a:pPr indent="0" marL="0">
              <a:buNone/>
            </a:pPr>
            <a:r>
              <a:rPr lang="en-US" sz="1400" dirty="0">
                <a:solidFill>
                  <a:srgbClr val="98A4B8"/>
                </a:solidFill>
                <a:latin typeface="Calibri" pitchFamily="34" charset="0"/>
                <a:ea typeface="Calibri" pitchFamily="34" charset="-122"/>
                <a:cs typeface="Calibri" pitchFamily="34" charset="-120"/>
              </a:rPr>
              <a:t>Develop real-time technologies that significantly enhance the protection and survival of military personnel and the success of their missions.</a:t>
            </a:r>
            <a:endParaRPr lang="en-US" sz="1400" dirty="0"/>
          </a:p>
        </p:txBody>
      </p:sp>
      <p:sp>
        <p:nvSpPr>
          <p:cNvPr id="10" name="Mission card"/>
          <p:cNvSpPr/>
          <p:nvPr/>
        </p:nvSpPr>
        <p:spPr>
          <a:xfrm>
            <a:off x="4297680" y="2880360"/>
            <a:ext cx="3593592" cy="3337560"/>
          </a:xfrm>
          <a:prstGeom prst="rect">
            <a:avLst/>
          </a:prstGeom>
          <a:solidFill>
            <a:srgbClr val="111B2E"/>
          </a:solidFill>
          <a:ln w="9525">
            <a:solidFill>
              <a:srgbClr val="22334F"/>
            </a:solidFill>
            <a:prstDash val="solid"/>
          </a:ln>
        </p:spPr>
      </p:sp>
      <p:sp>
        <p:nvSpPr>
          <p:cNvPr id="11" name="IconRing"/>
          <p:cNvSpPr/>
          <p:nvPr/>
        </p:nvSpPr>
        <p:spPr>
          <a:xfrm>
            <a:off x="4572000" y="3154680"/>
            <a:ext cx="640080" cy="640080"/>
          </a:xfrm>
          <a:prstGeom prst="ellipse">
            <a:avLst/>
          </a:prstGeom>
          <a:solidFill>
            <a:srgbClr val="0B1220"/>
          </a:solidFill>
          <a:ln w="12700">
            <a:solidFill>
              <a:srgbClr val="C2A25D"/>
            </a:solidFill>
            <a:prstDash val="solid"/>
          </a:ln>
        </p:spPr>
      </p:sp>
      <p:pic>
        <p:nvPicPr>
          <p:cNvPr id="12" name="Image 1" descr="icon">    </p:cNvPr>
          <p:cNvPicPr>
            <a:picLocks noChangeAspect="1"/>
          </p:cNvPicPr>
          <p:nvPr/>
        </p:nvPicPr>
        <p:blipFill>
          <a:blip r:embed="rId2"/>
          <a:stretch>
            <a:fillRect/>
          </a:stretch>
        </p:blipFill>
        <p:spPr>
          <a:xfrm>
            <a:off x="4744822" y="3327502"/>
            <a:ext cx="294437" cy="294437"/>
          </a:xfrm>
          <a:prstGeom prst="rect">
            <a:avLst/>
          </a:prstGeom>
        </p:spPr>
      </p:pic>
      <p:sp>
        <p:nvSpPr>
          <p:cNvPr id="13" name="Text 9"/>
          <p:cNvSpPr txBox="1"/>
          <p:nvPr/>
        </p:nvSpPr>
        <p:spPr>
          <a:xfrm>
            <a:off x="4572000" y="3977640"/>
            <a:ext cx="3108960" cy="411480"/>
          </a:xfrm>
          <a:prstGeom prst="rect">
            <a:avLst/>
          </a:prstGeom>
          <a:noFill/>
          <a:ln/>
        </p:spPr>
        <p:txBody>
          <a:bodyPr wrap="square" lIns="0" tIns="0" rIns="0" bIns="0" rtlCol="0" anchor="ctr"/>
          <a:lstStyle/>
          <a:p>
            <a:pPr indent="0" marL="0">
              <a:buNone/>
            </a:pPr>
            <a:r>
              <a:rPr lang="en-US" sz="2200" b="1" dirty="0">
                <a:solidFill>
                  <a:srgbClr val="EDE8DC"/>
                </a:solidFill>
                <a:latin typeface="Cambria" pitchFamily="34" charset="0"/>
                <a:ea typeface="Cambria" pitchFamily="34" charset="-122"/>
                <a:cs typeface="Cambria" pitchFamily="34" charset="-120"/>
              </a:rPr>
              <a:t>Vision, 3–5 years</a:t>
            </a:r>
            <a:endParaRPr lang="en-US" sz="2200" dirty="0"/>
          </a:p>
        </p:txBody>
      </p:sp>
      <p:sp>
        <p:nvSpPr>
          <p:cNvPr id="14" name="Text 10"/>
          <p:cNvSpPr txBox="1"/>
          <p:nvPr/>
        </p:nvSpPr>
        <p:spPr>
          <a:xfrm>
            <a:off x="4572000" y="4480560"/>
            <a:ext cx="3063240" cy="1645920"/>
          </a:xfrm>
          <a:prstGeom prst="rect">
            <a:avLst/>
          </a:prstGeom>
          <a:noFill/>
          <a:ln/>
        </p:spPr>
        <p:txBody>
          <a:bodyPr wrap="square" lIns="0" tIns="0" rIns="0" bIns="0" rtlCol="0" anchor="t"/>
          <a:lstStyle/>
          <a:p>
            <a:pPr indent="0" marL="0">
              <a:buNone/>
            </a:pPr>
            <a:r>
              <a:rPr lang="en-US" sz="1400" dirty="0">
                <a:solidFill>
                  <a:srgbClr val="98A4B8"/>
                </a:solidFill>
                <a:latin typeface="Calibri" pitchFamily="34" charset="0"/>
                <a:ea typeface="Calibri" pitchFamily="34" charset="-122"/>
                <a:cs typeface="Calibri" pitchFamily="34" charset="-120"/>
              </a:rPr>
              <a:t>Become one of Europe’s key manufacturers of EW, ER and personal protection systems, unified on a single interoperable information-network platform.</a:t>
            </a:r>
            <a:endParaRPr lang="en-US" sz="1400" dirty="0"/>
          </a:p>
        </p:txBody>
      </p:sp>
      <p:sp>
        <p:nvSpPr>
          <p:cNvPr id="15" name="Mission card"/>
          <p:cNvSpPr/>
          <p:nvPr/>
        </p:nvSpPr>
        <p:spPr>
          <a:xfrm>
            <a:off x="7955280" y="2880360"/>
            <a:ext cx="3593592" cy="3337560"/>
          </a:xfrm>
          <a:prstGeom prst="rect">
            <a:avLst/>
          </a:prstGeom>
          <a:solidFill>
            <a:srgbClr val="111B2E"/>
          </a:solidFill>
          <a:ln w="9525">
            <a:solidFill>
              <a:srgbClr val="22334F"/>
            </a:solidFill>
            <a:prstDash val="solid"/>
          </a:ln>
        </p:spPr>
      </p:sp>
      <p:sp>
        <p:nvSpPr>
          <p:cNvPr id="16" name="IconRing"/>
          <p:cNvSpPr/>
          <p:nvPr/>
        </p:nvSpPr>
        <p:spPr>
          <a:xfrm>
            <a:off x="8229600" y="3154680"/>
            <a:ext cx="640080" cy="640080"/>
          </a:xfrm>
          <a:prstGeom prst="ellipse">
            <a:avLst/>
          </a:prstGeom>
          <a:solidFill>
            <a:srgbClr val="0B1220"/>
          </a:solidFill>
          <a:ln w="12700">
            <a:solidFill>
              <a:srgbClr val="C2A25D"/>
            </a:solidFill>
            <a:prstDash val="solid"/>
          </a:ln>
        </p:spPr>
      </p:sp>
      <p:pic>
        <p:nvPicPr>
          <p:cNvPr id="17" name="Image 2" descr="icon">    </p:cNvPr>
          <p:cNvPicPr>
            <a:picLocks noChangeAspect="1"/>
          </p:cNvPicPr>
          <p:nvPr/>
        </p:nvPicPr>
        <p:blipFill>
          <a:blip r:embed="rId3"/>
          <a:stretch>
            <a:fillRect/>
          </a:stretch>
        </p:blipFill>
        <p:spPr>
          <a:xfrm>
            <a:off x="8402422" y="3327502"/>
            <a:ext cx="294437" cy="294437"/>
          </a:xfrm>
          <a:prstGeom prst="rect">
            <a:avLst/>
          </a:prstGeom>
        </p:spPr>
      </p:pic>
      <p:sp>
        <p:nvSpPr>
          <p:cNvPr id="18" name="Text 13"/>
          <p:cNvSpPr txBox="1"/>
          <p:nvPr/>
        </p:nvSpPr>
        <p:spPr>
          <a:xfrm>
            <a:off x="8229600" y="3977640"/>
            <a:ext cx="3108960" cy="411480"/>
          </a:xfrm>
          <a:prstGeom prst="rect">
            <a:avLst/>
          </a:prstGeom>
          <a:noFill/>
          <a:ln/>
        </p:spPr>
        <p:txBody>
          <a:bodyPr wrap="square" lIns="0" tIns="0" rIns="0" bIns="0" rtlCol="0" anchor="ctr"/>
          <a:lstStyle/>
          <a:p>
            <a:pPr indent="0" marL="0">
              <a:buNone/>
            </a:pPr>
            <a:r>
              <a:rPr lang="en-US" sz="2200" b="1" dirty="0">
                <a:solidFill>
                  <a:srgbClr val="EDE8DC"/>
                </a:solidFill>
                <a:latin typeface="Cambria" pitchFamily="34" charset="0"/>
                <a:ea typeface="Cambria" pitchFamily="34" charset="-122"/>
                <a:cs typeface="Cambria" pitchFamily="34" charset="-120"/>
              </a:rPr>
              <a:t>Global expansion</a:t>
            </a:r>
            <a:endParaRPr lang="en-US" sz="2200" dirty="0"/>
          </a:p>
        </p:txBody>
      </p:sp>
      <p:sp>
        <p:nvSpPr>
          <p:cNvPr id="19" name="Text 14"/>
          <p:cNvSpPr txBox="1"/>
          <p:nvPr/>
        </p:nvSpPr>
        <p:spPr>
          <a:xfrm>
            <a:off x="8229600" y="4480560"/>
            <a:ext cx="3063240" cy="1645920"/>
          </a:xfrm>
          <a:prstGeom prst="rect">
            <a:avLst/>
          </a:prstGeom>
          <a:noFill/>
          <a:ln/>
        </p:spPr>
        <p:txBody>
          <a:bodyPr wrap="square" lIns="0" tIns="0" rIns="0" bIns="0" rtlCol="0" anchor="t"/>
          <a:lstStyle/>
          <a:p>
            <a:pPr indent="0" marL="0">
              <a:buNone/>
            </a:pPr>
            <a:r>
              <a:rPr lang="en-US" sz="1400" dirty="0">
                <a:solidFill>
                  <a:srgbClr val="98A4B8"/>
                </a:solidFill>
                <a:latin typeface="Calibri" pitchFamily="34" charset="0"/>
                <a:ea typeface="Calibri" pitchFamily="34" charset="-122"/>
                <a:cs typeface="Calibri" pitchFamily="34" charset="-120"/>
              </a:rPr>
              <a:t>Turn battle-tested front-line experience into certified, standardized solutions for NATO countries and international partners.</a:t>
            </a:r>
            <a:endParaRPr lang="en-US" sz="1400" dirty="0"/>
          </a:p>
        </p:txBody>
      </p:sp>
      <p:sp>
        <p:nvSpPr>
          <p:cNvPr id="25" name="Slide Number Placeholder 0"/>
          <p:cNvSpPr>
            <a:spLocks noGrp="1"/>
          </p:cNvSpPr>
          <p:nvPr>
            <p:ph type="sldNum" sz="quarter" idx="4294967295"/>
          </p:nvPr>
        </p:nvSpPr>
        <p:spPr>
          <a:xfrm>
            <a:off x="10820095" y="20116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A25D"/>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640080" y="777240"/>
            <a:ext cx="8229600" cy="274320"/>
          </a:xfrm>
          <a:prstGeom prst="rect">
            <a:avLst/>
          </a:prstGeom>
          <a:noFill/>
          <a:ln/>
        </p:spPr>
        <p:txBody>
          <a:bodyPr wrap="square" lIns="0" tIns="0" rIns="0" bIns="0" rtlCol="0" anchor="ctr"/>
          <a:lstStyle/>
          <a:p>
            <a:pPr indent="0" marL="0">
              <a:buNone/>
            </a:pPr>
            <a:r>
              <a:rPr lang="en-US" sz="1200" b="1" spc="400" kern="0" dirty="0">
                <a:solidFill>
                  <a:srgbClr val="C2A25D"/>
                </a:solidFill>
                <a:latin typeface="Calibri" pitchFamily="34" charset="0"/>
                <a:ea typeface="Calibri" pitchFamily="34" charset="-122"/>
                <a:cs typeface="Calibri" pitchFamily="34" charset="-120"/>
              </a:rPr>
              <a:t>TRACTION</a:t>
            </a:r>
            <a:endParaRPr lang="en-US" sz="1200" dirty="0"/>
          </a:p>
        </p:txBody>
      </p:sp>
      <p:sp>
        <p:nvSpPr>
          <p:cNvPr id="3" name="Title"/>
          <p:cNvSpPr txBox="1"/>
          <p:nvPr/>
        </p:nvSpPr>
        <p:spPr>
          <a:xfrm>
            <a:off x="640080" y="1051560"/>
            <a:ext cx="10515600" cy="822960"/>
          </a:xfrm>
          <a:prstGeom prst="rect">
            <a:avLst/>
          </a:prstGeom>
          <a:noFill/>
          <a:ln/>
        </p:spPr>
        <p:txBody>
          <a:bodyPr wrap="square" lIns="0" tIns="0" rIns="0" bIns="0" rtlCol="0" anchor="t"/>
          <a:lstStyle/>
          <a:p>
            <a:pPr indent="0" marL="0">
              <a:buNone/>
            </a:pPr>
            <a:r>
              <a:rPr lang="en-US" sz="3600" b="1" dirty="0">
                <a:solidFill>
                  <a:srgbClr val="EDE8DC"/>
                </a:solidFill>
                <a:latin typeface="Cambria" pitchFamily="34" charset="0"/>
                <a:ea typeface="Cambria" pitchFamily="34" charset="-122"/>
                <a:cs typeface="Cambria" pitchFamily="34" charset="-120"/>
              </a:rPr>
              <a:t>Proven demand and rapid growth</a:t>
            </a:r>
            <a:endParaRPr lang="en-US" sz="3600" dirty="0"/>
          </a:p>
        </p:txBody>
      </p:sp>
      <p:sp>
        <p:nvSpPr>
          <p:cNvPr id="4" name="Stat card"/>
          <p:cNvSpPr/>
          <p:nvPr/>
        </p:nvSpPr>
        <p:spPr>
          <a:xfrm>
            <a:off x="640080" y="2103120"/>
            <a:ext cx="2578608" cy="4023360"/>
          </a:xfrm>
          <a:prstGeom prst="rect">
            <a:avLst/>
          </a:prstGeom>
          <a:solidFill>
            <a:srgbClr val="111B2E"/>
          </a:solidFill>
          <a:ln w="9525">
            <a:solidFill>
              <a:srgbClr val="22334F"/>
            </a:solidFill>
            <a:prstDash val="solid"/>
          </a:ln>
        </p:spPr>
      </p:sp>
      <p:sp>
        <p:nvSpPr>
          <p:cNvPr id="5" name="Text 3"/>
          <p:cNvSpPr txBox="1"/>
          <p:nvPr/>
        </p:nvSpPr>
        <p:spPr>
          <a:xfrm>
            <a:off x="914400" y="2423160"/>
            <a:ext cx="2029968" cy="1188720"/>
          </a:xfrm>
          <a:prstGeom prst="rect">
            <a:avLst/>
          </a:prstGeom>
          <a:noFill/>
          <a:ln/>
        </p:spPr>
        <p:txBody>
          <a:bodyPr wrap="square" lIns="0" tIns="0" rIns="0" bIns="0" rtlCol="0" anchor="ctr"/>
          <a:lstStyle/>
          <a:p>
            <a:pPr indent="0" marL="0">
              <a:buNone/>
            </a:pPr>
            <a:r>
              <a:rPr lang="en-US" sz="6600" b="1" dirty="0">
                <a:solidFill>
                  <a:srgbClr val="C2A25D"/>
                </a:solidFill>
                <a:latin typeface="Cambria" pitchFamily="34" charset="0"/>
                <a:ea typeface="Cambria" pitchFamily="34" charset="-122"/>
                <a:cs typeface="Cambria" pitchFamily="34" charset="-120"/>
              </a:rPr>
              <a:t>3x</a:t>
            </a:r>
            <a:endParaRPr lang="en-US" sz="6600" dirty="0"/>
          </a:p>
        </p:txBody>
      </p:sp>
      <p:sp>
        <p:nvSpPr>
          <p:cNvPr id="6" name="Text 4"/>
          <p:cNvSpPr txBox="1"/>
          <p:nvPr/>
        </p:nvSpPr>
        <p:spPr>
          <a:xfrm>
            <a:off x="914400" y="3840480"/>
            <a:ext cx="2029968" cy="640080"/>
          </a:xfrm>
          <a:prstGeom prst="rect">
            <a:avLst/>
          </a:prstGeom>
          <a:noFill/>
          <a:ln/>
        </p:spPr>
        <p:txBody>
          <a:bodyPr wrap="square" lIns="0" tIns="0" rIns="0" bIns="0" rtlCol="0" anchor="t"/>
          <a:lstStyle/>
          <a:p>
            <a:pPr indent="0" marL="0">
              <a:buNone/>
            </a:pPr>
            <a:r>
              <a:rPr lang="en-US" sz="1900" b="1" dirty="0">
                <a:solidFill>
                  <a:srgbClr val="EDE8DC"/>
                </a:solidFill>
                <a:latin typeface="Cambria" pitchFamily="34" charset="0"/>
                <a:ea typeface="Cambria" pitchFamily="34" charset="-122"/>
                <a:cs typeface="Cambria" pitchFamily="34" charset="-120"/>
              </a:rPr>
              <a:t>Year-over-year growth</a:t>
            </a:r>
            <a:endParaRPr lang="en-US" sz="1900" dirty="0"/>
          </a:p>
        </p:txBody>
      </p:sp>
      <p:sp>
        <p:nvSpPr>
          <p:cNvPr id="7" name="Text 5"/>
          <p:cNvSpPr txBox="1"/>
          <p:nvPr/>
        </p:nvSpPr>
        <p:spPr>
          <a:xfrm>
            <a:off x="914400" y="4617720"/>
            <a:ext cx="2029968" cy="1371600"/>
          </a:xfrm>
          <a:prstGeom prst="rect">
            <a:avLst/>
          </a:prstGeom>
          <a:noFill/>
          <a:ln/>
        </p:spPr>
        <p:txBody>
          <a:bodyPr wrap="square" lIns="0" tIns="0" rIns="0" bIns="0" rtlCol="0" anchor="t"/>
          <a:lstStyle/>
          <a:p>
            <a:pPr indent="0" marL="0">
              <a:buNone/>
            </a:pPr>
            <a:r>
              <a:rPr lang="en-US" sz="1400" dirty="0">
                <a:solidFill>
                  <a:srgbClr val="98A4B8"/>
                </a:solidFill>
                <a:latin typeface="Calibri" pitchFamily="34" charset="0"/>
                <a:ea typeface="Calibri" pitchFamily="34" charset="-122"/>
                <a:cs typeface="Calibri" pitchFamily="34" charset="-120"/>
              </a:rPr>
              <a:t>Consistent tripling of demand each year.</a:t>
            </a:r>
            <a:endParaRPr lang="en-US" sz="1400" dirty="0"/>
          </a:p>
        </p:txBody>
      </p:sp>
      <p:sp>
        <p:nvSpPr>
          <p:cNvPr id="8" name="Stat card"/>
          <p:cNvSpPr/>
          <p:nvPr/>
        </p:nvSpPr>
        <p:spPr>
          <a:xfrm>
            <a:off x="3410712" y="2103120"/>
            <a:ext cx="2578608" cy="4023360"/>
          </a:xfrm>
          <a:prstGeom prst="rect">
            <a:avLst/>
          </a:prstGeom>
          <a:solidFill>
            <a:srgbClr val="111B2E"/>
          </a:solidFill>
          <a:ln w="9525">
            <a:solidFill>
              <a:srgbClr val="22334F"/>
            </a:solidFill>
            <a:prstDash val="solid"/>
          </a:ln>
        </p:spPr>
      </p:sp>
      <p:sp>
        <p:nvSpPr>
          <p:cNvPr id="9" name="Text 7"/>
          <p:cNvSpPr txBox="1"/>
          <p:nvPr/>
        </p:nvSpPr>
        <p:spPr>
          <a:xfrm>
            <a:off x="3685032" y="2423160"/>
            <a:ext cx="2029968" cy="1188720"/>
          </a:xfrm>
          <a:prstGeom prst="rect">
            <a:avLst/>
          </a:prstGeom>
          <a:noFill/>
          <a:ln/>
        </p:spPr>
        <p:txBody>
          <a:bodyPr wrap="square" lIns="0" tIns="0" rIns="0" bIns="0" rtlCol="0" anchor="ctr"/>
          <a:lstStyle/>
          <a:p>
            <a:pPr indent="0" marL="0">
              <a:buNone/>
            </a:pPr>
            <a:r>
              <a:rPr lang="en-US" sz="6600" b="1" dirty="0">
                <a:solidFill>
                  <a:srgbClr val="C2A25D"/>
                </a:solidFill>
                <a:latin typeface="Cambria" pitchFamily="34" charset="0"/>
                <a:ea typeface="Cambria" pitchFamily="34" charset="-122"/>
                <a:cs typeface="Cambria" pitchFamily="34" charset="-120"/>
              </a:rPr>
              <a:t>300+</a:t>
            </a:r>
            <a:endParaRPr lang="en-US" sz="6600" dirty="0"/>
          </a:p>
        </p:txBody>
      </p:sp>
      <p:sp>
        <p:nvSpPr>
          <p:cNvPr id="10" name="Text 8"/>
          <p:cNvSpPr txBox="1"/>
          <p:nvPr/>
        </p:nvSpPr>
        <p:spPr>
          <a:xfrm>
            <a:off x="3685032" y="3840480"/>
            <a:ext cx="2029968" cy="640080"/>
          </a:xfrm>
          <a:prstGeom prst="rect">
            <a:avLst/>
          </a:prstGeom>
          <a:noFill/>
          <a:ln/>
        </p:spPr>
        <p:txBody>
          <a:bodyPr wrap="square" lIns="0" tIns="0" rIns="0" bIns="0" rtlCol="0" anchor="t"/>
          <a:lstStyle/>
          <a:p>
            <a:pPr indent="0" marL="0">
              <a:buNone/>
            </a:pPr>
            <a:r>
              <a:rPr lang="en-US" sz="1900" b="1" dirty="0">
                <a:solidFill>
                  <a:srgbClr val="EDE8DC"/>
                </a:solidFill>
                <a:latin typeface="Cambria" pitchFamily="34" charset="0"/>
                <a:ea typeface="Cambria" pitchFamily="34" charset="-122"/>
                <a:cs typeface="Cambria" pitchFamily="34" charset="-120"/>
              </a:rPr>
              <a:t>Completed deliveries</a:t>
            </a:r>
            <a:endParaRPr lang="en-US" sz="1900" dirty="0"/>
          </a:p>
        </p:txBody>
      </p:sp>
      <p:sp>
        <p:nvSpPr>
          <p:cNvPr id="11" name="Text 9"/>
          <p:cNvSpPr txBox="1"/>
          <p:nvPr/>
        </p:nvSpPr>
        <p:spPr>
          <a:xfrm>
            <a:off x="3685032" y="4617720"/>
            <a:ext cx="2029968" cy="1371600"/>
          </a:xfrm>
          <a:prstGeom prst="rect">
            <a:avLst/>
          </a:prstGeom>
          <a:noFill/>
          <a:ln/>
        </p:spPr>
        <p:txBody>
          <a:bodyPr wrap="square" lIns="0" tIns="0" rIns="0" bIns="0" rtlCol="0" anchor="t"/>
          <a:lstStyle/>
          <a:p>
            <a:pPr indent="0" marL="0">
              <a:buNone/>
            </a:pPr>
            <a:r>
              <a:rPr lang="en-US" sz="1400" dirty="0">
                <a:solidFill>
                  <a:srgbClr val="98A4B8"/>
                </a:solidFill>
                <a:latin typeface="Calibri" pitchFamily="34" charset="0"/>
                <a:ea typeface="Calibri" pitchFamily="34" charset="-122"/>
                <a:cs typeface="Calibri" pitchFamily="34" charset="-120"/>
              </a:rPr>
              <a:t>Production capacity booked more than a month ahead.</a:t>
            </a:r>
            <a:endParaRPr lang="en-US" sz="1400" dirty="0"/>
          </a:p>
        </p:txBody>
      </p:sp>
      <p:sp>
        <p:nvSpPr>
          <p:cNvPr id="12" name="Stat card"/>
          <p:cNvSpPr/>
          <p:nvPr/>
        </p:nvSpPr>
        <p:spPr>
          <a:xfrm>
            <a:off x="6181344" y="2103120"/>
            <a:ext cx="2578608" cy="4023360"/>
          </a:xfrm>
          <a:prstGeom prst="rect">
            <a:avLst/>
          </a:prstGeom>
          <a:solidFill>
            <a:srgbClr val="111B2E"/>
          </a:solidFill>
          <a:ln w="9525">
            <a:solidFill>
              <a:srgbClr val="22334F"/>
            </a:solidFill>
            <a:prstDash val="solid"/>
          </a:ln>
        </p:spPr>
      </p:sp>
      <p:sp>
        <p:nvSpPr>
          <p:cNvPr id="13" name="Text 11"/>
          <p:cNvSpPr txBox="1"/>
          <p:nvPr/>
        </p:nvSpPr>
        <p:spPr>
          <a:xfrm>
            <a:off x="6455664" y="2423160"/>
            <a:ext cx="2029968" cy="1188720"/>
          </a:xfrm>
          <a:prstGeom prst="rect">
            <a:avLst/>
          </a:prstGeom>
          <a:noFill/>
          <a:ln/>
        </p:spPr>
        <p:txBody>
          <a:bodyPr wrap="square" lIns="0" tIns="0" rIns="0" bIns="0" rtlCol="0" anchor="ctr"/>
          <a:lstStyle/>
          <a:p>
            <a:pPr indent="0" marL="0">
              <a:buNone/>
            </a:pPr>
            <a:r>
              <a:rPr lang="en-US" sz="6600" b="1" dirty="0">
                <a:solidFill>
                  <a:srgbClr val="C2A25D"/>
                </a:solidFill>
                <a:latin typeface="Cambria" pitchFamily="34" charset="0"/>
                <a:ea typeface="Cambria" pitchFamily="34" charset="-122"/>
                <a:cs typeface="Cambria" pitchFamily="34" charset="-120"/>
              </a:rPr>
              <a:t>15</a:t>
            </a:r>
            <a:endParaRPr lang="en-US" sz="6600" dirty="0"/>
          </a:p>
        </p:txBody>
      </p:sp>
      <p:sp>
        <p:nvSpPr>
          <p:cNvPr id="14" name="Text 12"/>
          <p:cNvSpPr txBox="1"/>
          <p:nvPr/>
        </p:nvSpPr>
        <p:spPr>
          <a:xfrm>
            <a:off x="6455664" y="3840480"/>
            <a:ext cx="2029968" cy="640080"/>
          </a:xfrm>
          <a:prstGeom prst="rect">
            <a:avLst/>
          </a:prstGeom>
          <a:noFill/>
          <a:ln/>
        </p:spPr>
        <p:txBody>
          <a:bodyPr wrap="square" lIns="0" tIns="0" rIns="0" bIns="0" rtlCol="0" anchor="t"/>
          <a:lstStyle/>
          <a:p>
            <a:pPr indent="0" marL="0">
              <a:buNone/>
            </a:pPr>
            <a:r>
              <a:rPr lang="en-US" sz="1900" b="1" dirty="0">
                <a:solidFill>
                  <a:srgbClr val="EDE8DC"/>
                </a:solidFill>
                <a:latin typeface="Cambria" pitchFamily="34" charset="0"/>
                <a:ea typeface="Cambria" pitchFamily="34" charset="-122"/>
                <a:cs typeface="Cambria" pitchFamily="34" charset="-120"/>
              </a:rPr>
              <a:t>Core team</a:t>
            </a:r>
            <a:endParaRPr lang="en-US" sz="1900" dirty="0"/>
          </a:p>
        </p:txBody>
      </p:sp>
      <p:sp>
        <p:nvSpPr>
          <p:cNvPr id="15" name="Text 13"/>
          <p:cNvSpPr txBox="1"/>
          <p:nvPr/>
        </p:nvSpPr>
        <p:spPr>
          <a:xfrm>
            <a:off x="6455664" y="4617720"/>
            <a:ext cx="2029968" cy="1371600"/>
          </a:xfrm>
          <a:prstGeom prst="rect">
            <a:avLst/>
          </a:prstGeom>
          <a:noFill/>
          <a:ln/>
        </p:spPr>
        <p:txBody>
          <a:bodyPr wrap="square" lIns="0" tIns="0" rIns="0" bIns="0" rtlCol="0" anchor="t"/>
          <a:lstStyle/>
          <a:p>
            <a:pPr indent="0" marL="0">
              <a:buNone/>
            </a:pPr>
            <a:r>
              <a:rPr lang="en-US" sz="1400" dirty="0">
                <a:solidFill>
                  <a:srgbClr val="98A4B8"/>
                </a:solidFill>
                <a:latin typeface="Calibri" pitchFamily="34" charset="0"/>
                <a:ea typeface="Calibri" pitchFamily="34" charset="-122"/>
                <a:cs typeface="Calibri" pitchFamily="34" charset="-120"/>
              </a:rPr>
              <a:t>In-house specialists covering the full development and production cycle.</a:t>
            </a:r>
            <a:endParaRPr lang="en-US" sz="1400" dirty="0"/>
          </a:p>
        </p:txBody>
      </p:sp>
      <p:sp>
        <p:nvSpPr>
          <p:cNvPr id="16" name="Stat card"/>
          <p:cNvSpPr/>
          <p:nvPr/>
        </p:nvSpPr>
        <p:spPr>
          <a:xfrm>
            <a:off x="8951976" y="2103120"/>
            <a:ext cx="2578608" cy="4023360"/>
          </a:xfrm>
          <a:prstGeom prst="rect">
            <a:avLst/>
          </a:prstGeom>
          <a:solidFill>
            <a:srgbClr val="111B2E"/>
          </a:solidFill>
          <a:ln w="9525">
            <a:solidFill>
              <a:srgbClr val="22334F"/>
            </a:solidFill>
            <a:prstDash val="solid"/>
          </a:ln>
        </p:spPr>
      </p:sp>
      <p:sp>
        <p:nvSpPr>
          <p:cNvPr id="17" name="Text 15"/>
          <p:cNvSpPr txBox="1"/>
          <p:nvPr/>
        </p:nvSpPr>
        <p:spPr>
          <a:xfrm>
            <a:off x="9226296" y="2423160"/>
            <a:ext cx="2029968" cy="1188720"/>
          </a:xfrm>
          <a:prstGeom prst="rect">
            <a:avLst/>
          </a:prstGeom>
          <a:noFill/>
          <a:ln/>
        </p:spPr>
        <p:txBody>
          <a:bodyPr wrap="square" lIns="0" tIns="0" rIns="0" bIns="0" rtlCol="0" anchor="ctr"/>
          <a:lstStyle/>
          <a:p>
            <a:pPr indent="0" marL="0">
              <a:buNone/>
            </a:pPr>
            <a:r>
              <a:rPr lang="en-US" sz="6600" b="1" dirty="0">
                <a:solidFill>
                  <a:srgbClr val="C2A25D"/>
                </a:solidFill>
                <a:latin typeface="Cambria" pitchFamily="34" charset="0"/>
                <a:ea typeface="Cambria" pitchFamily="34" charset="-122"/>
                <a:cs typeface="Cambria" pitchFamily="34" charset="-120"/>
              </a:rPr>
              <a:t>6–12</a:t>
            </a:r>
            <a:endParaRPr lang="en-US" sz="6600" dirty="0"/>
          </a:p>
        </p:txBody>
      </p:sp>
      <p:sp>
        <p:nvSpPr>
          <p:cNvPr id="18" name="Text 16"/>
          <p:cNvSpPr txBox="1"/>
          <p:nvPr/>
        </p:nvSpPr>
        <p:spPr>
          <a:xfrm>
            <a:off x="9226296" y="3840480"/>
            <a:ext cx="2029968" cy="640080"/>
          </a:xfrm>
          <a:prstGeom prst="rect">
            <a:avLst/>
          </a:prstGeom>
          <a:noFill/>
          <a:ln/>
        </p:spPr>
        <p:txBody>
          <a:bodyPr wrap="square" lIns="0" tIns="0" rIns="0" bIns="0" rtlCol="0" anchor="t"/>
          <a:lstStyle/>
          <a:p>
            <a:pPr indent="0" marL="0">
              <a:buNone/>
            </a:pPr>
            <a:r>
              <a:rPr lang="en-US" sz="1900" b="1" dirty="0">
                <a:solidFill>
                  <a:srgbClr val="EDE8DC"/>
                </a:solidFill>
                <a:latin typeface="Cambria" pitchFamily="34" charset="0"/>
                <a:ea typeface="Cambria" pitchFamily="34" charset="-122"/>
                <a:cs typeface="Cambria" pitchFamily="34" charset="-120"/>
              </a:rPr>
              <a:t>Months of pipeline</a:t>
            </a:r>
            <a:endParaRPr lang="en-US" sz="1900" dirty="0"/>
          </a:p>
        </p:txBody>
      </p:sp>
      <p:sp>
        <p:nvSpPr>
          <p:cNvPr id="19" name="Text 17"/>
          <p:cNvSpPr txBox="1"/>
          <p:nvPr/>
        </p:nvSpPr>
        <p:spPr>
          <a:xfrm>
            <a:off x="9226296" y="4617720"/>
            <a:ext cx="2029968" cy="1371600"/>
          </a:xfrm>
          <a:prstGeom prst="rect">
            <a:avLst/>
          </a:prstGeom>
          <a:noFill/>
          <a:ln/>
        </p:spPr>
        <p:txBody>
          <a:bodyPr wrap="square" lIns="0" tIns="0" rIns="0" bIns="0" rtlCol="0" anchor="t"/>
          <a:lstStyle/>
          <a:p>
            <a:pPr indent="0" marL="0">
              <a:buNone/>
            </a:pPr>
            <a:r>
              <a:rPr lang="en-US" sz="1400" dirty="0">
                <a:solidFill>
                  <a:srgbClr val="98A4B8"/>
                </a:solidFill>
                <a:latin typeface="Calibri" pitchFamily="34" charset="0"/>
                <a:ea typeface="Calibri" pitchFamily="34" charset="-122"/>
                <a:cs typeface="Calibri" pitchFamily="34" charset="-120"/>
              </a:rPr>
              <a:t>Long-term direct contracts with military units under negotiation.</a:t>
            </a:r>
            <a:endParaRPr lang="en-US" sz="1400" dirty="0"/>
          </a:p>
        </p:txBody>
      </p:sp>
      <p:sp>
        <p:nvSpPr>
          <p:cNvPr id="25" name="Slide Number Placeholder 0"/>
          <p:cNvSpPr>
            <a:spLocks noGrp="1"/>
          </p:cNvSpPr>
          <p:nvPr>
            <p:ph type="sldNum" sz="quarter" idx="4294967295"/>
          </p:nvPr>
        </p:nvSpPr>
        <p:spPr>
          <a:xfrm>
            <a:off x="10820095" y="20116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A25D"/>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640080" y="777240"/>
            <a:ext cx="8229600" cy="274320"/>
          </a:xfrm>
          <a:prstGeom prst="rect">
            <a:avLst/>
          </a:prstGeom>
          <a:noFill/>
          <a:ln/>
        </p:spPr>
        <p:txBody>
          <a:bodyPr wrap="square" lIns="0" tIns="0" rIns="0" bIns="0" rtlCol="0" anchor="ctr"/>
          <a:lstStyle/>
          <a:p>
            <a:pPr indent="0" marL="0">
              <a:buNone/>
            </a:pPr>
            <a:r>
              <a:rPr lang="en-US" sz="1200" b="1" spc="400" kern="0" dirty="0">
                <a:solidFill>
                  <a:srgbClr val="C2A25D"/>
                </a:solidFill>
                <a:latin typeface="Calibri" pitchFamily="34" charset="0"/>
                <a:ea typeface="Calibri" pitchFamily="34" charset="-122"/>
                <a:cs typeface="Calibri" pitchFamily="34" charset="-120"/>
              </a:rPr>
              <a:t>OUR ADVANTAGES</a:t>
            </a:r>
            <a:endParaRPr lang="en-US" sz="1200" dirty="0"/>
          </a:p>
        </p:txBody>
      </p:sp>
      <p:sp>
        <p:nvSpPr>
          <p:cNvPr id="3" name="Title"/>
          <p:cNvSpPr txBox="1"/>
          <p:nvPr/>
        </p:nvSpPr>
        <p:spPr>
          <a:xfrm>
            <a:off x="640080" y="1051560"/>
            <a:ext cx="10515600" cy="822960"/>
          </a:xfrm>
          <a:prstGeom prst="rect">
            <a:avLst/>
          </a:prstGeom>
          <a:noFill/>
          <a:ln/>
        </p:spPr>
        <p:txBody>
          <a:bodyPr wrap="square" lIns="0" tIns="0" rIns="0" bIns="0" rtlCol="0" anchor="t"/>
          <a:lstStyle/>
          <a:p>
            <a:pPr indent="0" marL="0">
              <a:buNone/>
            </a:pPr>
            <a:r>
              <a:rPr lang="en-US" sz="3600" b="1" dirty="0">
                <a:solidFill>
                  <a:srgbClr val="EDE8DC"/>
                </a:solidFill>
                <a:latin typeface="Cambria" pitchFamily="34" charset="0"/>
                <a:ea typeface="Cambria" pitchFamily="34" charset="-122"/>
                <a:cs typeface="Cambria" pitchFamily="34" charset="-120"/>
              </a:rPr>
              <a:t>Control, speed and proven results</a:t>
            </a:r>
            <a:endParaRPr lang="en-US" sz="3600" dirty="0"/>
          </a:p>
        </p:txBody>
      </p:sp>
      <p:sp>
        <p:nvSpPr>
          <p:cNvPr id="4" name="Benefit card"/>
          <p:cNvSpPr/>
          <p:nvPr/>
        </p:nvSpPr>
        <p:spPr>
          <a:xfrm>
            <a:off x="640080" y="2103120"/>
            <a:ext cx="3593592" cy="2011680"/>
          </a:xfrm>
          <a:prstGeom prst="rect">
            <a:avLst/>
          </a:prstGeom>
          <a:solidFill>
            <a:srgbClr val="111B2E"/>
          </a:solidFill>
          <a:ln w="9525">
            <a:solidFill>
              <a:srgbClr val="22334F"/>
            </a:solidFill>
            <a:prstDash val="solid"/>
          </a:ln>
        </p:spPr>
      </p:sp>
      <p:sp>
        <p:nvSpPr>
          <p:cNvPr id="5" name="IconRing"/>
          <p:cNvSpPr/>
          <p:nvPr/>
        </p:nvSpPr>
        <p:spPr>
          <a:xfrm>
            <a:off x="914400" y="2331720"/>
            <a:ext cx="566928" cy="566928"/>
          </a:xfrm>
          <a:prstGeom prst="ellipse">
            <a:avLst/>
          </a:prstGeom>
          <a:solidFill>
            <a:srgbClr val="0B1220"/>
          </a:solidFill>
          <a:ln w="12700">
            <a:solidFill>
              <a:srgbClr val="C2A25D"/>
            </a:solidFill>
            <a:prstDash val="solid"/>
          </a:ln>
        </p:spPr>
      </p:sp>
      <p:pic>
        <p:nvPicPr>
          <p:cNvPr id="6" name="Image 0" descr="icon">    </p:cNvPr>
          <p:cNvPicPr>
            <a:picLocks noChangeAspect="1"/>
          </p:cNvPicPr>
          <p:nvPr/>
        </p:nvPicPr>
        <p:blipFill>
          <a:blip r:embed="rId1"/>
          <a:stretch>
            <a:fillRect/>
          </a:stretch>
        </p:blipFill>
        <p:spPr>
          <a:xfrm>
            <a:off x="1067471" y="2484791"/>
            <a:ext cx="260787" cy="260787"/>
          </a:xfrm>
          <a:prstGeom prst="rect">
            <a:avLst/>
          </a:prstGeom>
        </p:spPr>
      </p:pic>
      <p:sp>
        <p:nvSpPr>
          <p:cNvPr id="7" name="Text 4"/>
          <p:cNvSpPr txBox="1"/>
          <p:nvPr/>
        </p:nvSpPr>
        <p:spPr>
          <a:xfrm>
            <a:off x="914400" y="3017520"/>
            <a:ext cx="3108960" cy="365760"/>
          </a:xfrm>
          <a:prstGeom prst="rect">
            <a:avLst/>
          </a:prstGeom>
          <a:noFill/>
          <a:ln/>
        </p:spPr>
        <p:txBody>
          <a:bodyPr wrap="square" lIns="0" tIns="0" rIns="0" bIns="0" rtlCol="0" anchor="ctr"/>
          <a:lstStyle/>
          <a:p>
            <a:pPr indent="0" marL="0">
              <a:buNone/>
            </a:pPr>
            <a:r>
              <a:rPr lang="en-US" sz="1700" b="1" dirty="0">
                <a:solidFill>
                  <a:srgbClr val="EDE8DC"/>
                </a:solidFill>
                <a:latin typeface="Cambria" pitchFamily="34" charset="0"/>
                <a:ea typeface="Cambria" pitchFamily="34" charset="-122"/>
                <a:cs typeface="Cambria" pitchFamily="34" charset="-120"/>
              </a:rPr>
              <a:t>100% proprietary software</a:t>
            </a:r>
            <a:endParaRPr lang="en-US" sz="1700" dirty="0"/>
          </a:p>
        </p:txBody>
      </p:sp>
      <p:sp>
        <p:nvSpPr>
          <p:cNvPr id="8" name="Text 5"/>
          <p:cNvSpPr txBox="1"/>
          <p:nvPr/>
        </p:nvSpPr>
        <p:spPr>
          <a:xfrm>
            <a:off x="914400" y="3429000"/>
            <a:ext cx="3108960" cy="640080"/>
          </a:xfrm>
          <a:prstGeom prst="rect">
            <a:avLst/>
          </a:prstGeom>
          <a:noFill/>
          <a:ln/>
        </p:spPr>
        <p:txBody>
          <a:bodyPr wrap="square" lIns="0" tIns="0" rIns="0" bIns="0" rtlCol="0" anchor="t"/>
          <a:lstStyle/>
          <a:p>
            <a:pPr indent="0" marL="0">
              <a:buNone/>
            </a:pPr>
            <a:r>
              <a:rPr lang="en-US" sz="1250" dirty="0">
                <a:solidFill>
                  <a:srgbClr val="98A4B8"/>
                </a:solidFill>
                <a:latin typeface="Calibri" pitchFamily="34" charset="0"/>
                <a:ea typeface="Calibri" pitchFamily="34" charset="-122"/>
                <a:cs typeface="Calibri" pitchFamily="34" charset="-120"/>
              </a:rPr>
              <a:t>AI-based signal processing, SDR architecture, in-house antenna topology and circuit design.</a:t>
            </a:r>
            <a:endParaRPr lang="en-US" sz="1250" dirty="0"/>
          </a:p>
        </p:txBody>
      </p:sp>
      <p:sp>
        <p:nvSpPr>
          <p:cNvPr id="9" name="Benefit card"/>
          <p:cNvSpPr/>
          <p:nvPr/>
        </p:nvSpPr>
        <p:spPr>
          <a:xfrm>
            <a:off x="4297680" y="2103120"/>
            <a:ext cx="3593592" cy="2011680"/>
          </a:xfrm>
          <a:prstGeom prst="rect">
            <a:avLst/>
          </a:prstGeom>
          <a:solidFill>
            <a:srgbClr val="111B2E"/>
          </a:solidFill>
          <a:ln w="9525">
            <a:solidFill>
              <a:srgbClr val="22334F"/>
            </a:solidFill>
            <a:prstDash val="solid"/>
          </a:ln>
        </p:spPr>
      </p:sp>
      <p:sp>
        <p:nvSpPr>
          <p:cNvPr id="10" name="IconRing"/>
          <p:cNvSpPr/>
          <p:nvPr/>
        </p:nvSpPr>
        <p:spPr>
          <a:xfrm>
            <a:off x="4572000" y="2331720"/>
            <a:ext cx="566928" cy="566928"/>
          </a:xfrm>
          <a:prstGeom prst="ellipse">
            <a:avLst/>
          </a:prstGeom>
          <a:solidFill>
            <a:srgbClr val="0B1220"/>
          </a:solidFill>
          <a:ln w="12700">
            <a:solidFill>
              <a:srgbClr val="C2A25D"/>
            </a:solidFill>
            <a:prstDash val="solid"/>
          </a:ln>
        </p:spPr>
      </p:sp>
      <p:pic>
        <p:nvPicPr>
          <p:cNvPr id="11" name="Image 1" descr="icon">    </p:cNvPr>
          <p:cNvPicPr>
            <a:picLocks noChangeAspect="1"/>
          </p:cNvPicPr>
          <p:nvPr/>
        </p:nvPicPr>
        <p:blipFill>
          <a:blip r:embed="rId2"/>
          <a:stretch>
            <a:fillRect/>
          </a:stretch>
        </p:blipFill>
        <p:spPr>
          <a:xfrm>
            <a:off x="4725071" y="2484791"/>
            <a:ext cx="260787" cy="260787"/>
          </a:xfrm>
          <a:prstGeom prst="rect">
            <a:avLst/>
          </a:prstGeom>
        </p:spPr>
      </p:pic>
      <p:sp>
        <p:nvSpPr>
          <p:cNvPr id="12" name="Text 8"/>
          <p:cNvSpPr txBox="1"/>
          <p:nvPr/>
        </p:nvSpPr>
        <p:spPr>
          <a:xfrm>
            <a:off x="4572000" y="3017520"/>
            <a:ext cx="3108960" cy="365760"/>
          </a:xfrm>
          <a:prstGeom prst="rect">
            <a:avLst/>
          </a:prstGeom>
          <a:noFill/>
          <a:ln/>
        </p:spPr>
        <p:txBody>
          <a:bodyPr wrap="square" lIns="0" tIns="0" rIns="0" bIns="0" rtlCol="0" anchor="ctr"/>
          <a:lstStyle/>
          <a:p>
            <a:pPr indent="0" marL="0">
              <a:buNone/>
            </a:pPr>
            <a:r>
              <a:rPr lang="en-US" sz="1700" b="1" dirty="0">
                <a:solidFill>
                  <a:srgbClr val="EDE8DC"/>
                </a:solidFill>
                <a:latin typeface="Cambria" pitchFamily="34" charset="0"/>
                <a:ea typeface="Cambria" pitchFamily="34" charset="-122"/>
                <a:cs typeface="Cambria" pitchFamily="34" charset="-120"/>
              </a:rPr>
              <a:t>Widest scanning range</a:t>
            </a:r>
            <a:endParaRPr lang="en-US" sz="1700" dirty="0"/>
          </a:p>
        </p:txBody>
      </p:sp>
      <p:sp>
        <p:nvSpPr>
          <p:cNvPr id="13" name="Text 9"/>
          <p:cNvSpPr txBox="1"/>
          <p:nvPr/>
        </p:nvSpPr>
        <p:spPr>
          <a:xfrm>
            <a:off x="4572000" y="3429000"/>
            <a:ext cx="3108960" cy="640080"/>
          </a:xfrm>
          <a:prstGeom prst="rect">
            <a:avLst/>
          </a:prstGeom>
          <a:noFill/>
          <a:ln/>
        </p:spPr>
        <p:txBody>
          <a:bodyPr wrap="square" lIns="0" tIns="0" rIns="0" bIns="0" rtlCol="0" anchor="t"/>
          <a:lstStyle/>
          <a:p>
            <a:pPr indent="0" marL="0">
              <a:buNone/>
            </a:pPr>
            <a:r>
              <a:rPr lang="en-US" sz="1250" dirty="0">
                <a:solidFill>
                  <a:srgbClr val="98A4B8"/>
                </a:solidFill>
                <a:latin typeface="Calibri" pitchFamily="34" charset="0"/>
                <a:ea typeface="Calibri" pitchFamily="34" charset="-122"/>
                <a:cs typeface="Calibri" pitchFamily="34" charset="-120"/>
              </a:rPr>
              <a:t>Maximum frequency coverage for detecting masked and non-standard UAV control channels.</a:t>
            </a:r>
            <a:endParaRPr lang="en-US" sz="1250" dirty="0"/>
          </a:p>
        </p:txBody>
      </p:sp>
      <p:sp>
        <p:nvSpPr>
          <p:cNvPr id="14" name="Benefit card"/>
          <p:cNvSpPr/>
          <p:nvPr/>
        </p:nvSpPr>
        <p:spPr>
          <a:xfrm>
            <a:off x="7955280" y="2103120"/>
            <a:ext cx="3593592" cy="2011680"/>
          </a:xfrm>
          <a:prstGeom prst="rect">
            <a:avLst/>
          </a:prstGeom>
          <a:solidFill>
            <a:srgbClr val="111B2E"/>
          </a:solidFill>
          <a:ln w="9525">
            <a:solidFill>
              <a:srgbClr val="22334F"/>
            </a:solidFill>
            <a:prstDash val="solid"/>
          </a:ln>
        </p:spPr>
      </p:sp>
      <p:sp>
        <p:nvSpPr>
          <p:cNvPr id="15" name="IconRing"/>
          <p:cNvSpPr/>
          <p:nvPr/>
        </p:nvSpPr>
        <p:spPr>
          <a:xfrm>
            <a:off x="8229600" y="2331720"/>
            <a:ext cx="566928" cy="566928"/>
          </a:xfrm>
          <a:prstGeom prst="ellipse">
            <a:avLst/>
          </a:prstGeom>
          <a:solidFill>
            <a:srgbClr val="0B1220"/>
          </a:solidFill>
          <a:ln w="12700">
            <a:solidFill>
              <a:srgbClr val="C2A25D"/>
            </a:solidFill>
            <a:prstDash val="solid"/>
          </a:ln>
        </p:spPr>
      </p:sp>
      <p:pic>
        <p:nvPicPr>
          <p:cNvPr id="16" name="Image 2" descr="icon">    </p:cNvPr>
          <p:cNvPicPr>
            <a:picLocks noChangeAspect="1"/>
          </p:cNvPicPr>
          <p:nvPr/>
        </p:nvPicPr>
        <p:blipFill>
          <a:blip r:embed="rId3"/>
          <a:stretch>
            <a:fillRect/>
          </a:stretch>
        </p:blipFill>
        <p:spPr>
          <a:xfrm>
            <a:off x="8382671" y="2484791"/>
            <a:ext cx="260787" cy="260787"/>
          </a:xfrm>
          <a:prstGeom prst="rect">
            <a:avLst/>
          </a:prstGeom>
        </p:spPr>
      </p:pic>
      <p:sp>
        <p:nvSpPr>
          <p:cNvPr id="17" name="Text 12"/>
          <p:cNvSpPr txBox="1"/>
          <p:nvPr/>
        </p:nvSpPr>
        <p:spPr>
          <a:xfrm>
            <a:off x="8229600" y="3017520"/>
            <a:ext cx="3108960" cy="365760"/>
          </a:xfrm>
          <a:prstGeom prst="rect">
            <a:avLst/>
          </a:prstGeom>
          <a:noFill/>
          <a:ln/>
        </p:spPr>
        <p:txBody>
          <a:bodyPr wrap="square" lIns="0" tIns="0" rIns="0" bIns="0" rtlCol="0" anchor="ctr"/>
          <a:lstStyle/>
          <a:p>
            <a:pPr indent="0" marL="0">
              <a:buNone/>
            </a:pPr>
            <a:r>
              <a:rPr lang="en-US" sz="1700" b="1" dirty="0">
                <a:solidFill>
                  <a:srgbClr val="EDE8DC"/>
                </a:solidFill>
                <a:latin typeface="Cambria" pitchFamily="34" charset="0"/>
                <a:ea typeface="Cambria" pitchFamily="34" charset="-122"/>
                <a:cs typeface="Cambria" pitchFamily="34" charset="-120"/>
              </a:rPr>
              <a:t>Minimized false alarms</a:t>
            </a:r>
            <a:endParaRPr lang="en-US" sz="1700" dirty="0"/>
          </a:p>
        </p:txBody>
      </p:sp>
      <p:sp>
        <p:nvSpPr>
          <p:cNvPr id="18" name="Text 13"/>
          <p:cNvSpPr txBox="1"/>
          <p:nvPr/>
        </p:nvSpPr>
        <p:spPr>
          <a:xfrm>
            <a:off x="8229600" y="3429000"/>
            <a:ext cx="3108960" cy="640080"/>
          </a:xfrm>
          <a:prstGeom prst="rect">
            <a:avLst/>
          </a:prstGeom>
          <a:noFill/>
          <a:ln/>
        </p:spPr>
        <p:txBody>
          <a:bodyPr wrap="square" lIns="0" tIns="0" rIns="0" bIns="0" rtlCol="0" anchor="t"/>
          <a:lstStyle/>
          <a:p>
            <a:pPr indent="0" marL="0">
              <a:buNone/>
            </a:pPr>
            <a:r>
              <a:rPr lang="en-US" sz="1250" dirty="0">
                <a:solidFill>
                  <a:srgbClr val="98A4B8"/>
                </a:solidFill>
                <a:latin typeface="Calibri" pitchFamily="34" charset="0"/>
                <a:ea typeface="Calibri" pitchFamily="34" charset="-122"/>
                <a:cs typeface="Calibri" pitchFamily="34" charset="-120"/>
              </a:rPr>
              <a:t>Proprietary digital filtering delivers accurate situational awareness.</a:t>
            </a:r>
            <a:endParaRPr lang="en-US" sz="1250" dirty="0"/>
          </a:p>
        </p:txBody>
      </p:sp>
      <p:sp>
        <p:nvSpPr>
          <p:cNvPr id="19" name="Benefit card"/>
          <p:cNvSpPr/>
          <p:nvPr/>
        </p:nvSpPr>
        <p:spPr>
          <a:xfrm>
            <a:off x="640080" y="4297680"/>
            <a:ext cx="3593592" cy="2011680"/>
          </a:xfrm>
          <a:prstGeom prst="rect">
            <a:avLst/>
          </a:prstGeom>
          <a:solidFill>
            <a:srgbClr val="111B2E"/>
          </a:solidFill>
          <a:ln w="9525">
            <a:solidFill>
              <a:srgbClr val="22334F"/>
            </a:solidFill>
            <a:prstDash val="solid"/>
          </a:ln>
        </p:spPr>
      </p:sp>
      <p:sp>
        <p:nvSpPr>
          <p:cNvPr id="20" name="IconRing"/>
          <p:cNvSpPr/>
          <p:nvPr/>
        </p:nvSpPr>
        <p:spPr>
          <a:xfrm>
            <a:off x="914400" y="4526280"/>
            <a:ext cx="566928" cy="566928"/>
          </a:xfrm>
          <a:prstGeom prst="ellipse">
            <a:avLst/>
          </a:prstGeom>
          <a:solidFill>
            <a:srgbClr val="0B1220"/>
          </a:solidFill>
          <a:ln w="12700">
            <a:solidFill>
              <a:srgbClr val="C2A25D"/>
            </a:solidFill>
            <a:prstDash val="solid"/>
          </a:ln>
        </p:spPr>
      </p:sp>
      <p:pic>
        <p:nvPicPr>
          <p:cNvPr id="21" name="Image 3" descr="icon">    </p:cNvPr>
          <p:cNvPicPr>
            <a:picLocks noChangeAspect="1"/>
          </p:cNvPicPr>
          <p:nvPr/>
        </p:nvPicPr>
        <p:blipFill>
          <a:blip r:embed="rId4"/>
          <a:stretch>
            <a:fillRect/>
          </a:stretch>
        </p:blipFill>
        <p:spPr>
          <a:xfrm>
            <a:off x="1067471" y="4679351"/>
            <a:ext cx="260787" cy="260787"/>
          </a:xfrm>
          <a:prstGeom prst="rect">
            <a:avLst/>
          </a:prstGeom>
        </p:spPr>
      </p:pic>
      <p:sp>
        <p:nvSpPr>
          <p:cNvPr id="22" name="Text 16"/>
          <p:cNvSpPr txBox="1"/>
          <p:nvPr/>
        </p:nvSpPr>
        <p:spPr>
          <a:xfrm>
            <a:off x="914400" y="5212080"/>
            <a:ext cx="3108960" cy="365760"/>
          </a:xfrm>
          <a:prstGeom prst="rect">
            <a:avLst/>
          </a:prstGeom>
          <a:noFill/>
          <a:ln/>
        </p:spPr>
        <p:txBody>
          <a:bodyPr wrap="square" lIns="0" tIns="0" rIns="0" bIns="0" rtlCol="0" anchor="ctr"/>
          <a:lstStyle/>
          <a:p>
            <a:pPr indent="0" marL="0">
              <a:buNone/>
            </a:pPr>
            <a:r>
              <a:rPr lang="en-US" sz="1700" b="1" dirty="0">
                <a:solidFill>
                  <a:srgbClr val="EDE8DC"/>
                </a:solidFill>
                <a:latin typeface="Cambria" pitchFamily="34" charset="0"/>
                <a:ea typeface="Cambria" pitchFamily="34" charset="-122"/>
                <a:cs typeface="Cambria" pitchFamily="34" charset="-120"/>
              </a:rPr>
              <a:t>Unified ecosystem</a:t>
            </a:r>
            <a:endParaRPr lang="en-US" sz="1700" dirty="0"/>
          </a:p>
        </p:txBody>
      </p:sp>
      <p:sp>
        <p:nvSpPr>
          <p:cNvPr id="23" name="Text 17"/>
          <p:cNvSpPr txBox="1"/>
          <p:nvPr/>
        </p:nvSpPr>
        <p:spPr>
          <a:xfrm>
            <a:off x="914400" y="5623560"/>
            <a:ext cx="3108960" cy="640080"/>
          </a:xfrm>
          <a:prstGeom prst="rect">
            <a:avLst/>
          </a:prstGeom>
          <a:noFill/>
          <a:ln/>
        </p:spPr>
        <p:txBody>
          <a:bodyPr wrap="square" lIns="0" tIns="0" rIns="0" bIns="0" rtlCol="0" anchor="t"/>
          <a:lstStyle/>
          <a:p>
            <a:pPr indent="0" marL="0">
              <a:buNone/>
            </a:pPr>
            <a:r>
              <a:rPr lang="en-US" sz="1250" dirty="0">
                <a:solidFill>
                  <a:srgbClr val="98A4B8"/>
                </a:solidFill>
                <a:latin typeface="Calibri" pitchFamily="34" charset="0"/>
                <a:ea typeface="Calibri" pitchFamily="34" charset="-122"/>
                <a:cs typeface="Calibri" pitchFamily="34" charset="-120"/>
              </a:rPr>
              <a:t>Detection (ER) and suppression (EW) integrated into a single automated network.</a:t>
            </a:r>
            <a:endParaRPr lang="en-US" sz="1250" dirty="0"/>
          </a:p>
        </p:txBody>
      </p:sp>
      <p:sp>
        <p:nvSpPr>
          <p:cNvPr id="24" name="Benefit card"/>
          <p:cNvSpPr/>
          <p:nvPr/>
        </p:nvSpPr>
        <p:spPr>
          <a:xfrm>
            <a:off x="4297680" y="4297680"/>
            <a:ext cx="3593592" cy="2011680"/>
          </a:xfrm>
          <a:prstGeom prst="rect">
            <a:avLst/>
          </a:prstGeom>
          <a:solidFill>
            <a:srgbClr val="111B2E"/>
          </a:solidFill>
          <a:ln w="9525">
            <a:solidFill>
              <a:srgbClr val="22334F"/>
            </a:solidFill>
            <a:prstDash val="solid"/>
          </a:ln>
        </p:spPr>
      </p:sp>
      <p:sp>
        <p:nvSpPr>
          <p:cNvPr id="25" name="IconRing"/>
          <p:cNvSpPr/>
          <p:nvPr/>
        </p:nvSpPr>
        <p:spPr>
          <a:xfrm>
            <a:off x="4572000" y="4526280"/>
            <a:ext cx="566928" cy="566928"/>
          </a:xfrm>
          <a:prstGeom prst="ellipse">
            <a:avLst/>
          </a:prstGeom>
          <a:solidFill>
            <a:srgbClr val="0B1220"/>
          </a:solidFill>
          <a:ln w="12700">
            <a:solidFill>
              <a:srgbClr val="C2A25D"/>
            </a:solidFill>
            <a:prstDash val="solid"/>
          </a:ln>
        </p:spPr>
      </p:sp>
      <p:pic>
        <p:nvPicPr>
          <p:cNvPr id="26" name="Image 4" descr="icon">    </p:cNvPr>
          <p:cNvPicPr>
            <a:picLocks noChangeAspect="1"/>
          </p:cNvPicPr>
          <p:nvPr/>
        </p:nvPicPr>
        <p:blipFill>
          <a:blip r:embed="rId5"/>
          <a:stretch>
            <a:fillRect/>
          </a:stretch>
        </p:blipFill>
        <p:spPr>
          <a:xfrm>
            <a:off x="4725071" y="4679351"/>
            <a:ext cx="260787" cy="260787"/>
          </a:xfrm>
          <a:prstGeom prst="rect">
            <a:avLst/>
          </a:prstGeom>
        </p:spPr>
      </p:pic>
      <p:sp>
        <p:nvSpPr>
          <p:cNvPr id="27" name="Text 20"/>
          <p:cNvSpPr txBox="1"/>
          <p:nvPr/>
        </p:nvSpPr>
        <p:spPr>
          <a:xfrm>
            <a:off x="4572000" y="5212080"/>
            <a:ext cx="3108960" cy="365760"/>
          </a:xfrm>
          <a:prstGeom prst="rect">
            <a:avLst/>
          </a:prstGeom>
          <a:noFill/>
          <a:ln/>
        </p:spPr>
        <p:txBody>
          <a:bodyPr wrap="square" lIns="0" tIns="0" rIns="0" bIns="0" rtlCol="0" anchor="ctr"/>
          <a:lstStyle/>
          <a:p>
            <a:pPr indent="0" marL="0">
              <a:buNone/>
            </a:pPr>
            <a:r>
              <a:rPr lang="en-US" sz="1700" b="1" dirty="0">
                <a:solidFill>
                  <a:srgbClr val="EDE8DC"/>
                </a:solidFill>
                <a:latin typeface="Cambria" pitchFamily="34" charset="0"/>
                <a:ea typeface="Cambria" pitchFamily="34" charset="-122"/>
                <a:cs typeface="Cambria" pitchFamily="34" charset="-120"/>
              </a:rPr>
              <a:t>Full control of the chain</a:t>
            </a:r>
            <a:endParaRPr lang="en-US" sz="1700" dirty="0"/>
          </a:p>
        </p:txBody>
      </p:sp>
      <p:sp>
        <p:nvSpPr>
          <p:cNvPr id="28" name="Text 21"/>
          <p:cNvSpPr txBox="1"/>
          <p:nvPr/>
        </p:nvSpPr>
        <p:spPr>
          <a:xfrm>
            <a:off x="4572000" y="5623560"/>
            <a:ext cx="3108960" cy="640080"/>
          </a:xfrm>
          <a:prstGeom prst="rect">
            <a:avLst/>
          </a:prstGeom>
          <a:noFill/>
          <a:ln/>
        </p:spPr>
        <p:txBody>
          <a:bodyPr wrap="square" lIns="0" tIns="0" rIns="0" bIns="0" rtlCol="0" anchor="t"/>
          <a:lstStyle/>
          <a:p>
            <a:pPr indent="0" marL="0">
              <a:buNone/>
            </a:pPr>
            <a:r>
              <a:rPr lang="en-US" sz="1250" dirty="0">
                <a:solidFill>
                  <a:srgbClr val="98A4B8"/>
                </a:solidFill>
                <a:latin typeface="Calibri" pitchFamily="34" charset="0"/>
                <a:ea typeface="Calibri" pitchFamily="34" charset="-122"/>
                <a:cs typeface="Calibri" pitchFamily="34" charset="-120"/>
              </a:rPr>
              <a:t>R&amp;D, software and production in one company: a high barrier to entry.</a:t>
            </a:r>
            <a:endParaRPr lang="en-US" sz="1250" dirty="0"/>
          </a:p>
        </p:txBody>
      </p:sp>
      <p:sp>
        <p:nvSpPr>
          <p:cNvPr id="29" name="Benefit card"/>
          <p:cNvSpPr/>
          <p:nvPr/>
        </p:nvSpPr>
        <p:spPr>
          <a:xfrm>
            <a:off x="7955280" y="4297680"/>
            <a:ext cx="3593592" cy="2011680"/>
          </a:xfrm>
          <a:prstGeom prst="rect">
            <a:avLst/>
          </a:prstGeom>
          <a:solidFill>
            <a:srgbClr val="111B2E"/>
          </a:solidFill>
          <a:ln w="9525">
            <a:solidFill>
              <a:srgbClr val="22334F"/>
            </a:solidFill>
            <a:prstDash val="solid"/>
          </a:ln>
        </p:spPr>
      </p:sp>
      <p:sp>
        <p:nvSpPr>
          <p:cNvPr id="30" name="IconRing"/>
          <p:cNvSpPr/>
          <p:nvPr/>
        </p:nvSpPr>
        <p:spPr>
          <a:xfrm>
            <a:off x="8229600" y="4526280"/>
            <a:ext cx="566928" cy="566928"/>
          </a:xfrm>
          <a:prstGeom prst="ellipse">
            <a:avLst/>
          </a:prstGeom>
          <a:solidFill>
            <a:srgbClr val="0B1220"/>
          </a:solidFill>
          <a:ln w="12700">
            <a:solidFill>
              <a:srgbClr val="C2A25D"/>
            </a:solidFill>
            <a:prstDash val="solid"/>
          </a:ln>
        </p:spPr>
      </p:sp>
      <p:pic>
        <p:nvPicPr>
          <p:cNvPr id="31" name="Image 5" descr="icon">    </p:cNvPr>
          <p:cNvPicPr>
            <a:picLocks noChangeAspect="1"/>
          </p:cNvPicPr>
          <p:nvPr/>
        </p:nvPicPr>
        <p:blipFill>
          <a:blip r:embed="rId6"/>
          <a:stretch>
            <a:fillRect/>
          </a:stretch>
        </p:blipFill>
        <p:spPr>
          <a:xfrm>
            <a:off x="8382671" y="4679351"/>
            <a:ext cx="260787" cy="260787"/>
          </a:xfrm>
          <a:prstGeom prst="rect">
            <a:avLst/>
          </a:prstGeom>
        </p:spPr>
      </p:pic>
      <p:sp>
        <p:nvSpPr>
          <p:cNvPr id="32" name="Text 24"/>
          <p:cNvSpPr txBox="1"/>
          <p:nvPr/>
        </p:nvSpPr>
        <p:spPr>
          <a:xfrm>
            <a:off x="8229600" y="5212080"/>
            <a:ext cx="3108960" cy="365760"/>
          </a:xfrm>
          <a:prstGeom prst="rect">
            <a:avLst/>
          </a:prstGeom>
          <a:noFill/>
          <a:ln/>
        </p:spPr>
        <p:txBody>
          <a:bodyPr wrap="square" lIns="0" tIns="0" rIns="0" bIns="0" rtlCol="0" anchor="ctr"/>
          <a:lstStyle/>
          <a:p>
            <a:pPr indent="0" marL="0">
              <a:buNone/>
            </a:pPr>
            <a:r>
              <a:rPr lang="en-US" sz="1700" b="1" dirty="0">
                <a:solidFill>
                  <a:srgbClr val="EDE8DC"/>
                </a:solidFill>
                <a:latin typeface="Cambria" pitchFamily="34" charset="0"/>
                <a:ea typeface="Cambria" pitchFamily="34" charset="-122"/>
                <a:cs typeface="Cambria" pitchFamily="34" charset="-120"/>
              </a:rPr>
              <a:t>Faster adaptation</a:t>
            </a:r>
            <a:endParaRPr lang="en-US" sz="1700" dirty="0"/>
          </a:p>
        </p:txBody>
      </p:sp>
      <p:sp>
        <p:nvSpPr>
          <p:cNvPr id="33" name="Text 25"/>
          <p:cNvSpPr txBox="1"/>
          <p:nvPr/>
        </p:nvSpPr>
        <p:spPr>
          <a:xfrm>
            <a:off x="8229600" y="5623560"/>
            <a:ext cx="3108960" cy="640080"/>
          </a:xfrm>
          <a:prstGeom prst="rect">
            <a:avLst/>
          </a:prstGeom>
          <a:noFill/>
          <a:ln/>
        </p:spPr>
        <p:txBody>
          <a:bodyPr wrap="square" lIns="0" tIns="0" rIns="0" bIns="0" rtlCol="0" anchor="t"/>
          <a:lstStyle/>
          <a:p>
            <a:pPr indent="0" marL="0">
              <a:buNone/>
            </a:pPr>
            <a:r>
              <a:rPr lang="en-US" sz="1250" dirty="0">
                <a:solidFill>
                  <a:srgbClr val="98A4B8"/>
                </a:solidFill>
                <a:latin typeface="Calibri" pitchFamily="34" charset="0"/>
                <a:ea typeface="Calibri" pitchFamily="34" charset="-122"/>
                <a:cs typeface="Calibri" pitchFamily="34" charset="-120"/>
              </a:rPr>
              <a:t>Rapid update cycle and direct feedback from front-line operators.</a:t>
            </a:r>
            <a:endParaRPr lang="en-US" sz="1250" dirty="0"/>
          </a:p>
        </p:txBody>
      </p:sp>
      <p:sp>
        <p:nvSpPr>
          <p:cNvPr id="25" name="Slide Number Placeholder 0"/>
          <p:cNvSpPr>
            <a:spLocks noGrp="1"/>
          </p:cNvSpPr>
          <p:nvPr>
            <p:ph type="sldNum" sz="quarter" idx="4294967295"/>
          </p:nvPr>
        </p:nvSpPr>
        <p:spPr>
          <a:xfrm>
            <a:off x="10820095" y="20116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A25D"/>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640080" y="777240"/>
            <a:ext cx="8229600" cy="274320"/>
          </a:xfrm>
          <a:prstGeom prst="rect">
            <a:avLst/>
          </a:prstGeom>
          <a:noFill/>
          <a:ln/>
        </p:spPr>
        <p:txBody>
          <a:bodyPr wrap="square" lIns="0" tIns="0" rIns="0" bIns="0" rtlCol="0" anchor="ctr"/>
          <a:lstStyle/>
          <a:p>
            <a:pPr indent="0" marL="0">
              <a:buNone/>
            </a:pPr>
            <a:r>
              <a:rPr lang="en-US" sz="1200" b="1" spc="400" kern="0" dirty="0">
                <a:solidFill>
                  <a:srgbClr val="C2A25D"/>
                </a:solidFill>
                <a:latin typeface="Calibri" pitchFamily="34" charset="0"/>
                <a:ea typeface="Calibri" pitchFamily="34" charset="-122"/>
                <a:cs typeface="Calibri" pitchFamily="34" charset="-120"/>
              </a:rPr>
              <a:t>FLAGSHIP PRODUCT  ·  RF RECONNAISSANCE DEVICE (DRONE DETECTOR)</a:t>
            </a:r>
            <a:endParaRPr lang="en-US" sz="1200" dirty="0"/>
          </a:p>
        </p:txBody>
      </p:sp>
      <p:sp>
        <p:nvSpPr>
          <p:cNvPr id="3" name="Title"/>
          <p:cNvSpPr txBox="1"/>
          <p:nvPr/>
        </p:nvSpPr>
        <p:spPr>
          <a:xfrm>
            <a:off x="640080" y="1024128"/>
            <a:ext cx="6858000" cy="960120"/>
          </a:xfrm>
          <a:prstGeom prst="rect">
            <a:avLst/>
          </a:prstGeom>
          <a:noFill/>
          <a:ln/>
        </p:spPr>
        <p:txBody>
          <a:bodyPr wrap="square" lIns="0" tIns="0" rIns="0" bIns="0" rtlCol="0" anchor="ctr"/>
          <a:lstStyle/>
          <a:p>
            <a:pPr indent="0" marL="0">
              <a:buNone/>
            </a:pPr>
            <a:r>
              <a:rPr lang="en-US" sz="6000" b="1" dirty="0">
                <a:solidFill>
                  <a:srgbClr val="EDE8DC"/>
                </a:solidFill>
                <a:latin typeface="Cambria" pitchFamily="34" charset="0"/>
                <a:ea typeface="Cambria" pitchFamily="34" charset="-122"/>
                <a:cs typeface="Cambria" pitchFamily="34" charset="-120"/>
              </a:rPr>
              <a:t>KOZHAN 4.0</a:t>
            </a:r>
            <a:endParaRPr lang="en-US" sz="6000" dirty="0"/>
          </a:p>
        </p:txBody>
      </p:sp>
      <p:sp>
        <p:nvSpPr>
          <p:cNvPr id="4" name="Text 2"/>
          <p:cNvSpPr txBox="1"/>
          <p:nvPr/>
        </p:nvSpPr>
        <p:spPr>
          <a:xfrm>
            <a:off x="640080" y="2148840"/>
            <a:ext cx="6492240" cy="1371600"/>
          </a:xfrm>
          <a:prstGeom prst="rect">
            <a:avLst/>
          </a:prstGeom>
          <a:noFill/>
          <a:ln/>
        </p:spPr>
        <p:txBody>
          <a:bodyPr wrap="square" lIns="0" tIns="0" rIns="0" bIns="0" rtlCol="0" anchor="t"/>
          <a:lstStyle/>
          <a:p>
            <a:pPr indent="0" marL="0">
              <a:buNone/>
            </a:pPr>
            <a:r>
              <a:rPr lang="en-US" sz="1500" dirty="0">
                <a:solidFill>
                  <a:srgbClr val="EDE8DC"/>
                </a:solidFill>
                <a:latin typeface="Calibri" pitchFamily="34" charset="0"/>
                <a:ea typeface="Calibri" pitchFamily="34" charset="-122"/>
                <a:cs typeface="Calibri" pitchFamily="34" charset="-120"/>
              </a:rPr>
              <a:t>A multi-band detector that scans the set frequency ranges and picks up the analog video signal of UAVs. Three automatic scan modes, a log of detected signals and fast software updates over Wi-Fi. Interface languages: Ukrainian, English, German and Polish.</a:t>
            </a:r>
            <a:endParaRPr lang="en-US" sz="1500" dirty="0"/>
          </a:p>
        </p:txBody>
      </p:sp>
      <p:sp>
        <p:nvSpPr>
          <p:cNvPr id="5" name="NATO badge"/>
          <p:cNvSpPr/>
          <p:nvPr/>
        </p:nvSpPr>
        <p:spPr>
          <a:xfrm>
            <a:off x="640080" y="3456432"/>
            <a:ext cx="5669280" cy="384048"/>
          </a:xfrm>
          <a:prstGeom prst="rect">
            <a:avLst/>
          </a:prstGeom>
          <a:solidFill>
            <a:srgbClr val="0B1220"/>
          </a:solidFill>
          <a:ln w="12700">
            <a:solidFill>
              <a:srgbClr val="C2A25D"/>
            </a:solidFill>
            <a:prstDash val="solid"/>
          </a:ln>
        </p:spPr>
      </p:sp>
      <p:sp>
        <p:nvSpPr>
          <p:cNvPr id="6" name="Text 4"/>
          <p:cNvSpPr txBox="1"/>
          <p:nvPr/>
        </p:nvSpPr>
        <p:spPr>
          <a:xfrm>
            <a:off x="640080" y="3456432"/>
            <a:ext cx="5669280" cy="384048"/>
          </a:xfrm>
          <a:prstGeom prst="rect">
            <a:avLst/>
          </a:prstGeom>
          <a:noFill/>
          <a:ln/>
        </p:spPr>
        <p:txBody>
          <a:bodyPr wrap="square" lIns="0" tIns="0" rIns="0" bIns="0" rtlCol="0" anchor="ctr"/>
          <a:lstStyle/>
          <a:p>
            <a:pPr algn="ctr" indent="0" marL="0">
              <a:buNone/>
            </a:pPr>
            <a:r>
              <a:rPr lang="en-US" sz="1100" b="1" spc="200" kern="0" dirty="0">
                <a:solidFill>
                  <a:srgbClr val="C2A25D"/>
                </a:solidFill>
                <a:latin typeface="Calibri" pitchFamily="34" charset="0"/>
                <a:ea typeface="Calibri" pitchFamily="34" charset="-122"/>
                <a:cs typeface="Calibri" pitchFamily="34" charset="-120"/>
              </a:rPr>
              <a:t>FINAL STAGE OF NATO CODIFICATION  ·  NATO STOCK NUMBER</a:t>
            </a:r>
            <a:endParaRPr lang="en-US" sz="1100" dirty="0"/>
          </a:p>
        </p:txBody>
      </p:sp>
      <p:sp>
        <p:nvSpPr>
          <p:cNvPr id="7" name="Step card"/>
          <p:cNvSpPr/>
          <p:nvPr/>
        </p:nvSpPr>
        <p:spPr>
          <a:xfrm>
            <a:off x="640080" y="4114800"/>
            <a:ext cx="2148840" cy="2011680"/>
          </a:xfrm>
          <a:prstGeom prst="rect">
            <a:avLst/>
          </a:prstGeom>
          <a:solidFill>
            <a:srgbClr val="111B2E"/>
          </a:solidFill>
          <a:ln w="9525">
            <a:solidFill>
              <a:srgbClr val="22334F"/>
            </a:solidFill>
            <a:prstDash val="solid"/>
          </a:ln>
        </p:spPr>
      </p:sp>
      <p:sp>
        <p:nvSpPr>
          <p:cNvPr id="8" name="IconRing"/>
          <p:cNvSpPr/>
          <p:nvPr/>
        </p:nvSpPr>
        <p:spPr>
          <a:xfrm>
            <a:off x="868680" y="4297680"/>
            <a:ext cx="512064" cy="512064"/>
          </a:xfrm>
          <a:prstGeom prst="ellipse">
            <a:avLst/>
          </a:prstGeom>
          <a:solidFill>
            <a:srgbClr val="0B1220"/>
          </a:solidFill>
          <a:ln w="12700">
            <a:solidFill>
              <a:srgbClr val="C2A25D"/>
            </a:solidFill>
            <a:prstDash val="solid"/>
          </a:ln>
        </p:spPr>
      </p:sp>
      <p:pic>
        <p:nvPicPr>
          <p:cNvPr id="9" name="Image 0" descr="icon">    </p:cNvPr>
          <p:cNvPicPr>
            <a:picLocks noChangeAspect="1"/>
          </p:cNvPicPr>
          <p:nvPr/>
        </p:nvPicPr>
        <p:blipFill>
          <a:blip r:embed="rId1"/>
          <a:stretch>
            <a:fillRect/>
          </a:stretch>
        </p:blipFill>
        <p:spPr>
          <a:xfrm>
            <a:off x="1006937" y="4435937"/>
            <a:ext cx="235549" cy="235549"/>
          </a:xfrm>
          <a:prstGeom prst="rect">
            <a:avLst/>
          </a:prstGeom>
        </p:spPr>
      </p:pic>
      <p:sp>
        <p:nvSpPr>
          <p:cNvPr id="10" name="Text 7"/>
          <p:cNvSpPr txBox="1"/>
          <p:nvPr/>
        </p:nvSpPr>
        <p:spPr>
          <a:xfrm>
            <a:off x="868680" y="4919472"/>
            <a:ext cx="1828800" cy="274320"/>
          </a:xfrm>
          <a:prstGeom prst="rect">
            <a:avLst/>
          </a:prstGeom>
          <a:noFill/>
          <a:ln/>
        </p:spPr>
        <p:txBody>
          <a:bodyPr wrap="square" lIns="0" tIns="0" rIns="0" bIns="0" rtlCol="0" anchor="ctr"/>
          <a:lstStyle/>
          <a:p>
            <a:pPr indent="0" marL="0">
              <a:buNone/>
            </a:pPr>
            <a:r>
              <a:rPr lang="en-US" sz="1300" b="1" spc="200" kern="0" dirty="0">
                <a:solidFill>
                  <a:srgbClr val="C2A25D"/>
                </a:solidFill>
                <a:latin typeface="Calibri" pitchFamily="34" charset="0"/>
                <a:ea typeface="Calibri" pitchFamily="34" charset="-122"/>
                <a:cs typeface="Calibri" pitchFamily="34" charset="-120"/>
              </a:rPr>
              <a:t>01  SCAN</a:t>
            </a:r>
            <a:endParaRPr lang="en-US" sz="1300" dirty="0"/>
          </a:p>
        </p:txBody>
      </p:sp>
      <p:sp>
        <p:nvSpPr>
          <p:cNvPr id="11" name="Text 8"/>
          <p:cNvSpPr txBox="1"/>
          <p:nvPr/>
        </p:nvSpPr>
        <p:spPr>
          <a:xfrm>
            <a:off x="868680" y="5257800"/>
            <a:ext cx="1783080" cy="822960"/>
          </a:xfrm>
          <a:prstGeom prst="rect">
            <a:avLst/>
          </a:prstGeom>
          <a:noFill/>
          <a:ln/>
        </p:spPr>
        <p:txBody>
          <a:bodyPr wrap="square" lIns="0" tIns="0" rIns="0" bIns="0" rtlCol="0" anchor="t"/>
          <a:lstStyle/>
          <a:p>
            <a:pPr indent="0" marL="0">
              <a:buNone/>
            </a:pPr>
            <a:r>
              <a:rPr lang="en-US" sz="1300" dirty="0">
                <a:solidFill>
                  <a:srgbClr val="98A4B8"/>
                </a:solidFill>
                <a:latin typeface="Calibri" pitchFamily="34" charset="0"/>
                <a:ea typeface="Calibri" pitchFamily="34" charset="-122"/>
                <a:cs typeface="Calibri" pitchFamily="34" charset="-120"/>
              </a:rPr>
              <a:t>Automatic monitoring of 4 radio bands in real time</a:t>
            </a:r>
            <a:endParaRPr lang="en-US" sz="1300" dirty="0"/>
          </a:p>
        </p:txBody>
      </p:sp>
      <p:sp>
        <p:nvSpPr>
          <p:cNvPr id="12" name="Step card"/>
          <p:cNvSpPr/>
          <p:nvPr/>
        </p:nvSpPr>
        <p:spPr>
          <a:xfrm>
            <a:off x="2926080" y="4114800"/>
            <a:ext cx="2148840" cy="2011680"/>
          </a:xfrm>
          <a:prstGeom prst="rect">
            <a:avLst/>
          </a:prstGeom>
          <a:solidFill>
            <a:srgbClr val="111B2E"/>
          </a:solidFill>
          <a:ln w="9525">
            <a:solidFill>
              <a:srgbClr val="22334F"/>
            </a:solidFill>
            <a:prstDash val="solid"/>
          </a:ln>
        </p:spPr>
      </p:sp>
      <p:sp>
        <p:nvSpPr>
          <p:cNvPr id="13" name="IconRing"/>
          <p:cNvSpPr/>
          <p:nvPr/>
        </p:nvSpPr>
        <p:spPr>
          <a:xfrm>
            <a:off x="3154680" y="4297680"/>
            <a:ext cx="512064" cy="512064"/>
          </a:xfrm>
          <a:prstGeom prst="ellipse">
            <a:avLst/>
          </a:prstGeom>
          <a:solidFill>
            <a:srgbClr val="0B1220"/>
          </a:solidFill>
          <a:ln w="12700">
            <a:solidFill>
              <a:srgbClr val="C2A25D"/>
            </a:solidFill>
            <a:prstDash val="solid"/>
          </a:ln>
        </p:spPr>
      </p:sp>
      <p:pic>
        <p:nvPicPr>
          <p:cNvPr id="14" name="Image 1" descr="icon">    </p:cNvPr>
          <p:cNvPicPr>
            <a:picLocks noChangeAspect="1"/>
          </p:cNvPicPr>
          <p:nvPr/>
        </p:nvPicPr>
        <p:blipFill>
          <a:blip r:embed="rId2"/>
          <a:stretch>
            <a:fillRect/>
          </a:stretch>
        </p:blipFill>
        <p:spPr>
          <a:xfrm>
            <a:off x="3292937" y="4435937"/>
            <a:ext cx="235549" cy="235549"/>
          </a:xfrm>
          <a:prstGeom prst="rect">
            <a:avLst/>
          </a:prstGeom>
        </p:spPr>
      </p:pic>
      <p:sp>
        <p:nvSpPr>
          <p:cNvPr id="15" name="Text 11"/>
          <p:cNvSpPr txBox="1"/>
          <p:nvPr/>
        </p:nvSpPr>
        <p:spPr>
          <a:xfrm>
            <a:off x="3154680" y="4919472"/>
            <a:ext cx="1828800" cy="274320"/>
          </a:xfrm>
          <a:prstGeom prst="rect">
            <a:avLst/>
          </a:prstGeom>
          <a:noFill/>
          <a:ln/>
        </p:spPr>
        <p:txBody>
          <a:bodyPr wrap="square" lIns="0" tIns="0" rIns="0" bIns="0" rtlCol="0" anchor="ctr"/>
          <a:lstStyle/>
          <a:p>
            <a:pPr indent="0" marL="0">
              <a:buNone/>
            </a:pPr>
            <a:r>
              <a:rPr lang="en-US" sz="1300" b="1" spc="200" kern="0" dirty="0">
                <a:solidFill>
                  <a:srgbClr val="C2A25D"/>
                </a:solidFill>
                <a:latin typeface="Calibri" pitchFamily="34" charset="0"/>
                <a:ea typeface="Calibri" pitchFamily="34" charset="-122"/>
                <a:cs typeface="Calibri" pitchFamily="34" charset="-120"/>
              </a:rPr>
              <a:t>02  DETECT</a:t>
            </a:r>
            <a:endParaRPr lang="en-US" sz="1300" dirty="0"/>
          </a:p>
        </p:txBody>
      </p:sp>
      <p:sp>
        <p:nvSpPr>
          <p:cNvPr id="16" name="Text 12"/>
          <p:cNvSpPr txBox="1"/>
          <p:nvPr/>
        </p:nvSpPr>
        <p:spPr>
          <a:xfrm>
            <a:off x="3154680" y="5257800"/>
            <a:ext cx="1783080" cy="822960"/>
          </a:xfrm>
          <a:prstGeom prst="rect">
            <a:avLst/>
          </a:prstGeom>
          <a:noFill/>
          <a:ln/>
        </p:spPr>
        <p:txBody>
          <a:bodyPr wrap="square" lIns="0" tIns="0" rIns="0" bIns="0" rtlCol="0" anchor="t"/>
          <a:lstStyle/>
          <a:p>
            <a:pPr indent="0" marL="0">
              <a:buNone/>
            </a:pPr>
            <a:r>
              <a:rPr lang="en-US" sz="1300" dirty="0">
                <a:solidFill>
                  <a:srgbClr val="98A4B8"/>
                </a:solidFill>
                <a:latin typeface="Calibri" pitchFamily="34" charset="0"/>
                <a:ea typeface="Calibri" pitchFamily="34" charset="-122"/>
                <a:cs typeface="Calibri" pitchFamily="34" charset="-120"/>
              </a:rPr>
              <a:t>Locks onto the analog UAV video signal</a:t>
            </a:r>
            <a:endParaRPr lang="en-US" sz="1300" dirty="0"/>
          </a:p>
        </p:txBody>
      </p:sp>
      <p:sp>
        <p:nvSpPr>
          <p:cNvPr id="17" name="Step card"/>
          <p:cNvSpPr/>
          <p:nvPr/>
        </p:nvSpPr>
        <p:spPr>
          <a:xfrm>
            <a:off x="5212080" y="4114800"/>
            <a:ext cx="2148840" cy="2011680"/>
          </a:xfrm>
          <a:prstGeom prst="rect">
            <a:avLst/>
          </a:prstGeom>
          <a:solidFill>
            <a:srgbClr val="111B2E"/>
          </a:solidFill>
          <a:ln w="9525">
            <a:solidFill>
              <a:srgbClr val="22334F"/>
            </a:solidFill>
            <a:prstDash val="solid"/>
          </a:ln>
        </p:spPr>
      </p:sp>
      <p:sp>
        <p:nvSpPr>
          <p:cNvPr id="18" name="IconRing"/>
          <p:cNvSpPr/>
          <p:nvPr/>
        </p:nvSpPr>
        <p:spPr>
          <a:xfrm>
            <a:off x="5440680" y="4297680"/>
            <a:ext cx="512064" cy="512064"/>
          </a:xfrm>
          <a:prstGeom prst="ellipse">
            <a:avLst/>
          </a:prstGeom>
          <a:solidFill>
            <a:srgbClr val="0B1220"/>
          </a:solidFill>
          <a:ln w="12700">
            <a:solidFill>
              <a:srgbClr val="C2A25D"/>
            </a:solidFill>
            <a:prstDash val="solid"/>
          </a:ln>
        </p:spPr>
      </p:sp>
      <p:pic>
        <p:nvPicPr>
          <p:cNvPr id="19" name="Image 2" descr="icon">    </p:cNvPr>
          <p:cNvPicPr>
            <a:picLocks noChangeAspect="1"/>
          </p:cNvPicPr>
          <p:nvPr/>
        </p:nvPicPr>
        <p:blipFill>
          <a:blip r:embed="rId3"/>
          <a:stretch>
            <a:fillRect/>
          </a:stretch>
        </p:blipFill>
        <p:spPr>
          <a:xfrm>
            <a:off x="5578937" y="4435937"/>
            <a:ext cx="235549" cy="235549"/>
          </a:xfrm>
          <a:prstGeom prst="rect">
            <a:avLst/>
          </a:prstGeom>
        </p:spPr>
      </p:pic>
      <p:sp>
        <p:nvSpPr>
          <p:cNvPr id="20" name="Text 15"/>
          <p:cNvSpPr txBox="1"/>
          <p:nvPr/>
        </p:nvSpPr>
        <p:spPr>
          <a:xfrm>
            <a:off x="5440680" y="4919472"/>
            <a:ext cx="1828800" cy="274320"/>
          </a:xfrm>
          <a:prstGeom prst="rect">
            <a:avLst/>
          </a:prstGeom>
          <a:noFill/>
          <a:ln/>
        </p:spPr>
        <p:txBody>
          <a:bodyPr wrap="square" lIns="0" tIns="0" rIns="0" bIns="0" rtlCol="0" anchor="ctr"/>
          <a:lstStyle/>
          <a:p>
            <a:pPr indent="0" marL="0">
              <a:buNone/>
            </a:pPr>
            <a:r>
              <a:rPr lang="en-US" sz="1300" b="1" spc="200" kern="0" dirty="0">
                <a:solidFill>
                  <a:srgbClr val="C2A25D"/>
                </a:solidFill>
                <a:latin typeface="Calibri" pitchFamily="34" charset="0"/>
                <a:ea typeface="Calibri" pitchFamily="34" charset="-122"/>
                <a:cs typeface="Calibri" pitchFamily="34" charset="-120"/>
              </a:rPr>
              <a:t>03  ALERT</a:t>
            </a:r>
            <a:endParaRPr lang="en-US" sz="1300" dirty="0"/>
          </a:p>
        </p:txBody>
      </p:sp>
      <p:sp>
        <p:nvSpPr>
          <p:cNvPr id="21" name="Text 16"/>
          <p:cNvSpPr txBox="1"/>
          <p:nvPr/>
        </p:nvSpPr>
        <p:spPr>
          <a:xfrm>
            <a:off x="5440680" y="5257800"/>
            <a:ext cx="1783080" cy="822960"/>
          </a:xfrm>
          <a:prstGeom prst="rect">
            <a:avLst/>
          </a:prstGeom>
          <a:noFill/>
          <a:ln/>
        </p:spPr>
        <p:txBody>
          <a:bodyPr wrap="square" lIns="0" tIns="0" rIns="0" bIns="0" rtlCol="0" anchor="t"/>
          <a:lstStyle/>
          <a:p>
            <a:pPr indent="0" marL="0">
              <a:buNone/>
            </a:pPr>
            <a:r>
              <a:rPr lang="en-US" sz="1300" dirty="0">
                <a:solidFill>
                  <a:srgbClr val="98A4B8"/>
                </a:solidFill>
                <a:latin typeface="Calibri" pitchFamily="34" charset="0"/>
                <a:ea typeface="Calibri" pitchFamily="34" charset="-122"/>
                <a:cs typeface="Calibri" pitchFamily="34" charset="-120"/>
              </a:rPr>
              <a:t>Instant operator notification and log entry</a:t>
            </a:r>
            <a:endParaRPr lang="en-US" sz="1300" dirty="0"/>
          </a:p>
        </p:txBody>
      </p:sp>
      <p:pic>
        <p:nvPicPr>
          <p:cNvPr id="22" name="Image 3" descr="KOZHAN 4.0 detector with four antennas">    </p:cNvPr>
          <p:cNvPicPr>
            <a:picLocks noChangeAspect="1"/>
          </p:cNvPicPr>
          <p:nvPr/>
        </p:nvPicPr>
        <p:blipFill>
          <a:blip r:embed="rId4"/>
          <a:stretch>
            <a:fillRect/>
          </a:stretch>
        </p:blipFill>
        <p:spPr>
          <a:xfrm>
            <a:off x="7652566" y="1097280"/>
            <a:ext cx="3851548" cy="5120640"/>
          </a:xfrm>
          <a:prstGeom prst="rect">
            <a:avLst/>
          </a:prstGeom>
        </p:spPr>
      </p:pic>
      <p:sp>
        <p:nvSpPr>
          <p:cNvPr id="25" name="Slide Number Placeholder 0"/>
          <p:cNvSpPr>
            <a:spLocks noGrp="1"/>
          </p:cNvSpPr>
          <p:nvPr>
            <p:ph type="sldNum" sz="quarter" idx="4294967295"/>
          </p:nvPr>
        </p:nvSpPr>
        <p:spPr>
          <a:xfrm>
            <a:off x="10820095" y="20116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A25D"/>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640080" y="777240"/>
            <a:ext cx="8229600" cy="274320"/>
          </a:xfrm>
          <a:prstGeom prst="rect">
            <a:avLst/>
          </a:prstGeom>
          <a:noFill/>
          <a:ln/>
        </p:spPr>
        <p:txBody>
          <a:bodyPr wrap="square" lIns="0" tIns="0" rIns="0" bIns="0" rtlCol="0" anchor="ctr"/>
          <a:lstStyle/>
          <a:p>
            <a:pPr indent="0" marL="0">
              <a:buNone/>
            </a:pPr>
            <a:r>
              <a:rPr lang="en-US" sz="1200" b="1" spc="400" kern="0" dirty="0">
                <a:solidFill>
                  <a:srgbClr val="C2A25D"/>
                </a:solidFill>
                <a:latin typeface="Calibri" pitchFamily="34" charset="0"/>
                <a:ea typeface="Calibri" pitchFamily="34" charset="-122"/>
                <a:cs typeface="Calibri" pitchFamily="34" charset="-120"/>
              </a:rPr>
              <a:t>KOZHAN 4.0</a:t>
            </a:r>
            <a:endParaRPr lang="en-US" sz="1200" dirty="0"/>
          </a:p>
        </p:txBody>
      </p:sp>
      <p:sp>
        <p:nvSpPr>
          <p:cNvPr id="3" name="Title"/>
          <p:cNvSpPr txBox="1"/>
          <p:nvPr/>
        </p:nvSpPr>
        <p:spPr>
          <a:xfrm>
            <a:off x="640080" y="1051560"/>
            <a:ext cx="10515600" cy="822960"/>
          </a:xfrm>
          <a:prstGeom prst="rect">
            <a:avLst/>
          </a:prstGeom>
          <a:noFill/>
          <a:ln/>
        </p:spPr>
        <p:txBody>
          <a:bodyPr wrap="square" lIns="0" tIns="0" rIns="0" bIns="0" rtlCol="0" anchor="t"/>
          <a:lstStyle/>
          <a:p>
            <a:pPr indent="0" marL="0">
              <a:buNone/>
            </a:pPr>
            <a:r>
              <a:rPr lang="en-US" sz="3600" b="1" dirty="0">
                <a:solidFill>
                  <a:srgbClr val="EDE8DC"/>
                </a:solidFill>
                <a:latin typeface="Cambria" pitchFamily="34" charset="0"/>
                <a:ea typeface="Cambria" pitchFamily="34" charset="-122"/>
                <a:cs typeface="Cambria" pitchFamily="34" charset="-120"/>
              </a:rPr>
              <a:t>Technical characteristics</a:t>
            </a:r>
            <a:endParaRPr lang="en-US" sz="3600" dirty="0"/>
          </a:p>
        </p:txBody>
      </p:sp>
      <p:sp>
        <p:nvSpPr>
          <p:cNvPr id="4" name="Stat card"/>
          <p:cNvSpPr/>
          <p:nvPr/>
        </p:nvSpPr>
        <p:spPr>
          <a:xfrm>
            <a:off x="640080" y="2103120"/>
            <a:ext cx="2514600" cy="1737360"/>
          </a:xfrm>
          <a:prstGeom prst="rect">
            <a:avLst/>
          </a:prstGeom>
          <a:solidFill>
            <a:srgbClr val="111B2E"/>
          </a:solidFill>
          <a:ln w="9525">
            <a:solidFill>
              <a:srgbClr val="22334F"/>
            </a:solidFill>
            <a:prstDash val="solid"/>
          </a:ln>
        </p:spPr>
      </p:sp>
      <p:sp>
        <p:nvSpPr>
          <p:cNvPr id="5" name="Text 3"/>
          <p:cNvSpPr txBox="1"/>
          <p:nvPr/>
        </p:nvSpPr>
        <p:spPr>
          <a:xfrm>
            <a:off x="868680" y="2240280"/>
            <a:ext cx="2103120" cy="777240"/>
          </a:xfrm>
          <a:prstGeom prst="rect">
            <a:avLst/>
          </a:prstGeom>
          <a:noFill/>
          <a:ln/>
        </p:spPr>
        <p:txBody>
          <a:bodyPr wrap="square" lIns="0" tIns="0" rIns="0" bIns="0" rtlCol="0" anchor="ctr"/>
          <a:lstStyle/>
          <a:p>
            <a:pPr indent="0" marL="0">
              <a:buNone/>
            </a:pPr>
            <a:r>
              <a:rPr lang="en-US" sz="4400" b="1" dirty="0">
                <a:solidFill>
                  <a:srgbClr val="C2A25D"/>
                </a:solidFill>
                <a:latin typeface="Cambria" pitchFamily="34" charset="0"/>
                <a:ea typeface="Cambria" pitchFamily="34" charset="-122"/>
                <a:cs typeface="Cambria" pitchFamily="34" charset="-120"/>
              </a:rPr>
              <a:t>4</a:t>
            </a:r>
            <a:endParaRPr lang="en-US" sz="4400" dirty="0"/>
          </a:p>
        </p:txBody>
      </p:sp>
      <p:sp>
        <p:nvSpPr>
          <p:cNvPr id="6" name="Text 4"/>
          <p:cNvSpPr txBox="1"/>
          <p:nvPr/>
        </p:nvSpPr>
        <p:spPr>
          <a:xfrm>
            <a:off x="868680" y="3108960"/>
            <a:ext cx="2103120" cy="640080"/>
          </a:xfrm>
          <a:prstGeom prst="rect">
            <a:avLst/>
          </a:prstGeom>
          <a:noFill/>
          <a:ln/>
        </p:spPr>
        <p:txBody>
          <a:bodyPr wrap="square" lIns="0" tIns="0" rIns="0" bIns="0" rtlCol="0" anchor="t"/>
          <a:lstStyle/>
          <a:p>
            <a:pPr indent="0" marL="0">
              <a:buNone/>
            </a:pPr>
            <a:r>
              <a:rPr lang="en-US" sz="1400" dirty="0">
                <a:solidFill>
                  <a:srgbClr val="98A4B8"/>
                </a:solidFill>
                <a:latin typeface="Calibri" pitchFamily="34" charset="0"/>
                <a:ea typeface="Calibri" pitchFamily="34" charset="-122"/>
                <a:cs typeface="Calibri" pitchFamily="34" charset="-120"/>
              </a:rPr>
              <a:t>radio bands</a:t>
            </a:r>
            <a:endParaRPr lang="en-US" sz="1400" dirty="0"/>
          </a:p>
          <a:p>
            <a:pPr indent="0" marL="0">
              <a:buNone/>
            </a:pPr>
            <a:r>
              <a:rPr lang="en-US" sz="1400" dirty="0">
                <a:solidFill>
                  <a:srgbClr val="98A4B8"/>
                </a:solidFill>
                <a:latin typeface="Calibri" pitchFamily="34" charset="0"/>
                <a:ea typeface="Calibri" pitchFamily="34" charset="-122"/>
                <a:cs typeface="Calibri" pitchFamily="34" charset="-120"/>
              </a:rPr>
              <a:t>1G · 3G · 5G · 6G</a:t>
            </a:r>
            <a:endParaRPr lang="en-US" sz="1400" dirty="0"/>
          </a:p>
        </p:txBody>
      </p:sp>
      <p:sp>
        <p:nvSpPr>
          <p:cNvPr id="7" name="Stat card"/>
          <p:cNvSpPr/>
          <p:nvPr/>
        </p:nvSpPr>
        <p:spPr>
          <a:xfrm>
            <a:off x="3337560" y="2103120"/>
            <a:ext cx="2514600" cy="1737360"/>
          </a:xfrm>
          <a:prstGeom prst="rect">
            <a:avLst/>
          </a:prstGeom>
          <a:solidFill>
            <a:srgbClr val="111B2E"/>
          </a:solidFill>
          <a:ln w="9525">
            <a:solidFill>
              <a:srgbClr val="22334F"/>
            </a:solidFill>
            <a:prstDash val="solid"/>
          </a:ln>
        </p:spPr>
      </p:sp>
      <p:sp>
        <p:nvSpPr>
          <p:cNvPr id="8" name="Text 6"/>
          <p:cNvSpPr txBox="1"/>
          <p:nvPr/>
        </p:nvSpPr>
        <p:spPr>
          <a:xfrm>
            <a:off x="3566160" y="2240280"/>
            <a:ext cx="2103120" cy="777240"/>
          </a:xfrm>
          <a:prstGeom prst="rect">
            <a:avLst/>
          </a:prstGeom>
          <a:noFill/>
          <a:ln/>
        </p:spPr>
        <p:txBody>
          <a:bodyPr wrap="square" lIns="0" tIns="0" rIns="0" bIns="0" rtlCol="0" anchor="ctr"/>
          <a:lstStyle/>
          <a:p>
            <a:pPr indent="0" marL="0">
              <a:buNone/>
            </a:pPr>
            <a:r>
              <a:rPr lang="en-US" sz="4400" b="1" dirty="0">
                <a:solidFill>
                  <a:srgbClr val="C2A25D"/>
                </a:solidFill>
                <a:latin typeface="Cambria" pitchFamily="34" charset="0"/>
                <a:ea typeface="Cambria" pitchFamily="34" charset="-122"/>
                <a:cs typeface="Cambria" pitchFamily="34" charset="-120"/>
              </a:rPr>
              <a:t>2 km+</a:t>
            </a:r>
            <a:endParaRPr lang="en-US" sz="4400" dirty="0"/>
          </a:p>
        </p:txBody>
      </p:sp>
      <p:sp>
        <p:nvSpPr>
          <p:cNvPr id="9" name="Text 7"/>
          <p:cNvSpPr txBox="1"/>
          <p:nvPr/>
        </p:nvSpPr>
        <p:spPr>
          <a:xfrm>
            <a:off x="3566160" y="3108960"/>
            <a:ext cx="2103120" cy="640080"/>
          </a:xfrm>
          <a:prstGeom prst="rect">
            <a:avLst/>
          </a:prstGeom>
          <a:noFill/>
          <a:ln/>
        </p:spPr>
        <p:txBody>
          <a:bodyPr wrap="square" lIns="0" tIns="0" rIns="0" bIns="0" rtlCol="0" anchor="t"/>
          <a:lstStyle/>
          <a:p>
            <a:pPr indent="0" marL="0">
              <a:buNone/>
            </a:pPr>
            <a:r>
              <a:rPr lang="en-US" sz="1400" dirty="0">
                <a:solidFill>
                  <a:srgbClr val="98A4B8"/>
                </a:solidFill>
                <a:latin typeface="Calibri" pitchFamily="34" charset="0"/>
                <a:ea typeface="Calibri" pitchFamily="34" charset="-122"/>
                <a:cs typeface="Calibri" pitchFamily="34" charset="-120"/>
              </a:rPr>
              <a:t>detection</a:t>
            </a:r>
            <a:endParaRPr lang="en-US" sz="1400" dirty="0"/>
          </a:p>
          <a:p>
            <a:pPr indent="0" marL="0">
              <a:buNone/>
            </a:pPr>
            <a:r>
              <a:rPr lang="en-US" sz="1400" dirty="0">
                <a:solidFill>
                  <a:srgbClr val="98A4B8"/>
                </a:solidFill>
                <a:latin typeface="Calibri" pitchFamily="34" charset="0"/>
                <a:ea typeface="Calibri" pitchFamily="34" charset="-122"/>
                <a:cs typeface="Calibri" pitchFamily="34" charset="-120"/>
              </a:rPr>
              <a:t>range</a:t>
            </a:r>
            <a:endParaRPr lang="en-US" sz="1400" dirty="0"/>
          </a:p>
        </p:txBody>
      </p:sp>
      <p:sp>
        <p:nvSpPr>
          <p:cNvPr id="10" name="Stat card"/>
          <p:cNvSpPr/>
          <p:nvPr/>
        </p:nvSpPr>
        <p:spPr>
          <a:xfrm>
            <a:off x="640080" y="4023360"/>
            <a:ext cx="2514600" cy="1737360"/>
          </a:xfrm>
          <a:prstGeom prst="rect">
            <a:avLst/>
          </a:prstGeom>
          <a:solidFill>
            <a:srgbClr val="111B2E"/>
          </a:solidFill>
          <a:ln w="9525">
            <a:solidFill>
              <a:srgbClr val="22334F"/>
            </a:solidFill>
            <a:prstDash val="solid"/>
          </a:ln>
        </p:spPr>
      </p:sp>
      <p:sp>
        <p:nvSpPr>
          <p:cNvPr id="11" name="Text 9"/>
          <p:cNvSpPr txBox="1"/>
          <p:nvPr/>
        </p:nvSpPr>
        <p:spPr>
          <a:xfrm>
            <a:off x="868680" y="4160520"/>
            <a:ext cx="2103120" cy="777240"/>
          </a:xfrm>
          <a:prstGeom prst="rect">
            <a:avLst/>
          </a:prstGeom>
          <a:noFill/>
          <a:ln/>
        </p:spPr>
        <p:txBody>
          <a:bodyPr wrap="square" lIns="0" tIns="0" rIns="0" bIns="0" rtlCol="0" anchor="ctr"/>
          <a:lstStyle/>
          <a:p>
            <a:pPr indent="0" marL="0">
              <a:buNone/>
            </a:pPr>
            <a:r>
              <a:rPr lang="en-US" sz="4400" b="1" dirty="0">
                <a:solidFill>
                  <a:srgbClr val="C2A25D"/>
                </a:solidFill>
                <a:latin typeface="Cambria" pitchFamily="34" charset="0"/>
                <a:ea typeface="Cambria" pitchFamily="34" charset="-122"/>
                <a:cs typeface="Cambria" pitchFamily="34" charset="-120"/>
              </a:rPr>
              <a:t>12 h</a:t>
            </a:r>
            <a:endParaRPr lang="en-US" sz="4400" dirty="0"/>
          </a:p>
        </p:txBody>
      </p:sp>
      <p:sp>
        <p:nvSpPr>
          <p:cNvPr id="12" name="Text 10"/>
          <p:cNvSpPr txBox="1"/>
          <p:nvPr/>
        </p:nvSpPr>
        <p:spPr>
          <a:xfrm>
            <a:off x="868680" y="5029200"/>
            <a:ext cx="2103120" cy="640080"/>
          </a:xfrm>
          <a:prstGeom prst="rect">
            <a:avLst/>
          </a:prstGeom>
          <a:noFill/>
          <a:ln/>
        </p:spPr>
        <p:txBody>
          <a:bodyPr wrap="square" lIns="0" tIns="0" rIns="0" bIns="0" rtlCol="0" anchor="t"/>
          <a:lstStyle/>
          <a:p>
            <a:pPr indent="0" marL="0">
              <a:buNone/>
            </a:pPr>
            <a:r>
              <a:rPr lang="en-US" sz="1400" dirty="0">
                <a:solidFill>
                  <a:srgbClr val="98A4B8"/>
                </a:solidFill>
                <a:latin typeface="Calibri" pitchFamily="34" charset="0"/>
                <a:ea typeface="Calibri" pitchFamily="34" charset="-122"/>
                <a:cs typeface="Calibri" pitchFamily="34" charset="-120"/>
              </a:rPr>
              <a:t>autonomous</a:t>
            </a:r>
            <a:endParaRPr lang="en-US" sz="1400" dirty="0"/>
          </a:p>
          <a:p>
            <a:pPr indent="0" marL="0">
              <a:buNone/>
            </a:pPr>
            <a:r>
              <a:rPr lang="en-US" sz="1400" dirty="0">
                <a:solidFill>
                  <a:srgbClr val="98A4B8"/>
                </a:solidFill>
                <a:latin typeface="Calibri" pitchFamily="34" charset="0"/>
                <a:ea typeface="Calibri" pitchFamily="34" charset="-122"/>
                <a:cs typeface="Calibri" pitchFamily="34" charset="-120"/>
              </a:rPr>
              <a:t>operation</a:t>
            </a:r>
            <a:endParaRPr lang="en-US" sz="1400" dirty="0"/>
          </a:p>
        </p:txBody>
      </p:sp>
      <p:sp>
        <p:nvSpPr>
          <p:cNvPr id="13" name="Stat card"/>
          <p:cNvSpPr/>
          <p:nvPr/>
        </p:nvSpPr>
        <p:spPr>
          <a:xfrm>
            <a:off x="3337560" y="4023360"/>
            <a:ext cx="2514600" cy="1737360"/>
          </a:xfrm>
          <a:prstGeom prst="rect">
            <a:avLst/>
          </a:prstGeom>
          <a:solidFill>
            <a:srgbClr val="111B2E"/>
          </a:solidFill>
          <a:ln w="9525">
            <a:solidFill>
              <a:srgbClr val="22334F"/>
            </a:solidFill>
            <a:prstDash val="solid"/>
          </a:ln>
        </p:spPr>
      </p:sp>
      <p:sp>
        <p:nvSpPr>
          <p:cNvPr id="14" name="Text 12"/>
          <p:cNvSpPr txBox="1"/>
          <p:nvPr/>
        </p:nvSpPr>
        <p:spPr>
          <a:xfrm>
            <a:off x="3566160" y="4160520"/>
            <a:ext cx="2103120" cy="777240"/>
          </a:xfrm>
          <a:prstGeom prst="rect">
            <a:avLst/>
          </a:prstGeom>
          <a:noFill/>
          <a:ln/>
        </p:spPr>
        <p:txBody>
          <a:bodyPr wrap="square" lIns="0" tIns="0" rIns="0" bIns="0" rtlCol="0" anchor="ctr"/>
          <a:lstStyle/>
          <a:p>
            <a:pPr indent="0" marL="0">
              <a:buNone/>
            </a:pPr>
            <a:r>
              <a:rPr lang="en-US" sz="4400" b="1" dirty="0">
                <a:solidFill>
                  <a:srgbClr val="C2A25D"/>
                </a:solidFill>
                <a:latin typeface="Cambria" pitchFamily="34" charset="0"/>
                <a:ea typeface="Cambria" pitchFamily="34" charset="-122"/>
                <a:cs typeface="Cambria" pitchFamily="34" charset="-120"/>
              </a:rPr>
              <a:t>7 s</a:t>
            </a:r>
            <a:endParaRPr lang="en-US" sz="4400" dirty="0"/>
          </a:p>
        </p:txBody>
      </p:sp>
      <p:sp>
        <p:nvSpPr>
          <p:cNvPr id="15" name="Text 13"/>
          <p:cNvSpPr txBox="1"/>
          <p:nvPr/>
        </p:nvSpPr>
        <p:spPr>
          <a:xfrm>
            <a:off x="3566160" y="5029200"/>
            <a:ext cx="2103120" cy="640080"/>
          </a:xfrm>
          <a:prstGeom prst="rect">
            <a:avLst/>
          </a:prstGeom>
          <a:noFill/>
          <a:ln/>
        </p:spPr>
        <p:txBody>
          <a:bodyPr wrap="square" lIns="0" tIns="0" rIns="0" bIns="0" rtlCol="0" anchor="t"/>
          <a:lstStyle/>
          <a:p>
            <a:pPr indent="0" marL="0">
              <a:buNone/>
            </a:pPr>
            <a:r>
              <a:rPr lang="en-US" sz="1400" dirty="0">
                <a:solidFill>
                  <a:srgbClr val="98A4B8"/>
                </a:solidFill>
                <a:latin typeface="Calibri" pitchFamily="34" charset="0"/>
                <a:ea typeface="Calibri" pitchFamily="34" charset="-122"/>
                <a:cs typeface="Calibri" pitchFamily="34" charset="-120"/>
              </a:rPr>
              <a:t>full-scan</a:t>
            </a:r>
            <a:endParaRPr lang="en-US" sz="1400" dirty="0"/>
          </a:p>
          <a:p>
            <a:pPr indent="0" marL="0">
              <a:buNone/>
            </a:pPr>
            <a:r>
              <a:rPr lang="en-US" sz="1400" dirty="0">
                <a:solidFill>
                  <a:srgbClr val="98A4B8"/>
                </a:solidFill>
                <a:latin typeface="Calibri" pitchFamily="34" charset="0"/>
                <a:ea typeface="Calibri" pitchFamily="34" charset="-122"/>
                <a:cs typeface="Calibri" pitchFamily="34" charset="-120"/>
              </a:rPr>
              <a:t>time</a:t>
            </a:r>
            <a:endParaRPr lang="en-US" sz="1400" dirty="0"/>
          </a:p>
        </p:txBody>
      </p:sp>
      <p:sp>
        <p:nvSpPr>
          <p:cNvPr id="16" name="Text 14"/>
          <p:cNvSpPr txBox="1"/>
          <p:nvPr/>
        </p:nvSpPr>
        <p:spPr>
          <a:xfrm>
            <a:off x="640080" y="5989320"/>
            <a:ext cx="5303520" cy="320040"/>
          </a:xfrm>
          <a:prstGeom prst="rect">
            <a:avLst/>
          </a:prstGeom>
          <a:noFill/>
          <a:ln/>
        </p:spPr>
        <p:txBody>
          <a:bodyPr wrap="square" lIns="0" tIns="0" rIns="0" bIns="0" rtlCol="0" anchor="t"/>
          <a:lstStyle/>
          <a:p>
            <a:pPr indent="0" marL="0">
              <a:buNone/>
            </a:pPr>
            <a:r>
              <a:rPr lang="en-US" sz="1200" dirty="0">
                <a:solidFill>
                  <a:srgbClr val="98A4B8"/>
                </a:solidFill>
                <a:latin typeface="Calibri" pitchFamily="34" charset="0"/>
                <a:ea typeface="Calibri" pitchFamily="34" charset="-122"/>
                <a:cs typeface="Calibri" pitchFamily="34" charset="-120"/>
              </a:rPr>
              <a:t>Bands, MHz:  900–1800  ·  2700–4500  ·  4850–6150  ·  6000–8260</a:t>
            </a:r>
            <a:endParaRPr lang="en-US" sz="1200" dirty="0"/>
          </a:p>
        </p:txBody>
      </p:sp>
      <p:graphicFrame>
        <p:nvGraphicFramePr>
          <p:cNvPr id="7" name="Specs table"/>
          <p:cNvGraphicFramePr>
            <a:graphicFrameLocks noGrp="1"/>
          </p:cNvGraphicFramePr>
          <p:nvPr>
            <p:extLst>
              <p:ext uri="{D42A27DB-BD31-4B8C-83A1-F6EECF244321}">
                <p14:modId xmlns:p14="http://schemas.microsoft.com/office/powerpoint/2010/main" val="1579011935"/>
              </p:ext>
            </p:extLst>
          </p:nvPr>
        </p:nvGraphicFramePr>
        <p:xfrm>
          <a:off x="6263640" y="2103120"/>
          <a:ext cx="5285232" cy="914400"/>
        </p:xfrm>
        <a:graphic>
          <a:graphicData uri="http://schemas.openxmlformats.org/drawingml/2006/table">
            <a:tbl>
              <a:tblPr/>
              <a:tblGrid>
                <a:gridCol w="2194560"/>
                <a:gridCol w="3090672"/>
              </a:tblGrid>
              <a:tr h="475488">
                <a:tc>
                  <a:txBody>
                    <a:bodyPr/>
                    <a:lstStyle/>
                    <a:p>
                      <a:pPr indent="0" marL="0">
                        <a:buNone/>
                      </a:pPr>
                      <a:r>
                        <a:rPr lang="en-US" sz="1300" b="1" dirty="0">
                          <a:solidFill>
                            <a:srgbClr val="C2A25D"/>
                          </a:solidFill>
                          <a:latin typeface="Calibri" pitchFamily="34" charset="0"/>
                          <a:ea typeface="Calibri" pitchFamily="34" charset="-122"/>
                          <a:cs typeface="Calibri" pitchFamily="34" charset="-120"/>
                        </a:rPr>
                        <a:t>Parameter</a:t>
                      </a:r>
                      <a:endParaRPr lang="en-US" sz="1300" dirty="0">
                        <a:latin typeface="Calibri" charset="0"/>
                        <a:ea typeface="Calibri" charset="0"/>
                        <a:cs typeface="Calibri" charset="0"/>
                      </a:endParaRPr>
                    </a:p>
                  </a:txBody>
                  <a:tcPr marL="109728" marR="109728" marT="36576" marB="36576" anchor="ctr">
                    <a:lnL w="9525" cap="flat" cmpd="sng" algn="ctr">
                      <a:solidFill>
                        <a:srgbClr val="22334F"/>
                      </a:solidFill>
                      <a:prstDash val="solid"/>
                      <a:round/>
                      <a:headEnd type="none" w="med" len="med"/>
                      <a:tailEnd type="none" w="med" len="med"/>
                    </a:lnL>
                    <a:lnR w="9525" cap="flat" cmpd="sng" algn="ctr">
                      <a:solidFill>
                        <a:srgbClr val="22334F"/>
                      </a:solidFill>
                      <a:prstDash val="solid"/>
                      <a:round/>
                      <a:headEnd type="none" w="med" len="med"/>
                      <a:tailEnd type="none" w="med" len="med"/>
                    </a:lnR>
                    <a:lnT w="9525" cap="flat" cmpd="sng" algn="ctr">
                      <a:solidFill>
                        <a:srgbClr val="22334F"/>
                      </a:solidFill>
                      <a:prstDash val="solid"/>
                      <a:round/>
                      <a:headEnd type="none" w="med" len="med"/>
                      <a:tailEnd type="none" w="med" len="med"/>
                    </a:lnT>
                    <a:lnB w="9525" cap="flat" cmpd="sng" algn="ctr">
                      <a:solidFill>
                        <a:srgbClr val="22334F"/>
                      </a:solidFill>
                      <a:prstDash val="solid"/>
                      <a:round/>
                      <a:headEnd type="none" w="med" len="med"/>
                      <a:tailEnd type="none" w="med" len="med"/>
                    </a:lnB>
                    <a:solidFill>
                      <a:srgbClr val="0B1220"/>
                    </a:solidFill>
                  </a:tcPr>
                </a:tc>
                <a:tc>
                  <a:txBody>
                    <a:bodyPr/>
                    <a:lstStyle/>
                    <a:p>
                      <a:pPr indent="0" marL="0">
                        <a:buNone/>
                      </a:pPr>
                      <a:r>
                        <a:rPr lang="en-US" sz="1300" b="1" dirty="0">
                          <a:solidFill>
                            <a:srgbClr val="C2A25D"/>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109728" marR="109728" marT="36576" marB="36576" anchor="ctr">
                    <a:lnL w="9525" cap="flat" cmpd="sng" algn="ctr">
                      <a:solidFill>
                        <a:srgbClr val="22334F"/>
                      </a:solidFill>
                      <a:prstDash val="solid"/>
                      <a:round/>
                      <a:headEnd type="none" w="med" len="med"/>
                      <a:tailEnd type="none" w="med" len="med"/>
                    </a:lnL>
                    <a:lnR w="9525" cap="flat" cmpd="sng" algn="ctr">
                      <a:solidFill>
                        <a:srgbClr val="22334F"/>
                      </a:solidFill>
                      <a:prstDash val="solid"/>
                      <a:round/>
                      <a:headEnd type="none" w="med" len="med"/>
                      <a:tailEnd type="none" w="med" len="med"/>
                    </a:lnR>
                    <a:lnT w="9525" cap="flat" cmpd="sng" algn="ctr">
                      <a:solidFill>
                        <a:srgbClr val="22334F"/>
                      </a:solidFill>
                      <a:prstDash val="solid"/>
                      <a:round/>
                      <a:headEnd type="none" w="med" len="med"/>
                      <a:tailEnd type="none" w="med" len="med"/>
                    </a:lnT>
                    <a:lnB w="9525" cap="flat" cmpd="sng" algn="ctr">
                      <a:solidFill>
                        <a:srgbClr val="22334F"/>
                      </a:solidFill>
                      <a:prstDash val="solid"/>
                      <a:round/>
                      <a:headEnd type="none" w="med" len="med"/>
                      <a:tailEnd type="none" w="med" len="med"/>
                    </a:lnB>
                    <a:solidFill>
                      <a:srgbClr val="0B1220"/>
                    </a:solidFill>
                  </a:tcPr>
                </a:tc>
              </a:tr>
              <a:tr h="475488">
                <a:tc>
                  <a:txBody>
                    <a:bodyPr/>
                    <a:lstStyle/>
                    <a:p>
                      <a:pPr indent="0" marL="0">
                        <a:buNone/>
                      </a:pPr>
                      <a:r>
                        <a:rPr lang="en-US" sz="1400" dirty="0">
                          <a:solidFill>
                            <a:srgbClr val="98A4B8"/>
                          </a:solidFill>
                          <a:latin typeface="Calibri" pitchFamily="34" charset="0"/>
                          <a:ea typeface="Calibri" pitchFamily="34" charset="-122"/>
                          <a:cs typeface="Calibri" pitchFamily="34" charset="-120"/>
                        </a:rPr>
                        <a:t>Weight</a:t>
                      </a:r>
                      <a:endParaRPr lang="en-US" sz="1400" dirty="0">
                        <a:latin typeface="Calibri" charset="0"/>
                        <a:ea typeface="Calibri" charset="0"/>
                        <a:cs typeface="Calibri" charset="0"/>
                      </a:endParaRPr>
                    </a:p>
                  </a:txBody>
                  <a:tcPr marL="109728" marR="109728" marT="36576" marB="36576" anchor="ctr">
                    <a:lnL w="9525" cap="flat" cmpd="sng" algn="ctr">
                      <a:solidFill>
                        <a:srgbClr val="22334F"/>
                      </a:solidFill>
                      <a:prstDash val="solid"/>
                      <a:round/>
                      <a:headEnd type="none" w="med" len="med"/>
                      <a:tailEnd type="none" w="med" len="med"/>
                    </a:lnL>
                    <a:lnR w="9525" cap="flat" cmpd="sng" algn="ctr">
                      <a:solidFill>
                        <a:srgbClr val="22334F"/>
                      </a:solidFill>
                      <a:prstDash val="solid"/>
                      <a:round/>
                      <a:headEnd type="none" w="med" len="med"/>
                      <a:tailEnd type="none" w="med" len="med"/>
                    </a:lnR>
                    <a:lnT w="9525" cap="flat" cmpd="sng" algn="ctr">
                      <a:solidFill>
                        <a:srgbClr val="22334F"/>
                      </a:solidFill>
                      <a:prstDash val="solid"/>
                      <a:round/>
                      <a:headEnd type="none" w="med" len="med"/>
                      <a:tailEnd type="none" w="med" len="med"/>
                    </a:lnT>
                    <a:lnB w="9525" cap="flat" cmpd="sng" algn="ctr">
                      <a:solidFill>
                        <a:srgbClr val="22334F"/>
                      </a:solidFill>
                      <a:prstDash val="solid"/>
                      <a:round/>
                      <a:headEnd type="none" w="med" len="med"/>
                      <a:tailEnd type="none" w="med" len="med"/>
                    </a:lnB>
                    <a:solidFill>
                      <a:srgbClr val="111B2E"/>
                    </a:solidFill>
                  </a:tcPr>
                </a:tc>
                <a:tc>
                  <a:txBody>
                    <a:bodyPr/>
                    <a:lstStyle/>
                    <a:p>
                      <a:pPr indent="0" marL="0">
                        <a:buNone/>
                      </a:pPr>
                      <a:r>
                        <a:rPr lang="en-US" sz="1400" dirty="0">
                          <a:solidFill>
                            <a:srgbClr val="EDE8DC"/>
                          </a:solidFill>
                          <a:latin typeface="Calibri" pitchFamily="34" charset="0"/>
                          <a:ea typeface="Calibri" pitchFamily="34" charset="-122"/>
                          <a:cs typeface="Calibri" pitchFamily="34" charset="-120"/>
                        </a:rPr>
                        <a:t>780 g</a:t>
                      </a:r>
                      <a:endParaRPr lang="en-US" sz="1400" dirty="0">
                        <a:latin typeface="Calibri" charset="0"/>
                        <a:ea typeface="Calibri" charset="0"/>
                        <a:cs typeface="Calibri" charset="0"/>
                      </a:endParaRPr>
                    </a:p>
                  </a:txBody>
                  <a:tcPr marL="109728" marR="109728" marT="36576" marB="36576" anchor="ctr">
                    <a:lnL w="9525" cap="flat" cmpd="sng" algn="ctr">
                      <a:solidFill>
                        <a:srgbClr val="22334F"/>
                      </a:solidFill>
                      <a:prstDash val="solid"/>
                      <a:round/>
                      <a:headEnd type="none" w="med" len="med"/>
                      <a:tailEnd type="none" w="med" len="med"/>
                    </a:lnL>
                    <a:lnR w="9525" cap="flat" cmpd="sng" algn="ctr">
                      <a:solidFill>
                        <a:srgbClr val="22334F"/>
                      </a:solidFill>
                      <a:prstDash val="solid"/>
                      <a:round/>
                      <a:headEnd type="none" w="med" len="med"/>
                      <a:tailEnd type="none" w="med" len="med"/>
                    </a:lnR>
                    <a:lnT w="9525" cap="flat" cmpd="sng" algn="ctr">
                      <a:solidFill>
                        <a:srgbClr val="22334F"/>
                      </a:solidFill>
                      <a:prstDash val="solid"/>
                      <a:round/>
                      <a:headEnd type="none" w="med" len="med"/>
                      <a:tailEnd type="none" w="med" len="med"/>
                    </a:lnT>
                    <a:lnB w="9525" cap="flat" cmpd="sng" algn="ctr">
                      <a:solidFill>
                        <a:srgbClr val="22334F"/>
                      </a:solidFill>
                      <a:prstDash val="solid"/>
                      <a:round/>
                      <a:headEnd type="none" w="med" len="med"/>
                      <a:tailEnd type="none" w="med" len="med"/>
                    </a:lnB>
                    <a:solidFill>
                      <a:srgbClr val="111B2E"/>
                    </a:solidFill>
                  </a:tcPr>
                </a:tc>
              </a:tr>
              <a:tr h="475488">
                <a:tc>
                  <a:txBody>
                    <a:bodyPr/>
                    <a:lstStyle/>
                    <a:p>
                      <a:pPr indent="0" marL="0">
                        <a:buNone/>
                      </a:pPr>
                      <a:r>
                        <a:rPr lang="en-US" sz="1400" dirty="0">
                          <a:solidFill>
                            <a:srgbClr val="98A4B8"/>
                          </a:solidFill>
                          <a:latin typeface="Calibri" pitchFamily="34" charset="0"/>
                          <a:ea typeface="Calibri" pitchFamily="34" charset="-122"/>
                          <a:cs typeface="Calibri" pitchFamily="34" charset="-120"/>
                        </a:rPr>
                        <a:t>Dimensions</a:t>
                      </a:r>
                      <a:endParaRPr lang="en-US" sz="1400" dirty="0">
                        <a:latin typeface="Calibri" charset="0"/>
                        <a:ea typeface="Calibri" charset="0"/>
                        <a:cs typeface="Calibri" charset="0"/>
                      </a:endParaRPr>
                    </a:p>
                  </a:txBody>
                  <a:tcPr marL="109728" marR="109728" marT="36576" marB="36576" anchor="ctr">
                    <a:lnL w="9525" cap="flat" cmpd="sng" algn="ctr">
                      <a:solidFill>
                        <a:srgbClr val="22334F"/>
                      </a:solidFill>
                      <a:prstDash val="solid"/>
                      <a:round/>
                      <a:headEnd type="none" w="med" len="med"/>
                      <a:tailEnd type="none" w="med" len="med"/>
                    </a:lnL>
                    <a:lnR w="9525" cap="flat" cmpd="sng" algn="ctr">
                      <a:solidFill>
                        <a:srgbClr val="22334F"/>
                      </a:solidFill>
                      <a:prstDash val="solid"/>
                      <a:round/>
                      <a:headEnd type="none" w="med" len="med"/>
                      <a:tailEnd type="none" w="med" len="med"/>
                    </a:lnR>
                    <a:lnT w="9525" cap="flat" cmpd="sng" algn="ctr">
                      <a:solidFill>
                        <a:srgbClr val="22334F"/>
                      </a:solidFill>
                      <a:prstDash val="solid"/>
                      <a:round/>
                      <a:headEnd type="none" w="med" len="med"/>
                      <a:tailEnd type="none" w="med" len="med"/>
                    </a:lnT>
                    <a:lnB w="9525" cap="flat" cmpd="sng" algn="ctr">
                      <a:solidFill>
                        <a:srgbClr val="22334F"/>
                      </a:solidFill>
                      <a:prstDash val="solid"/>
                      <a:round/>
                      <a:headEnd type="none" w="med" len="med"/>
                      <a:tailEnd type="none" w="med" len="med"/>
                    </a:lnB>
                    <a:solidFill>
                      <a:srgbClr val="111B2E"/>
                    </a:solidFill>
                  </a:tcPr>
                </a:tc>
                <a:tc>
                  <a:txBody>
                    <a:bodyPr/>
                    <a:lstStyle/>
                    <a:p>
                      <a:pPr indent="0" marL="0">
                        <a:buNone/>
                      </a:pPr>
                      <a:r>
                        <a:rPr lang="en-US" sz="1400" dirty="0">
                          <a:solidFill>
                            <a:srgbClr val="EDE8DC"/>
                          </a:solidFill>
                          <a:latin typeface="Calibri" pitchFamily="34" charset="0"/>
                          <a:ea typeface="Calibri" pitchFamily="34" charset="-122"/>
                          <a:cs typeface="Calibri" pitchFamily="34" charset="-120"/>
                        </a:rPr>
                        <a:t>280×110×45 mm; 155×110×45 mm</a:t>
                      </a:r>
                      <a:endParaRPr lang="en-US" sz="1400" dirty="0">
                        <a:latin typeface="Calibri" charset="0"/>
                        <a:ea typeface="Calibri" charset="0"/>
                        <a:cs typeface="Calibri" charset="0"/>
                      </a:endParaRPr>
                    </a:p>
                  </a:txBody>
                  <a:tcPr marL="109728" marR="109728" marT="36576" marB="36576" anchor="ctr">
                    <a:lnL w="9525" cap="flat" cmpd="sng" algn="ctr">
                      <a:solidFill>
                        <a:srgbClr val="22334F"/>
                      </a:solidFill>
                      <a:prstDash val="solid"/>
                      <a:round/>
                      <a:headEnd type="none" w="med" len="med"/>
                      <a:tailEnd type="none" w="med" len="med"/>
                    </a:lnL>
                    <a:lnR w="9525" cap="flat" cmpd="sng" algn="ctr">
                      <a:solidFill>
                        <a:srgbClr val="22334F"/>
                      </a:solidFill>
                      <a:prstDash val="solid"/>
                      <a:round/>
                      <a:headEnd type="none" w="med" len="med"/>
                      <a:tailEnd type="none" w="med" len="med"/>
                    </a:lnR>
                    <a:lnT w="9525" cap="flat" cmpd="sng" algn="ctr">
                      <a:solidFill>
                        <a:srgbClr val="22334F"/>
                      </a:solidFill>
                      <a:prstDash val="solid"/>
                      <a:round/>
                      <a:headEnd type="none" w="med" len="med"/>
                      <a:tailEnd type="none" w="med" len="med"/>
                    </a:lnT>
                    <a:lnB w="9525" cap="flat" cmpd="sng" algn="ctr">
                      <a:solidFill>
                        <a:srgbClr val="22334F"/>
                      </a:solidFill>
                      <a:prstDash val="solid"/>
                      <a:round/>
                      <a:headEnd type="none" w="med" len="med"/>
                      <a:tailEnd type="none" w="med" len="med"/>
                    </a:lnB>
                    <a:solidFill>
                      <a:srgbClr val="111B2E"/>
                    </a:solidFill>
                  </a:tcPr>
                </a:tc>
              </a:tr>
              <a:tr h="475488">
                <a:tc>
                  <a:txBody>
                    <a:bodyPr/>
                    <a:lstStyle/>
                    <a:p>
                      <a:pPr indent="0" marL="0">
                        <a:buNone/>
                      </a:pPr>
                      <a:r>
                        <a:rPr lang="en-US" sz="1400" dirty="0">
                          <a:solidFill>
                            <a:srgbClr val="98A4B8"/>
                          </a:solidFill>
                          <a:latin typeface="Calibri" pitchFamily="34" charset="0"/>
                          <a:ea typeface="Calibri" pitchFamily="34" charset="-122"/>
                          <a:cs typeface="Calibri" pitchFamily="34" charset="-120"/>
                        </a:rPr>
                        <a:t>Display</a:t>
                      </a:r>
                      <a:endParaRPr lang="en-US" sz="1400" dirty="0">
                        <a:latin typeface="Calibri" charset="0"/>
                        <a:ea typeface="Calibri" charset="0"/>
                        <a:cs typeface="Calibri" charset="0"/>
                      </a:endParaRPr>
                    </a:p>
                  </a:txBody>
                  <a:tcPr marL="109728" marR="109728" marT="36576" marB="36576" anchor="ctr">
                    <a:lnL w="9525" cap="flat" cmpd="sng" algn="ctr">
                      <a:solidFill>
                        <a:srgbClr val="22334F"/>
                      </a:solidFill>
                      <a:prstDash val="solid"/>
                      <a:round/>
                      <a:headEnd type="none" w="med" len="med"/>
                      <a:tailEnd type="none" w="med" len="med"/>
                    </a:lnL>
                    <a:lnR w="9525" cap="flat" cmpd="sng" algn="ctr">
                      <a:solidFill>
                        <a:srgbClr val="22334F"/>
                      </a:solidFill>
                      <a:prstDash val="solid"/>
                      <a:round/>
                      <a:headEnd type="none" w="med" len="med"/>
                      <a:tailEnd type="none" w="med" len="med"/>
                    </a:lnR>
                    <a:lnT w="9525" cap="flat" cmpd="sng" algn="ctr">
                      <a:solidFill>
                        <a:srgbClr val="22334F"/>
                      </a:solidFill>
                      <a:prstDash val="solid"/>
                      <a:round/>
                      <a:headEnd type="none" w="med" len="med"/>
                      <a:tailEnd type="none" w="med" len="med"/>
                    </a:lnT>
                    <a:lnB w="9525" cap="flat" cmpd="sng" algn="ctr">
                      <a:solidFill>
                        <a:srgbClr val="22334F"/>
                      </a:solidFill>
                      <a:prstDash val="solid"/>
                      <a:round/>
                      <a:headEnd type="none" w="med" len="med"/>
                      <a:tailEnd type="none" w="med" len="med"/>
                    </a:lnB>
                    <a:solidFill>
                      <a:srgbClr val="111B2E"/>
                    </a:solidFill>
                  </a:tcPr>
                </a:tc>
                <a:tc>
                  <a:txBody>
                    <a:bodyPr/>
                    <a:lstStyle/>
                    <a:p>
                      <a:pPr indent="0" marL="0">
                        <a:buNone/>
                      </a:pPr>
                      <a:r>
                        <a:rPr lang="en-US" sz="1400" dirty="0">
                          <a:solidFill>
                            <a:srgbClr val="EDE8DC"/>
                          </a:solidFill>
                          <a:latin typeface="Calibri" pitchFamily="34" charset="0"/>
                          <a:ea typeface="Calibri" pitchFamily="34" charset="-122"/>
                          <a:cs typeface="Calibri" pitchFamily="34" charset="-120"/>
                        </a:rPr>
                        <a:t>IPS 5″ (800 × 480)</a:t>
                      </a:r>
                      <a:endParaRPr lang="en-US" sz="1400" dirty="0">
                        <a:latin typeface="Calibri" charset="0"/>
                        <a:ea typeface="Calibri" charset="0"/>
                        <a:cs typeface="Calibri" charset="0"/>
                      </a:endParaRPr>
                    </a:p>
                  </a:txBody>
                  <a:tcPr marL="109728" marR="109728" marT="36576" marB="36576" anchor="ctr">
                    <a:lnL w="9525" cap="flat" cmpd="sng" algn="ctr">
                      <a:solidFill>
                        <a:srgbClr val="22334F"/>
                      </a:solidFill>
                      <a:prstDash val="solid"/>
                      <a:round/>
                      <a:headEnd type="none" w="med" len="med"/>
                      <a:tailEnd type="none" w="med" len="med"/>
                    </a:lnL>
                    <a:lnR w="9525" cap="flat" cmpd="sng" algn="ctr">
                      <a:solidFill>
                        <a:srgbClr val="22334F"/>
                      </a:solidFill>
                      <a:prstDash val="solid"/>
                      <a:round/>
                      <a:headEnd type="none" w="med" len="med"/>
                      <a:tailEnd type="none" w="med" len="med"/>
                    </a:lnR>
                    <a:lnT w="9525" cap="flat" cmpd="sng" algn="ctr">
                      <a:solidFill>
                        <a:srgbClr val="22334F"/>
                      </a:solidFill>
                      <a:prstDash val="solid"/>
                      <a:round/>
                      <a:headEnd type="none" w="med" len="med"/>
                      <a:tailEnd type="none" w="med" len="med"/>
                    </a:lnT>
                    <a:lnB w="9525" cap="flat" cmpd="sng" algn="ctr">
                      <a:solidFill>
                        <a:srgbClr val="22334F"/>
                      </a:solidFill>
                      <a:prstDash val="solid"/>
                      <a:round/>
                      <a:headEnd type="none" w="med" len="med"/>
                      <a:tailEnd type="none" w="med" len="med"/>
                    </a:lnB>
                    <a:solidFill>
                      <a:srgbClr val="111B2E"/>
                    </a:solidFill>
                  </a:tcPr>
                </a:tc>
              </a:tr>
              <a:tr h="475488">
                <a:tc>
                  <a:txBody>
                    <a:bodyPr/>
                    <a:lstStyle/>
                    <a:p>
                      <a:pPr indent="0" marL="0">
                        <a:buNone/>
                      </a:pPr>
                      <a:r>
                        <a:rPr lang="en-US" sz="1400" dirty="0">
                          <a:solidFill>
                            <a:srgbClr val="98A4B8"/>
                          </a:solidFill>
                          <a:latin typeface="Calibri" pitchFamily="34" charset="0"/>
                          <a:ea typeface="Calibri" pitchFamily="34" charset="-122"/>
                          <a:cs typeface="Calibri" pitchFamily="34" charset="-120"/>
                        </a:rPr>
                        <a:t>Built-in battery</a:t>
                      </a:r>
                      <a:endParaRPr lang="en-US" sz="1400" dirty="0">
                        <a:latin typeface="Calibri" charset="0"/>
                        <a:ea typeface="Calibri" charset="0"/>
                        <a:cs typeface="Calibri" charset="0"/>
                      </a:endParaRPr>
                    </a:p>
                  </a:txBody>
                  <a:tcPr marL="109728" marR="109728" marT="36576" marB="36576" anchor="ctr">
                    <a:lnL w="9525" cap="flat" cmpd="sng" algn="ctr">
                      <a:solidFill>
                        <a:srgbClr val="22334F"/>
                      </a:solidFill>
                      <a:prstDash val="solid"/>
                      <a:round/>
                      <a:headEnd type="none" w="med" len="med"/>
                      <a:tailEnd type="none" w="med" len="med"/>
                    </a:lnL>
                    <a:lnR w="9525" cap="flat" cmpd="sng" algn="ctr">
                      <a:solidFill>
                        <a:srgbClr val="22334F"/>
                      </a:solidFill>
                      <a:prstDash val="solid"/>
                      <a:round/>
                      <a:headEnd type="none" w="med" len="med"/>
                      <a:tailEnd type="none" w="med" len="med"/>
                    </a:lnR>
                    <a:lnT w="9525" cap="flat" cmpd="sng" algn="ctr">
                      <a:solidFill>
                        <a:srgbClr val="22334F"/>
                      </a:solidFill>
                      <a:prstDash val="solid"/>
                      <a:round/>
                      <a:headEnd type="none" w="med" len="med"/>
                      <a:tailEnd type="none" w="med" len="med"/>
                    </a:lnT>
                    <a:lnB w="9525" cap="flat" cmpd="sng" algn="ctr">
                      <a:solidFill>
                        <a:srgbClr val="22334F"/>
                      </a:solidFill>
                      <a:prstDash val="solid"/>
                      <a:round/>
                      <a:headEnd type="none" w="med" len="med"/>
                      <a:tailEnd type="none" w="med" len="med"/>
                    </a:lnB>
                    <a:solidFill>
                      <a:srgbClr val="111B2E"/>
                    </a:solidFill>
                  </a:tcPr>
                </a:tc>
                <a:tc>
                  <a:txBody>
                    <a:bodyPr/>
                    <a:lstStyle/>
                    <a:p>
                      <a:pPr indent="0" marL="0">
                        <a:buNone/>
                      </a:pPr>
                      <a:r>
                        <a:rPr lang="en-US" sz="1400" dirty="0">
                          <a:solidFill>
                            <a:srgbClr val="EDE8DC"/>
                          </a:solidFill>
                          <a:latin typeface="Calibri" pitchFamily="34" charset="0"/>
                          <a:ea typeface="Calibri" pitchFamily="34" charset="-122"/>
                          <a:cs typeface="Calibri" pitchFamily="34" charset="-120"/>
                        </a:rPr>
                        <a:t>75.6 Wh</a:t>
                      </a:r>
                      <a:endParaRPr lang="en-US" sz="1400" dirty="0">
                        <a:latin typeface="Calibri" charset="0"/>
                        <a:ea typeface="Calibri" charset="0"/>
                        <a:cs typeface="Calibri" charset="0"/>
                      </a:endParaRPr>
                    </a:p>
                  </a:txBody>
                  <a:tcPr marL="109728" marR="109728" marT="36576" marB="36576" anchor="ctr">
                    <a:lnL w="9525" cap="flat" cmpd="sng" algn="ctr">
                      <a:solidFill>
                        <a:srgbClr val="22334F"/>
                      </a:solidFill>
                      <a:prstDash val="solid"/>
                      <a:round/>
                      <a:headEnd type="none" w="med" len="med"/>
                      <a:tailEnd type="none" w="med" len="med"/>
                    </a:lnL>
                    <a:lnR w="9525" cap="flat" cmpd="sng" algn="ctr">
                      <a:solidFill>
                        <a:srgbClr val="22334F"/>
                      </a:solidFill>
                      <a:prstDash val="solid"/>
                      <a:round/>
                      <a:headEnd type="none" w="med" len="med"/>
                      <a:tailEnd type="none" w="med" len="med"/>
                    </a:lnR>
                    <a:lnT w="9525" cap="flat" cmpd="sng" algn="ctr">
                      <a:solidFill>
                        <a:srgbClr val="22334F"/>
                      </a:solidFill>
                      <a:prstDash val="solid"/>
                      <a:round/>
                      <a:headEnd type="none" w="med" len="med"/>
                      <a:tailEnd type="none" w="med" len="med"/>
                    </a:lnT>
                    <a:lnB w="9525" cap="flat" cmpd="sng" algn="ctr">
                      <a:solidFill>
                        <a:srgbClr val="22334F"/>
                      </a:solidFill>
                      <a:prstDash val="solid"/>
                      <a:round/>
                      <a:headEnd type="none" w="med" len="med"/>
                      <a:tailEnd type="none" w="med" len="med"/>
                    </a:lnB>
                    <a:solidFill>
                      <a:srgbClr val="111B2E"/>
                    </a:solidFill>
                  </a:tcPr>
                </a:tc>
              </a:tr>
              <a:tr h="475488">
                <a:tc>
                  <a:txBody>
                    <a:bodyPr/>
                    <a:lstStyle/>
                    <a:p>
                      <a:pPr indent="0" marL="0">
                        <a:buNone/>
                      </a:pPr>
                      <a:r>
                        <a:rPr lang="en-US" sz="1400" dirty="0">
                          <a:solidFill>
                            <a:srgbClr val="98A4B8"/>
                          </a:solidFill>
                          <a:latin typeface="Calibri" pitchFamily="34" charset="0"/>
                          <a:ea typeface="Calibri" pitchFamily="34" charset="-122"/>
                          <a:cs typeface="Calibri" pitchFamily="34" charset="-120"/>
                        </a:rPr>
                        <a:t>Ingress protection</a:t>
                      </a:r>
                      <a:endParaRPr lang="en-US" sz="1400" dirty="0">
                        <a:latin typeface="Calibri" charset="0"/>
                        <a:ea typeface="Calibri" charset="0"/>
                        <a:cs typeface="Calibri" charset="0"/>
                      </a:endParaRPr>
                    </a:p>
                  </a:txBody>
                  <a:tcPr marL="109728" marR="109728" marT="36576" marB="36576" anchor="ctr">
                    <a:lnL w="9525" cap="flat" cmpd="sng" algn="ctr">
                      <a:solidFill>
                        <a:srgbClr val="22334F"/>
                      </a:solidFill>
                      <a:prstDash val="solid"/>
                      <a:round/>
                      <a:headEnd type="none" w="med" len="med"/>
                      <a:tailEnd type="none" w="med" len="med"/>
                    </a:lnL>
                    <a:lnR w="9525" cap="flat" cmpd="sng" algn="ctr">
                      <a:solidFill>
                        <a:srgbClr val="22334F"/>
                      </a:solidFill>
                      <a:prstDash val="solid"/>
                      <a:round/>
                      <a:headEnd type="none" w="med" len="med"/>
                      <a:tailEnd type="none" w="med" len="med"/>
                    </a:lnR>
                    <a:lnT w="9525" cap="flat" cmpd="sng" algn="ctr">
                      <a:solidFill>
                        <a:srgbClr val="22334F"/>
                      </a:solidFill>
                      <a:prstDash val="solid"/>
                      <a:round/>
                      <a:headEnd type="none" w="med" len="med"/>
                      <a:tailEnd type="none" w="med" len="med"/>
                    </a:lnT>
                    <a:lnB w="9525" cap="flat" cmpd="sng" algn="ctr">
                      <a:solidFill>
                        <a:srgbClr val="22334F"/>
                      </a:solidFill>
                      <a:prstDash val="solid"/>
                      <a:round/>
                      <a:headEnd type="none" w="med" len="med"/>
                      <a:tailEnd type="none" w="med" len="med"/>
                    </a:lnB>
                    <a:solidFill>
                      <a:srgbClr val="111B2E"/>
                    </a:solidFill>
                  </a:tcPr>
                </a:tc>
                <a:tc>
                  <a:txBody>
                    <a:bodyPr/>
                    <a:lstStyle/>
                    <a:p>
                      <a:pPr indent="0" marL="0">
                        <a:buNone/>
                      </a:pPr>
                      <a:r>
                        <a:rPr lang="en-US" sz="1400" dirty="0">
                          <a:solidFill>
                            <a:srgbClr val="EDE8DC"/>
                          </a:solidFill>
                          <a:latin typeface="Calibri" pitchFamily="34" charset="0"/>
                          <a:ea typeface="Calibri" pitchFamily="34" charset="-122"/>
                          <a:cs typeface="Calibri" pitchFamily="34" charset="-120"/>
                        </a:rPr>
                        <a:t>IP-54</a:t>
                      </a:r>
                      <a:endParaRPr lang="en-US" sz="1400" dirty="0">
                        <a:latin typeface="Calibri" charset="0"/>
                        <a:ea typeface="Calibri" charset="0"/>
                        <a:cs typeface="Calibri" charset="0"/>
                      </a:endParaRPr>
                    </a:p>
                  </a:txBody>
                  <a:tcPr marL="109728" marR="109728" marT="36576" marB="36576" anchor="ctr">
                    <a:lnL w="9525" cap="flat" cmpd="sng" algn="ctr">
                      <a:solidFill>
                        <a:srgbClr val="22334F"/>
                      </a:solidFill>
                      <a:prstDash val="solid"/>
                      <a:round/>
                      <a:headEnd type="none" w="med" len="med"/>
                      <a:tailEnd type="none" w="med" len="med"/>
                    </a:lnL>
                    <a:lnR w="9525" cap="flat" cmpd="sng" algn="ctr">
                      <a:solidFill>
                        <a:srgbClr val="22334F"/>
                      </a:solidFill>
                      <a:prstDash val="solid"/>
                      <a:round/>
                      <a:headEnd type="none" w="med" len="med"/>
                      <a:tailEnd type="none" w="med" len="med"/>
                    </a:lnR>
                    <a:lnT w="9525" cap="flat" cmpd="sng" algn="ctr">
                      <a:solidFill>
                        <a:srgbClr val="22334F"/>
                      </a:solidFill>
                      <a:prstDash val="solid"/>
                      <a:round/>
                      <a:headEnd type="none" w="med" len="med"/>
                      <a:tailEnd type="none" w="med" len="med"/>
                    </a:lnT>
                    <a:lnB w="9525" cap="flat" cmpd="sng" algn="ctr">
                      <a:solidFill>
                        <a:srgbClr val="22334F"/>
                      </a:solidFill>
                      <a:prstDash val="solid"/>
                      <a:round/>
                      <a:headEnd type="none" w="med" len="med"/>
                      <a:tailEnd type="none" w="med" len="med"/>
                    </a:lnB>
                    <a:solidFill>
                      <a:srgbClr val="111B2E"/>
                    </a:solidFill>
                  </a:tcPr>
                </a:tc>
              </a:tr>
              <a:tr h="475488">
                <a:tc>
                  <a:txBody>
                    <a:bodyPr/>
                    <a:lstStyle/>
                    <a:p>
                      <a:pPr indent="0" marL="0">
                        <a:buNone/>
                      </a:pPr>
                      <a:r>
                        <a:rPr lang="en-US" sz="1400" dirty="0">
                          <a:solidFill>
                            <a:srgbClr val="98A4B8"/>
                          </a:solidFill>
                          <a:latin typeface="Calibri" pitchFamily="34" charset="0"/>
                          <a:ea typeface="Calibri" pitchFamily="34" charset="-122"/>
                          <a:cs typeface="Calibri" pitchFamily="34" charset="-120"/>
                        </a:rPr>
                        <a:t>External display</a:t>
                      </a:r>
                      <a:endParaRPr lang="en-US" sz="1400" dirty="0">
                        <a:latin typeface="Calibri" charset="0"/>
                        <a:ea typeface="Calibri" charset="0"/>
                        <a:cs typeface="Calibri" charset="0"/>
                      </a:endParaRPr>
                    </a:p>
                  </a:txBody>
                  <a:tcPr marL="109728" marR="109728" marT="36576" marB="36576" anchor="ctr">
                    <a:lnL w="9525" cap="flat" cmpd="sng" algn="ctr">
                      <a:solidFill>
                        <a:srgbClr val="22334F"/>
                      </a:solidFill>
                      <a:prstDash val="solid"/>
                      <a:round/>
                      <a:headEnd type="none" w="med" len="med"/>
                      <a:tailEnd type="none" w="med" len="med"/>
                    </a:lnL>
                    <a:lnR w="9525" cap="flat" cmpd="sng" algn="ctr">
                      <a:solidFill>
                        <a:srgbClr val="22334F"/>
                      </a:solidFill>
                      <a:prstDash val="solid"/>
                      <a:round/>
                      <a:headEnd type="none" w="med" len="med"/>
                      <a:tailEnd type="none" w="med" len="med"/>
                    </a:lnR>
                    <a:lnT w="9525" cap="flat" cmpd="sng" algn="ctr">
                      <a:solidFill>
                        <a:srgbClr val="22334F"/>
                      </a:solidFill>
                      <a:prstDash val="solid"/>
                      <a:round/>
                      <a:headEnd type="none" w="med" len="med"/>
                      <a:tailEnd type="none" w="med" len="med"/>
                    </a:lnT>
                    <a:lnB w="9525" cap="flat" cmpd="sng" algn="ctr">
                      <a:solidFill>
                        <a:srgbClr val="22334F"/>
                      </a:solidFill>
                      <a:prstDash val="solid"/>
                      <a:round/>
                      <a:headEnd type="none" w="med" len="med"/>
                      <a:tailEnd type="none" w="med" len="med"/>
                    </a:lnB>
                    <a:solidFill>
                      <a:srgbClr val="111B2E"/>
                    </a:solidFill>
                  </a:tcPr>
                </a:tc>
                <a:tc>
                  <a:txBody>
                    <a:bodyPr/>
                    <a:lstStyle/>
                    <a:p>
                      <a:pPr indent="0" marL="0">
                        <a:buNone/>
                      </a:pPr>
                      <a:r>
                        <a:rPr lang="en-US" sz="1400" dirty="0">
                          <a:solidFill>
                            <a:srgbClr val="EDE8DC"/>
                          </a:solidFill>
                          <a:latin typeface="Calibri" pitchFamily="34" charset="0"/>
                          <a:ea typeface="Calibri" pitchFamily="34" charset="-122"/>
                          <a:cs typeface="Calibri" pitchFamily="34" charset="-120"/>
                        </a:rPr>
                        <a:t>AV output</a:t>
                      </a:r>
                      <a:endParaRPr lang="en-US" sz="1400" dirty="0">
                        <a:latin typeface="Calibri" charset="0"/>
                        <a:ea typeface="Calibri" charset="0"/>
                        <a:cs typeface="Calibri" charset="0"/>
                      </a:endParaRPr>
                    </a:p>
                  </a:txBody>
                  <a:tcPr marL="109728" marR="109728" marT="36576" marB="36576" anchor="ctr">
                    <a:lnL w="9525" cap="flat" cmpd="sng" algn="ctr">
                      <a:solidFill>
                        <a:srgbClr val="22334F"/>
                      </a:solidFill>
                      <a:prstDash val="solid"/>
                      <a:round/>
                      <a:headEnd type="none" w="med" len="med"/>
                      <a:tailEnd type="none" w="med" len="med"/>
                    </a:lnL>
                    <a:lnR w="9525" cap="flat" cmpd="sng" algn="ctr">
                      <a:solidFill>
                        <a:srgbClr val="22334F"/>
                      </a:solidFill>
                      <a:prstDash val="solid"/>
                      <a:round/>
                      <a:headEnd type="none" w="med" len="med"/>
                      <a:tailEnd type="none" w="med" len="med"/>
                    </a:lnR>
                    <a:lnT w="9525" cap="flat" cmpd="sng" algn="ctr">
                      <a:solidFill>
                        <a:srgbClr val="22334F"/>
                      </a:solidFill>
                      <a:prstDash val="solid"/>
                      <a:round/>
                      <a:headEnd type="none" w="med" len="med"/>
                      <a:tailEnd type="none" w="med" len="med"/>
                    </a:lnT>
                    <a:lnB w="9525" cap="flat" cmpd="sng" algn="ctr">
                      <a:solidFill>
                        <a:srgbClr val="22334F"/>
                      </a:solidFill>
                      <a:prstDash val="solid"/>
                      <a:round/>
                      <a:headEnd type="none" w="med" len="med"/>
                      <a:tailEnd type="none" w="med" len="med"/>
                    </a:lnB>
                    <a:solidFill>
                      <a:srgbClr val="111B2E"/>
                    </a:solidFill>
                  </a:tcPr>
                </a:tc>
              </a:tr>
              <a:tr h="475488">
                <a:tc>
                  <a:txBody>
                    <a:bodyPr/>
                    <a:lstStyle/>
                    <a:p>
                      <a:pPr indent="0" marL="0">
                        <a:buNone/>
                      </a:pPr>
                      <a:r>
                        <a:rPr lang="en-US" sz="1400" dirty="0">
                          <a:solidFill>
                            <a:srgbClr val="98A4B8"/>
                          </a:solidFill>
                          <a:latin typeface="Calibri" pitchFamily="34" charset="0"/>
                          <a:ea typeface="Calibri" pitchFamily="34" charset="-122"/>
                          <a:cs typeface="Calibri" pitchFamily="34" charset="-120"/>
                        </a:rPr>
                        <a:t>EW auto-activation</a:t>
                      </a:r>
                      <a:endParaRPr lang="en-US" sz="1400" dirty="0">
                        <a:latin typeface="Calibri" charset="0"/>
                        <a:ea typeface="Calibri" charset="0"/>
                        <a:cs typeface="Calibri" charset="0"/>
                      </a:endParaRPr>
                    </a:p>
                  </a:txBody>
                  <a:tcPr marL="109728" marR="109728" marT="36576" marB="36576" anchor="ctr">
                    <a:lnL w="9525" cap="flat" cmpd="sng" algn="ctr">
                      <a:solidFill>
                        <a:srgbClr val="22334F"/>
                      </a:solidFill>
                      <a:prstDash val="solid"/>
                      <a:round/>
                      <a:headEnd type="none" w="med" len="med"/>
                      <a:tailEnd type="none" w="med" len="med"/>
                    </a:lnL>
                    <a:lnR w="9525" cap="flat" cmpd="sng" algn="ctr">
                      <a:solidFill>
                        <a:srgbClr val="22334F"/>
                      </a:solidFill>
                      <a:prstDash val="solid"/>
                      <a:round/>
                      <a:headEnd type="none" w="med" len="med"/>
                      <a:tailEnd type="none" w="med" len="med"/>
                    </a:lnR>
                    <a:lnT w="9525" cap="flat" cmpd="sng" algn="ctr">
                      <a:solidFill>
                        <a:srgbClr val="22334F"/>
                      </a:solidFill>
                      <a:prstDash val="solid"/>
                      <a:round/>
                      <a:headEnd type="none" w="med" len="med"/>
                      <a:tailEnd type="none" w="med" len="med"/>
                    </a:lnT>
                    <a:lnB w="9525" cap="flat" cmpd="sng" algn="ctr">
                      <a:solidFill>
                        <a:srgbClr val="22334F"/>
                      </a:solidFill>
                      <a:prstDash val="solid"/>
                      <a:round/>
                      <a:headEnd type="none" w="med" len="med"/>
                      <a:tailEnd type="none" w="med" len="med"/>
                    </a:lnB>
                    <a:solidFill>
                      <a:srgbClr val="111B2E"/>
                    </a:solidFill>
                  </a:tcPr>
                </a:tc>
                <a:tc>
                  <a:txBody>
                    <a:bodyPr/>
                    <a:lstStyle/>
                    <a:p>
                      <a:pPr indent="0" marL="0">
                        <a:buNone/>
                      </a:pPr>
                      <a:r>
                        <a:rPr lang="en-US" sz="1400" dirty="0">
                          <a:solidFill>
                            <a:srgbClr val="EDE8DC"/>
                          </a:solidFill>
                          <a:latin typeface="Calibri" pitchFamily="34" charset="0"/>
                          <a:ea typeface="Calibri" pitchFamily="34" charset="-122"/>
                          <a:cs typeface="Calibri" pitchFamily="34" charset="-120"/>
                        </a:rPr>
                        <a:t>MT-30 connector</a:t>
                      </a:r>
                      <a:endParaRPr lang="en-US" sz="1400" dirty="0">
                        <a:latin typeface="Calibri" charset="0"/>
                        <a:ea typeface="Calibri" charset="0"/>
                        <a:cs typeface="Calibri" charset="0"/>
                      </a:endParaRPr>
                    </a:p>
                  </a:txBody>
                  <a:tcPr marL="109728" marR="109728" marT="36576" marB="36576" anchor="ctr">
                    <a:lnL w="9525" cap="flat" cmpd="sng" algn="ctr">
                      <a:solidFill>
                        <a:srgbClr val="22334F"/>
                      </a:solidFill>
                      <a:prstDash val="solid"/>
                      <a:round/>
                      <a:headEnd type="none" w="med" len="med"/>
                      <a:tailEnd type="none" w="med" len="med"/>
                    </a:lnL>
                    <a:lnR w="9525" cap="flat" cmpd="sng" algn="ctr">
                      <a:solidFill>
                        <a:srgbClr val="22334F"/>
                      </a:solidFill>
                      <a:prstDash val="solid"/>
                      <a:round/>
                      <a:headEnd type="none" w="med" len="med"/>
                      <a:tailEnd type="none" w="med" len="med"/>
                    </a:lnR>
                    <a:lnT w="9525" cap="flat" cmpd="sng" algn="ctr">
                      <a:solidFill>
                        <a:srgbClr val="22334F"/>
                      </a:solidFill>
                      <a:prstDash val="solid"/>
                      <a:round/>
                      <a:headEnd type="none" w="med" len="med"/>
                      <a:tailEnd type="none" w="med" len="med"/>
                    </a:lnT>
                    <a:lnB w="9525" cap="flat" cmpd="sng" algn="ctr">
                      <a:solidFill>
                        <a:srgbClr val="22334F"/>
                      </a:solidFill>
                      <a:prstDash val="solid"/>
                      <a:round/>
                      <a:headEnd type="none" w="med" len="med"/>
                      <a:tailEnd type="none" w="med" len="med"/>
                    </a:lnB>
                    <a:solidFill>
                      <a:srgbClr val="111B2E"/>
                    </a:solidFill>
                  </a:tcPr>
                </a:tc>
              </a:tr>
            </a:tbl>
          </a:graphicData>
        </a:graphic>
      </p:graphicFrame>
      <p:sp>
        <p:nvSpPr>
          <p:cNvPr id="25" name="Slide Number Placeholder 0"/>
          <p:cNvSpPr>
            <a:spLocks noGrp="1"/>
          </p:cNvSpPr>
          <p:nvPr>
            <p:ph type="sldNum" sz="quarter" idx="4294967295"/>
          </p:nvPr>
        </p:nvSpPr>
        <p:spPr>
          <a:xfrm>
            <a:off x="10820095" y="20116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A25D"/>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640080" y="777240"/>
            <a:ext cx="8229600" cy="274320"/>
          </a:xfrm>
          <a:prstGeom prst="rect">
            <a:avLst/>
          </a:prstGeom>
          <a:noFill/>
          <a:ln/>
        </p:spPr>
        <p:txBody>
          <a:bodyPr wrap="square" lIns="0" tIns="0" rIns="0" bIns="0" rtlCol="0" anchor="ctr"/>
          <a:lstStyle/>
          <a:p>
            <a:pPr indent="0" marL="0">
              <a:buNone/>
            </a:pPr>
            <a:r>
              <a:rPr lang="en-US" sz="1200" b="1" spc="400" kern="0" dirty="0">
                <a:solidFill>
                  <a:srgbClr val="C2A25D"/>
                </a:solidFill>
                <a:latin typeface="Calibri" pitchFamily="34" charset="0"/>
                <a:ea typeface="Calibri" pitchFamily="34" charset="-122"/>
                <a:cs typeface="Calibri" pitchFamily="34" charset="-120"/>
              </a:rPr>
              <a:t>KOZHAN 4.0</a:t>
            </a:r>
            <a:endParaRPr lang="en-US" sz="1200" dirty="0"/>
          </a:p>
        </p:txBody>
      </p:sp>
      <p:sp>
        <p:nvSpPr>
          <p:cNvPr id="3" name="Title"/>
          <p:cNvSpPr txBox="1"/>
          <p:nvPr/>
        </p:nvSpPr>
        <p:spPr>
          <a:xfrm>
            <a:off x="640080" y="1051560"/>
            <a:ext cx="10515600" cy="822960"/>
          </a:xfrm>
          <a:prstGeom prst="rect">
            <a:avLst/>
          </a:prstGeom>
          <a:noFill/>
          <a:ln/>
        </p:spPr>
        <p:txBody>
          <a:bodyPr wrap="square" lIns="0" tIns="0" rIns="0" bIns="0" rtlCol="0" anchor="t"/>
          <a:lstStyle/>
          <a:p>
            <a:pPr indent="0" marL="0">
              <a:buNone/>
            </a:pPr>
            <a:r>
              <a:rPr lang="en-US" sz="3600" b="1" dirty="0">
                <a:solidFill>
                  <a:srgbClr val="EDE8DC"/>
                </a:solidFill>
                <a:latin typeface="Cambria" pitchFamily="34" charset="0"/>
                <a:ea typeface="Cambria" pitchFamily="34" charset="-122"/>
                <a:cs typeface="Cambria" pitchFamily="34" charset="-120"/>
              </a:rPr>
              <a:t>Complete kit, ready for the field</a:t>
            </a:r>
            <a:endParaRPr lang="en-US" sz="3600" dirty="0"/>
          </a:p>
        </p:txBody>
      </p:sp>
      <p:pic>
        <p:nvPicPr>
          <p:cNvPr id="4" name="Image 0" descr="KOZHAN 4.0 with antennas">    </p:cNvPr>
          <p:cNvPicPr>
            <a:picLocks noChangeAspect="1"/>
          </p:cNvPicPr>
          <p:nvPr/>
        </p:nvPicPr>
        <p:blipFill>
          <a:blip r:embed="rId1"/>
          <a:stretch>
            <a:fillRect/>
          </a:stretch>
        </p:blipFill>
        <p:spPr>
          <a:xfrm>
            <a:off x="670397" y="2011680"/>
            <a:ext cx="2316806" cy="4206240"/>
          </a:xfrm>
          <a:prstGeom prst="rect">
            <a:avLst/>
          </a:prstGeom>
        </p:spPr>
      </p:pic>
      <p:sp>
        <p:nvSpPr>
          <p:cNvPr id="5" name="Kit panel"/>
          <p:cNvSpPr/>
          <p:nvPr/>
        </p:nvSpPr>
        <p:spPr>
          <a:xfrm>
            <a:off x="3246120" y="2103120"/>
            <a:ext cx="2697480" cy="4114800"/>
          </a:xfrm>
          <a:prstGeom prst="rect">
            <a:avLst/>
          </a:prstGeom>
          <a:solidFill>
            <a:srgbClr val="111B2E"/>
          </a:solidFill>
          <a:ln w="9525">
            <a:solidFill>
              <a:srgbClr val="22334F"/>
            </a:solidFill>
            <a:prstDash val="solid"/>
          </a:ln>
        </p:spPr>
      </p:sp>
      <p:sp>
        <p:nvSpPr>
          <p:cNvPr id="6" name="Text 3"/>
          <p:cNvSpPr txBox="1"/>
          <p:nvPr/>
        </p:nvSpPr>
        <p:spPr>
          <a:xfrm>
            <a:off x="3474720" y="2286000"/>
            <a:ext cx="2286000" cy="274320"/>
          </a:xfrm>
          <a:prstGeom prst="rect">
            <a:avLst/>
          </a:prstGeom>
          <a:noFill/>
          <a:ln/>
        </p:spPr>
        <p:txBody>
          <a:bodyPr wrap="square" lIns="0" tIns="0" rIns="0" bIns="0" rtlCol="0" anchor="ctr"/>
          <a:lstStyle/>
          <a:p>
            <a:pPr indent="0" marL="0">
              <a:buNone/>
            </a:pPr>
            <a:r>
              <a:rPr lang="en-US" sz="1200" b="1" spc="300" kern="0" dirty="0">
                <a:solidFill>
                  <a:srgbClr val="C2A25D"/>
                </a:solidFill>
                <a:latin typeface="Calibri" pitchFamily="34" charset="0"/>
                <a:ea typeface="Calibri" pitchFamily="34" charset="-122"/>
                <a:cs typeface="Calibri" pitchFamily="34" charset="-120"/>
              </a:rPr>
              <a:t>DELIVERY SET</a:t>
            </a:r>
            <a:endParaRPr lang="en-US" sz="1200" dirty="0"/>
          </a:p>
        </p:txBody>
      </p:sp>
      <p:sp>
        <p:nvSpPr>
          <p:cNvPr id="7" name="Text 4"/>
          <p:cNvSpPr txBox="1"/>
          <p:nvPr/>
        </p:nvSpPr>
        <p:spPr>
          <a:xfrm>
            <a:off x="3474720" y="2697480"/>
            <a:ext cx="2286000" cy="33832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EDE8DC"/>
                </a:solidFill>
                <a:latin typeface="Calibri" pitchFamily="34" charset="0"/>
                <a:ea typeface="Calibri" pitchFamily="34" charset="-122"/>
                <a:cs typeface="Calibri" pitchFamily="34" charset="-120"/>
              </a:rPr>
              <a:t>4-band receiver 1G+3G+5G+6G in a solid case</a:t>
            </a:r>
            <a:endParaRPr lang="en-US" sz="1500" dirty="0"/>
          </a:p>
          <a:p>
            <a:pPr marL="342900" indent="-342900">
              <a:spcAft>
                <a:spcPts val="600"/>
              </a:spcAft>
              <a:buSzPct val="100000"/>
              <a:buChar char="•"/>
            </a:pPr>
            <a:r>
              <a:rPr lang="en-US" sz="1500" dirty="0">
                <a:solidFill>
                  <a:srgbClr val="EDE8DC"/>
                </a:solidFill>
                <a:latin typeface="Calibri" pitchFamily="34" charset="0"/>
                <a:ea typeface="Calibri" pitchFamily="34" charset="-122"/>
                <a:cs typeface="Calibri" pitchFamily="34" charset="-120"/>
              </a:rPr>
              <a:t>Antennas 1G, 3G, 5G, 6G</a:t>
            </a:r>
            <a:endParaRPr lang="en-US" sz="1500" dirty="0"/>
          </a:p>
          <a:p>
            <a:pPr marL="342900" indent="-342900">
              <a:spcAft>
                <a:spcPts val="600"/>
              </a:spcAft>
              <a:buSzPct val="100000"/>
              <a:buChar char="•"/>
            </a:pPr>
            <a:r>
              <a:rPr lang="en-US" sz="1500" dirty="0">
                <a:solidFill>
                  <a:srgbClr val="EDE8DC"/>
                </a:solidFill>
                <a:latin typeface="Calibri" pitchFamily="34" charset="0"/>
                <a:ea typeface="Calibri" pitchFamily="34" charset="-122"/>
                <a:cs typeface="Calibri" pitchFamily="34" charset="-120"/>
              </a:rPr>
              <a:t>USB-C charging cable</a:t>
            </a:r>
            <a:endParaRPr lang="en-US" sz="1500" dirty="0"/>
          </a:p>
          <a:p>
            <a:pPr marL="342900" indent="-342900">
              <a:spcAft>
                <a:spcPts val="600"/>
              </a:spcAft>
              <a:buSzPct val="100000"/>
              <a:buChar char="•"/>
            </a:pPr>
            <a:r>
              <a:rPr lang="en-US" sz="1500" dirty="0">
                <a:solidFill>
                  <a:srgbClr val="EDE8DC"/>
                </a:solidFill>
                <a:latin typeface="Calibri" pitchFamily="34" charset="0"/>
                <a:ea typeface="Calibri" pitchFamily="34" charset="-122"/>
                <a:cs typeface="Calibri" pitchFamily="34" charset="-120"/>
              </a:rPr>
              <a:t>Device mount</a:t>
            </a:r>
            <a:endParaRPr lang="en-US" sz="1500" dirty="0"/>
          </a:p>
          <a:p>
            <a:pPr marL="342900" indent="-342900">
              <a:spcAft>
                <a:spcPts val="600"/>
              </a:spcAft>
              <a:buSzPct val="100000"/>
              <a:buChar char="•"/>
            </a:pPr>
            <a:r>
              <a:rPr lang="en-US" sz="1500" dirty="0">
                <a:solidFill>
                  <a:srgbClr val="EDE8DC"/>
                </a:solidFill>
                <a:latin typeface="Calibri" pitchFamily="34" charset="0"/>
                <a:ea typeface="Calibri" pitchFamily="34" charset="-122"/>
                <a:cs typeface="Calibri" pitchFamily="34" charset="-120"/>
              </a:rPr>
              <a:t>Velcro strap set</a:t>
            </a:r>
            <a:endParaRPr lang="en-US" sz="1500" dirty="0"/>
          </a:p>
        </p:txBody>
      </p:sp>
      <p:sp>
        <p:nvSpPr>
          <p:cNvPr id="8" name="Interfaces panel"/>
          <p:cNvSpPr/>
          <p:nvPr/>
        </p:nvSpPr>
        <p:spPr>
          <a:xfrm>
            <a:off x="6126480" y="2103120"/>
            <a:ext cx="2697480" cy="4114800"/>
          </a:xfrm>
          <a:prstGeom prst="rect">
            <a:avLst/>
          </a:prstGeom>
          <a:solidFill>
            <a:srgbClr val="111B2E"/>
          </a:solidFill>
          <a:ln w="9525">
            <a:solidFill>
              <a:srgbClr val="22334F"/>
            </a:solidFill>
            <a:prstDash val="solid"/>
          </a:ln>
        </p:spPr>
      </p:sp>
      <p:sp>
        <p:nvSpPr>
          <p:cNvPr id="9" name="Text 6"/>
          <p:cNvSpPr txBox="1"/>
          <p:nvPr/>
        </p:nvSpPr>
        <p:spPr>
          <a:xfrm>
            <a:off x="6355080" y="2286000"/>
            <a:ext cx="2286000" cy="274320"/>
          </a:xfrm>
          <a:prstGeom prst="rect">
            <a:avLst/>
          </a:prstGeom>
          <a:noFill/>
          <a:ln/>
        </p:spPr>
        <p:txBody>
          <a:bodyPr wrap="square" lIns="0" tIns="0" rIns="0" bIns="0" rtlCol="0" anchor="ctr"/>
          <a:lstStyle/>
          <a:p>
            <a:pPr indent="0" marL="0">
              <a:buNone/>
            </a:pPr>
            <a:r>
              <a:rPr lang="en-US" sz="1200" b="1" spc="300" kern="0" dirty="0">
                <a:solidFill>
                  <a:srgbClr val="C2A25D"/>
                </a:solidFill>
                <a:latin typeface="Calibri" pitchFamily="34" charset="0"/>
                <a:ea typeface="Calibri" pitchFamily="34" charset="-122"/>
                <a:cs typeface="Calibri" pitchFamily="34" charset="-120"/>
              </a:rPr>
              <a:t>INTERFACES</a:t>
            </a:r>
            <a:endParaRPr lang="en-US" sz="1200" dirty="0"/>
          </a:p>
        </p:txBody>
      </p:sp>
      <p:sp>
        <p:nvSpPr>
          <p:cNvPr id="10" name="IconRing"/>
          <p:cNvSpPr/>
          <p:nvPr/>
        </p:nvSpPr>
        <p:spPr>
          <a:xfrm>
            <a:off x="6355080" y="2788920"/>
            <a:ext cx="502920" cy="502920"/>
          </a:xfrm>
          <a:prstGeom prst="ellipse">
            <a:avLst/>
          </a:prstGeom>
          <a:solidFill>
            <a:srgbClr val="0B1220"/>
          </a:solidFill>
          <a:ln w="12700">
            <a:solidFill>
              <a:srgbClr val="C2A25D"/>
            </a:solidFill>
            <a:prstDash val="solid"/>
          </a:ln>
        </p:spPr>
      </p:sp>
      <p:pic>
        <p:nvPicPr>
          <p:cNvPr id="11" name="Image 1" descr="icon">    </p:cNvPr>
          <p:cNvPicPr>
            <a:picLocks noChangeAspect="1"/>
          </p:cNvPicPr>
          <p:nvPr/>
        </p:nvPicPr>
        <p:blipFill>
          <a:blip r:embed="rId2"/>
          <a:stretch>
            <a:fillRect/>
          </a:stretch>
        </p:blipFill>
        <p:spPr>
          <a:xfrm>
            <a:off x="6490868" y="2924708"/>
            <a:ext cx="231343" cy="231343"/>
          </a:xfrm>
          <a:prstGeom prst="rect">
            <a:avLst/>
          </a:prstGeom>
        </p:spPr>
      </p:pic>
      <p:sp>
        <p:nvSpPr>
          <p:cNvPr id="12" name="Text 8"/>
          <p:cNvSpPr txBox="1"/>
          <p:nvPr/>
        </p:nvSpPr>
        <p:spPr>
          <a:xfrm>
            <a:off x="7040880" y="2770632"/>
            <a:ext cx="1645920" cy="292608"/>
          </a:xfrm>
          <a:prstGeom prst="rect">
            <a:avLst/>
          </a:prstGeom>
          <a:noFill/>
          <a:ln/>
        </p:spPr>
        <p:txBody>
          <a:bodyPr wrap="square" lIns="0" tIns="0" rIns="0" bIns="0" rtlCol="0" anchor="ctr"/>
          <a:lstStyle/>
          <a:p>
            <a:pPr indent="0" marL="0">
              <a:buNone/>
            </a:pPr>
            <a:r>
              <a:rPr lang="en-US" sz="1700" b="1" dirty="0">
                <a:solidFill>
                  <a:srgbClr val="EDE8DC"/>
                </a:solidFill>
                <a:latin typeface="Cambria" pitchFamily="34" charset="0"/>
                <a:ea typeface="Cambria" pitchFamily="34" charset="-122"/>
                <a:cs typeface="Cambria" pitchFamily="34" charset="-120"/>
              </a:rPr>
              <a:t>AV</a:t>
            </a:r>
            <a:endParaRPr lang="en-US" sz="1700" dirty="0"/>
          </a:p>
        </p:txBody>
      </p:sp>
      <p:sp>
        <p:nvSpPr>
          <p:cNvPr id="13" name="Text 9"/>
          <p:cNvSpPr txBox="1"/>
          <p:nvPr/>
        </p:nvSpPr>
        <p:spPr>
          <a:xfrm>
            <a:off x="7040880" y="3081528"/>
            <a:ext cx="1691640" cy="548640"/>
          </a:xfrm>
          <a:prstGeom prst="rect">
            <a:avLst/>
          </a:prstGeom>
          <a:noFill/>
          <a:ln/>
        </p:spPr>
        <p:txBody>
          <a:bodyPr wrap="square" lIns="0" tIns="0" rIns="0" bIns="0" rtlCol="0" anchor="t"/>
          <a:lstStyle/>
          <a:p>
            <a:pPr indent="0" marL="0">
              <a:buNone/>
            </a:pPr>
            <a:r>
              <a:rPr lang="en-US" sz="1200" dirty="0">
                <a:solidFill>
                  <a:srgbClr val="98A4B8"/>
                </a:solidFill>
                <a:latin typeface="Calibri" pitchFamily="34" charset="0"/>
                <a:ea typeface="Calibri" pitchFamily="34" charset="-122"/>
                <a:cs typeface="Calibri" pitchFamily="34" charset="-120"/>
              </a:rPr>
              <a:t>External display</a:t>
            </a:r>
            <a:endParaRPr lang="en-US" sz="1200" dirty="0"/>
          </a:p>
        </p:txBody>
      </p:sp>
      <p:sp>
        <p:nvSpPr>
          <p:cNvPr id="14" name="IconRing"/>
          <p:cNvSpPr/>
          <p:nvPr/>
        </p:nvSpPr>
        <p:spPr>
          <a:xfrm>
            <a:off x="6355080" y="3886200"/>
            <a:ext cx="502920" cy="502920"/>
          </a:xfrm>
          <a:prstGeom prst="ellipse">
            <a:avLst/>
          </a:prstGeom>
          <a:solidFill>
            <a:srgbClr val="0B1220"/>
          </a:solidFill>
          <a:ln w="12700">
            <a:solidFill>
              <a:srgbClr val="C2A25D"/>
            </a:solidFill>
            <a:prstDash val="solid"/>
          </a:ln>
        </p:spPr>
      </p:sp>
      <p:pic>
        <p:nvPicPr>
          <p:cNvPr id="15" name="Image 2" descr="icon">    </p:cNvPr>
          <p:cNvPicPr>
            <a:picLocks noChangeAspect="1"/>
          </p:cNvPicPr>
          <p:nvPr/>
        </p:nvPicPr>
        <p:blipFill>
          <a:blip r:embed="rId3"/>
          <a:stretch>
            <a:fillRect/>
          </a:stretch>
        </p:blipFill>
        <p:spPr>
          <a:xfrm>
            <a:off x="6490868" y="4021988"/>
            <a:ext cx="231343" cy="231343"/>
          </a:xfrm>
          <a:prstGeom prst="rect">
            <a:avLst/>
          </a:prstGeom>
        </p:spPr>
      </p:pic>
      <p:sp>
        <p:nvSpPr>
          <p:cNvPr id="16" name="Text 11"/>
          <p:cNvSpPr txBox="1"/>
          <p:nvPr/>
        </p:nvSpPr>
        <p:spPr>
          <a:xfrm>
            <a:off x="7040880" y="3867912"/>
            <a:ext cx="1645920" cy="292608"/>
          </a:xfrm>
          <a:prstGeom prst="rect">
            <a:avLst/>
          </a:prstGeom>
          <a:noFill/>
          <a:ln/>
        </p:spPr>
        <p:txBody>
          <a:bodyPr wrap="square" lIns="0" tIns="0" rIns="0" bIns="0" rtlCol="0" anchor="ctr"/>
          <a:lstStyle/>
          <a:p>
            <a:pPr indent="0" marL="0">
              <a:buNone/>
            </a:pPr>
            <a:r>
              <a:rPr lang="en-US" sz="1700" b="1" dirty="0">
                <a:solidFill>
                  <a:srgbClr val="EDE8DC"/>
                </a:solidFill>
                <a:latin typeface="Cambria" pitchFamily="34" charset="0"/>
                <a:ea typeface="Cambria" pitchFamily="34" charset="-122"/>
                <a:cs typeface="Cambria" pitchFamily="34" charset="-120"/>
              </a:rPr>
              <a:t>USB-C</a:t>
            </a:r>
            <a:endParaRPr lang="en-US" sz="1700" dirty="0"/>
          </a:p>
        </p:txBody>
      </p:sp>
      <p:sp>
        <p:nvSpPr>
          <p:cNvPr id="17" name="Text 12"/>
          <p:cNvSpPr txBox="1"/>
          <p:nvPr/>
        </p:nvSpPr>
        <p:spPr>
          <a:xfrm>
            <a:off x="7040880" y="4178808"/>
            <a:ext cx="1691640" cy="548640"/>
          </a:xfrm>
          <a:prstGeom prst="rect">
            <a:avLst/>
          </a:prstGeom>
          <a:noFill/>
          <a:ln/>
        </p:spPr>
        <p:txBody>
          <a:bodyPr wrap="square" lIns="0" tIns="0" rIns="0" bIns="0" rtlCol="0" anchor="t"/>
          <a:lstStyle/>
          <a:p>
            <a:pPr indent="0" marL="0">
              <a:buNone/>
            </a:pPr>
            <a:r>
              <a:rPr lang="en-US" sz="1200" dirty="0">
                <a:solidFill>
                  <a:srgbClr val="98A4B8"/>
                </a:solidFill>
                <a:latin typeface="Calibri" pitchFamily="34" charset="0"/>
                <a:ea typeface="Calibri" pitchFamily="34" charset="-122"/>
                <a:cs typeface="Calibri" pitchFamily="34" charset="-120"/>
              </a:rPr>
              <a:t>Charging</a:t>
            </a:r>
            <a:endParaRPr lang="en-US" sz="1200" dirty="0"/>
          </a:p>
        </p:txBody>
      </p:sp>
      <p:sp>
        <p:nvSpPr>
          <p:cNvPr id="18" name="IconRing"/>
          <p:cNvSpPr/>
          <p:nvPr/>
        </p:nvSpPr>
        <p:spPr>
          <a:xfrm>
            <a:off x="6355080" y="4983480"/>
            <a:ext cx="502920" cy="502920"/>
          </a:xfrm>
          <a:prstGeom prst="ellipse">
            <a:avLst/>
          </a:prstGeom>
          <a:solidFill>
            <a:srgbClr val="0B1220"/>
          </a:solidFill>
          <a:ln w="12700">
            <a:solidFill>
              <a:srgbClr val="C2A25D"/>
            </a:solidFill>
            <a:prstDash val="solid"/>
          </a:ln>
        </p:spPr>
      </p:sp>
      <p:pic>
        <p:nvPicPr>
          <p:cNvPr id="19" name="Image 3" descr="icon">    </p:cNvPr>
          <p:cNvPicPr>
            <a:picLocks noChangeAspect="1"/>
          </p:cNvPicPr>
          <p:nvPr/>
        </p:nvPicPr>
        <p:blipFill>
          <a:blip r:embed="rId4"/>
          <a:stretch>
            <a:fillRect/>
          </a:stretch>
        </p:blipFill>
        <p:spPr>
          <a:xfrm>
            <a:off x="6490868" y="5119268"/>
            <a:ext cx="231343" cy="231343"/>
          </a:xfrm>
          <a:prstGeom prst="rect">
            <a:avLst/>
          </a:prstGeom>
        </p:spPr>
      </p:pic>
      <p:sp>
        <p:nvSpPr>
          <p:cNvPr id="20" name="Text 14"/>
          <p:cNvSpPr txBox="1"/>
          <p:nvPr/>
        </p:nvSpPr>
        <p:spPr>
          <a:xfrm>
            <a:off x="7040880" y="4965192"/>
            <a:ext cx="1645920" cy="292608"/>
          </a:xfrm>
          <a:prstGeom prst="rect">
            <a:avLst/>
          </a:prstGeom>
          <a:noFill/>
          <a:ln/>
        </p:spPr>
        <p:txBody>
          <a:bodyPr wrap="square" lIns="0" tIns="0" rIns="0" bIns="0" rtlCol="0" anchor="ctr"/>
          <a:lstStyle/>
          <a:p>
            <a:pPr indent="0" marL="0">
              <a:buNone/>
            </a:pPr>
            <a:r>
              <a:rPr lang="en-US" sz="1700" b="1" dirty="0">
                <a:solidFill>
                  <a:srgbClr val="EDE8DC"/>
                </a:solidFill>
                <a:latin typeface="Cambria" pitchFamily="34" charset="0"/>
                <a:ea typeface="Cambria" pitchFamily="34" charset="-122"/>
                <a:cs typeface="Cambria" pitchFamily="34" charset="-120"/>
              </a:rPr>
              <a:t>MT-30</a:t>
            </a:r>
            <a:endParaRPr lang="en-US" sz="1700" dirty="0"/>
          </a:p>
        </p:txBody>
      </p:sp>
      <p:sp>
        <p:nvSpPr>
          <p:cNvPr id="21" name="Text 15"/>
          <p:cNvSpPr txBox="1"/>
          <p:nvPr/>
        </p:nvSpPr>
        <p:spPr>
          <a:xfrm>
            <a:off x="7040880" y="5276088"/>
            <a:ext cx="1691640" cy="548640"/>
          </a:xfrm>
          <a:prstGeom prst="rect">
            <a:avLst/>
          </a:prstGeom>
          <a:noFill/>
          <a:ln/>
        </p:spPr>
        <p:txBody>
          <a:bodyPr wrap="square" lIns="0" tIns="0" rIns="0" bIns="0" rtlCol="0" anchor="t"/>
          <a:lstStyle/>
          <a:p>
            <a:pPr indent="0" marL="0">
              <a:buNone/>
            </a:pPr>
            <a:r>
              <a:rPr lang="en-US" sz="1200" dirty="0">
                <a:solidFill>
                  <a:srgbClr val="98A4B8"/>
                </a:solidFill>
                <a:latin typeface="Calibri" pitchFamily="34" charset="0"/>
                <a:ea typeface="Calibri" pitchFamily="34" charset="-122"/>
                <a:cs typeface="Calibri" pitchFamily="34" charset="-120"/>
              </a:rPr>
              <a:t>Auto-start of EW system</a:t>
            </a:r>
            <a:endParaRPr lang="en-US" sz="1200" dirty="0"/>
          </a:p>
        </p:txBody>
      </p:sp>
      <p:sp>
        <p:nvSpPr>
          <p:cNvPr id="22" name="Accessory panel"/>
          <p:cNvSpPr/>
          <p:nvPr/>
        </p:nvSpPr>
        <p:spPr>
          <a:xfrm>
            <a:off x="9006840" y="2103120"/>
            <a:ext cx="2542032" cy="4114800"/>
          </a:xfrm>
          <a:prstGeom prst="rect">
            <a:avLst/>
          </a:prstGeom>
          <a:solidFill>
            <a:srgbClr val="111B2E"/>
          </a:solidFill>
          <a:ln w="9525">
            <a:solidFill>
              <a:srgbClr val="22334F"/>
            </a:solidFill>
            <a:prstDash val="solid"/>
          </a:ln>
        </p:spPr>
      </p:sp>
      <p:sp>
        <p:nvSpPr>
          <p:cNvPr id="23" name="Text 17"/>
          <p:cNvSpPr txBox="1"/>
          <p:nvPr/>
        </p:nvSpPr>
        <p:spPr>
          <a:xfrm>
            <a:off x="9235440" y="2286000"/>
            <a:ext cx="2194560" cy="274320"/>
          </a:xfrm>
          <a:prstGeom prst="rect">
            <a:avLst/>
          </a:prstGeom>
          <a:noFill/>
          <a:ln/>
        </p:spPr>
        <p:txBody>
          <a:bodyPr wrap="square" lIns="0" tIns="0" rIns="0" bIns="0" rtlCol="0" anchor="ctr"/>
          <a:lstStyle/>
          <a:p>
            <a:pPr indent="0" marL="0">
              <a:buNone/>
            </a:pPr>
            <a:r>
              <a:rPr lang="en-US" sz="1200" b="1" spc="300" kern="0" dirty="0">
                <a:solidFill>
                  <a:srgbClr val="C2A25D"/>
                </a:solidFill>
                <a:latin typeface="Calibri" pitchFamily="34" charset="0"/>
                <a:ea typeface="Calibri" pitchFamily="34" charset="-122"/>
                <a:cs typeface="Calibri" pitchFamily="34" charset="-120"/>
              </a:rPr>
              <a:t>ACCESSORY</a:t>
            </a:r>
            <a:endParaRPr lang="en-US" sz="1200" dirty="0"/>
          </a:p>
        </p:txBody>
      </p:sp>
      <p:pic>
        <p:nvPicPr>
          <p:cNvPr id="24" name="Image 4" descr="Active remote antenna">    </p:cNvPr>
          <p:cNvPicPr>
            <a:picLocks noChangeAspect="1"/>
          </p:cNvPicPr>
          <p:nvPr/>
        </p:nvPicPr>
        <p:blipFill>
          <a:blip r:embed="rId5"/>
          <a:stretch>
            <a:fillRect/>
          </a:stretch>
        </p:blipFill>
        <p:spPr>
          <a:xfrm>
            <a:off x="9144000" y="2722626"/>
            <a:ext cx="2286000" cy="864108"/>
          </a:xfrm>
          <a:prstGeom prst="rect">
            <a:avLst/>
          </a:prstGeom>
        </p:spPr>
      </p:pic>
      <p:sp>
        <p:nvSpPr>
          <p:cNvPr id="25" name="Text 18"/>
          <p:cNvSpPr txBox="1"/>
          <p:nvPr/>
        </p:nvSpPr>
        <p:spPr>
          <a:xfrm>
            <a:off x="9235440" y="3749040"/>
            <a:ext cx="2194560" cy="320040"/>
          </a:xfrm>
          <a:prstGeom prst="rect">
            <a:avLst/>
          </a:prstGeom>
          <a:noFill/>
          <a:ln/>
        </p:spPr>
        <p:txBody>
          <a:bodyPr wrap="square" lIns="0" tIns="0" rIns="0" bIns="0" rtlCol="0" anchor="ctr"/>
          <a:lstStyle/>
          <a:p>
            <a:pPr indent="0" marL="0">
              <a:buNone/>
            </a:pPr>
            <a:r>
              <a:rPr lang="en-US" sz="1600" b="1" dirty="0">
                <a:solidFill>
                  <a:srgbClr val="EDE8DC"/>
                </a:solidFill>
                <a:latin typeface="Cambria" pitchFamily="34" charset="0"/>
                <a:ea typeface="Cambria" pitchFamily="34" charset="-122"/>
                <a:cs typeface="Cambria" pitchFamily="34" charset="-120"/>
              </a:rPr>
              <a:t>Active remote antenna</a:t>
            </a:r>
            <a:endParaRPr lang="en-US" sz="1600" dirty="0"/>
          </a:p>
        </p:txBody>
      </p:sp>
      <p:sp>
        <p:nvSpPr>
          <p:cNvPr id="26" name="Text 19"/>
          <p:cNvSpPr txBox="1"/>
          <p:nvPr/>
        </p:nvSpPr>
        <p:spPr>
          <a:xfrm>
            <a:off x="9235440" y="4160520"/>
            <a:ext cx="2194560" cy="1920240"/>
          </a:xfrm>
          <a:prstGeom prst="rect">
            <a:avLst/>
          </a:prstGeom>
          <a:noFill/>
          <a:ln/>
        </p:spPr>
        <p:txBody>
          <a:bodyPr wrap="square" lIns="0" tIns="0" rIns="0" bIns="0" rtlCol="0" anchor="t"/>
          <a:lstStyle/>
          <a:p>
            <a:pPr indent="0" marL="0">
              <a:buNone/>
            </a:pPr>
            <a:r>
              <a:rPr lang="en-US" sz="1250" dirty="0">
                <a:solidFill>
                  <a:srgbClr val="98A4B8"/>
                </a:solidFill>
                <a:latin typeface="Calibri" pitchFamily="34" charset="0"/>
                <a:ea typeface="Calibri" pitchFamily="34" charset="-122"/>
                <a:cs typeface="Calibri" pitchFamily="34" charset="-120"/>
              </a:rPr>
              <a:t>Magnetic mount, four antenna channels with built-in amplifiers, 3 m RG316 cables. For KOZHAN 4.0 and 3.0.</a:t>
            </a:r>
            <a:endParaRPr lang="en-US" sz="1250" dirty="0"/>
          </a:p>
        </p:txBody>
      </p:sp>
      <p:sp>
        <p:nvSpPr>
          <p:cNvPr id="25" name="Slide Number Placeholder 0"/>
          <p:cNvSpPr>
            <a:spLocks noGrp="1"/>
          </p:cNvSpPr>
          <p:nvPr>
            <p:ph type="sldNum" sz="quarter" idx="4294967295"/>
          </p:nvPr>
        </p:nvSpPr>
        <p:spPr>
          <a:xfrm>
            <a:off x="10820095" y="20116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A25D"/>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640080" y="777240"/>
            <a:ext cx="8229600" cy="274320"/>
          </a:xfrm>
          <a:prstGeom prst="rect">
            <a:avLst/>
          </a:prstGeom>
          <a:noFill/>
          <a:ln/>
        </p:spPr>
        <p:txBody>
          <a:bodyPr wrap="square" lIns="0" tIns="0" rIns="0" bIns="0" rtlCol="0" anchor="ctr"/>
          <a:lstStyle/>
          <a:p>
            <a:pPr indent="0" marL="0">
              <a:buNone/>
            </a:pPr>
            <a:r>
              <a:rPr lang="en-US" sz="1200" b="1" spc="400" kern="0" dirty="0">
                <a:solidFill>
                  <a:srgbClr val="C2A25D"/>
                </a:solidFill>
                <a:latin typeface="Calibri" pitchFamily="34" charset="0"/>
                <a:ea typeface="Calibri" pitchFamily="34" charset="-122"/>
                <a:cs typeface="Calibri" pitchFamily="34" charset="-120"/>
              </a:rPr>
              <a:t>PRODUCT PORTFOLIO</a:t>
            </a:r>
            <a:endParaRPr lang="en-US" sz="1200" dirty="0"/>
          </a:p>
        </p:txBody>
      </p:sp>
      <p:sp>
        <p:nvSpPr>
          <p:cNvPr id="3" name="Title"/>
          <p:cNvSpPr txBox="1"/>
          <p:nvPr/>
        </p:nvSpPr>
        <p:spPr>
          <a:xfrm>
            <a:off x="640080" y="1051560"/>
            <a:ext cx="10515600" cy="822960"/>
          </a:xfrm>
          <a:prstGeom prst="rect">
            <a:avLst/>
          </a:prstGeom>
          <a:noFill/>
          <a:ln/>
        </p:spPr>
        <p:txBody>
          <a:bodyPr wrap="square" lIns="0" tIns="0" rIns="0" bIns="0" rtlCol="0" anchor="t"/>
          <a:lstStyle/>
          <a:p>
            <a:pPr indent="0" marL="0">
              <a:buNone/>
            </a:pPr>
            <a:r>
              <a:rPr lang="en-US" sz="3600" b="1" dirty="0">
                <a:solidFill>
                  <a:srgbClr val="EDE8DC"/>
                </a:solidFill>
                <a:latin typeface="Cambria" pitchFamily="34" charset="0"/>
                <a:ea typeface="Cambria" pitchFamily="34" charset="-122"/>
                <a:cs typeface="Cambria" pitchFamily="34" charset="-120"/>
              </a:rPr>
              <a:t>One ecosystem: detect, observe, suppress</a:t>
            </a:r>
            <a:endParaRPr lang="en-US" sz="3600" dirty="0"/>
          </a:p>
        </p:txBody>
      </p:sp>
      <p:sp>
        <p:nvSpPr>
          <p:cNvPr id="4" name="Text 2"/>
          <p:cNvSpPr txBox="1"/>
          <p:nvPr/>
        </p:nvSpPr>
        <p:spPr>
          <a:xfrm>
            <a:off x="640080" y="1627632"/>
            <a:ext cx="10515600" cy="320040"/>
          </a:xfrm>
          <a:prstGeom prst="rect">
            <a:avLst/>
          </a:prstGeom>
          <a:noFill/>
          <a:ln/>
        </p:spPr>
        <p:txBody>
          <a:bodyPr wrap="square" lIns="0" tIns="0" rIns="0" bIns="0" rtlCol="0" anchor="t"/>
          <a:lstStyle/>
          <a:p>
            <a:pPr indent="0" marL="0">
              <a:buNone/>
            </a:pPr>
            <a:r>
              <a:rPr lang="en-US" sz="1300" dirty="0">
                <a:solidFill>
                  <a:srgbClr val="98A4B8"/>
                </a:solidFill>
                <a:latin typeface="Calibri" pitchFamily="34" charset="0"/>
                <a:ea typeface="Calibri" pitchFamily="34" charset="-122"/>
                <a:cs typeface="Calibri" pitchFamily="34" charset="-120"/>
              </a:rPr>
              <a:t>Delfin and Kraken are in serial production and used in real operations; EW platforms can be started automatically by KOZHAN.</a:t>
            </a:r>
            <a:endParaRPr lang="en-US" sz="1300" dirty="0"/>
          </a:p>
        </p:txBody>
      </p:sp>
      <p:sp>
        <p:nvSpPr>
          <p:cNvPr id="5" name="Text 3"/>
          <p:cNvSpPr txBox="1"/>
          <p:nvPr/>
        </p:nvSpPr>
        <p:spPr>
          <a:xfrm>
            <a:off x="640080" y="1965960"/>
            <a:ext cx="5486400" cy="274320"/>
          </a:xfrm>
          <a:prstGeom prst="rect">
            <a:avLst/>
          </a:prstGeom>
          <a:noFill/>
          <a:ln/>
        </p:spPr>
        <p:txBody>
          <a:bodyPr wrap="square" lIns="0" tIns="0" rIns="0" bIns="0" rtlCol="0" anchor="ctr"/>
          <a:lstStyle/>
          <a:p>
            <a:pPr indent="0" marL="0">
              <a:buNone/>
            </a:pPr>
            <a:r>
              <a:rPr lang="en-US" sz="1200" b="1" spc="300" kern="0" dirty="0">
                <a:solidFill>
                  <a:srgbClr val="C2A25D"/>
                </a:solidFill>
                <a:latin typeface="Calibri" pitchFamily="34" charset="0"/>
                <a:ea typeface="Calibri" pitchFamily="34" charset="-122"/>
                <a:cs typeface="Calibri" pitchFamily="34" charset="-120"/>
              </a:rPr>
              <a:t>DETECTION AND SURVEILLANCE</a:t>
            </a:r>
            <a:endParaRPr lang="en-US" sz="1200" dirty="0"/>
          </a:p>
        </p:txBody>
      </p:sp>
      <p:sp>
        <p:nvSpPr>
          <p:cNvPr id="6" name="Product card"/>
          <p:cNvSpPr/>
          <p:nvPr/>
        </p:nvSpPr>
        <p:spPr>
          <a:xfrm>
            <a:off x="640080" y="2286000"/>
            <a:ext cx="3520440" cy="1783080"/>
          </a:xfrm>
          <a:prstGeom prst="rect">
            <a:avLst/>
          </a:prstGeom>
          <a:solidFill>
            <a:srgbClr val="111B2E"/>
          </a:solidFill>
          <a:ln w="9525">
            <a:solidFill>
              <a:srgbClr val="22334F"/>
            </a:solidFill>
            <a:prstDash val="solid"/>
          </a:ln>
        </p:spPr>
      </p:sp>
      <p:pic>
        <p:nvPicPr>
          <p:cNvPr id="7" name="Image 0" descr="KOZHAN 4.0">    </p:cNvPr>
          <p:cNvPicPr>
            <a:picLocks noChangeAspect="1"/>
          </p:cNvPicPr>
          <p:nvPr/>
        </p:nvPicPr>
        <p:blipFill>
          <a:blip r:embed="rId1"/>
          <a:stretch>
            <a:fillRect/>
          </a:stretch>
        </p:blipFill>
        <p:spPr>
          <a:xfrm>
            <a:off x="1049979" y="2395728"/>
            <a:ext cx="1100442" cy="1463040"/>
          </a:xfrm>
          <a:prstGeom prst="rect">
            <a:avLst/>
          </a:prstGeom>
        </p:spPr>
      </p:pic>
      <p:sp>
        <p:nvSpPr>
          <p:cNvPr id="8" name="Text 5"/>
          <p:cNvSpPr txBox="1"/>
          <p:nvPr/>
        </p:nvSpPr>
        <p:spPr>
          <a:xfrm>
            <a:off x="2468880" y="2606040"/>
            <a:ext cx="1600200" cy="365760"/>
          </a:xfrm>
          <a:prstGeom prst="rect">
            <a:avLst/>
          </a:prstGeom>
          <a:noFill/>
          <a:ln/>
        </p:spPr>
        <p:txBody>
          <a:bodyPr wrap="square" lIns="0" tIns="0" rIns="0" bIns="0" rtlCol="0" anchor="ctr"/>
          <a:lstStyle/>
          <a:p>
            <a:pPr indent="0" marL="0">
              <a:buNone/>
            </a:pPr>
            <a:r>
              <a:rPr lang="en-US" sz="1500" b="1" dirty="0">
                <a:solidFill>
                  <a:srgbClr val="EDE8DC"/>
                </a:solidFill>
                <a:latin typeface="Cambria" pitchFamily="34" charset="0"/>
                <a:ea typeface="Cambria" pitchFamily="34" charset="-122"/>
                <a:cs typeface="Cambria" pitchFamily="34" charset="-120"/>
              </a:rPr>
              <a:t>KOZHAN 4.0</a:t>
            </a:r>
            <a:endParaRPr lang="en-US" sz="1500" dirty="0"/>
          </a:p>
        </p:txBody>
      </p:sp>
      <p:sp>
        <p:nvSpPr>
          <p:cNvPr id="9" name="Text 6"/>
          <p:cNvSpPr txBox="1"/>
          <p:nvPr/>
        </p:nvSpPr>
        <p:spPr>
          <a:xfrm>
            <a:off x="2468880" y="3017520"/>
            <a:ext cx="1554480" cy="822960"/>
          </a:xfrm>
          <a:prstGeom prst="rect">
            <a:avLst/>
          </a:prstGeom>
          <a:noFill/>
          <a:ln/>
        </p:spPr>
        <p:txBody>
          <a:bodyPr wrap="square" lIns="0" tIns="0" rIns="0" bIns="0" rtlCol="0" anchor="t"/>
          <a:lstStyle/>
          <a:p>
            <a:pPr indent="0" marL="0">
              <a:buNone/>
            </a:pPr>
            <a:r>
              <a:rPr lang="en-US" sz="1200" dirty="0">
                <a:solidFill>
                  <a:srgbClr val="98A4B8"/>
                </a:solidFill>
                <a:latin typeface="Calibri" pitchFamily="34" charset="0"/>
                <a:ea typeface="Calibri" pitchFamily="34" charset="-122"/>
                <a:cs typeface="Calibri" pitchFamily="34" charset="-120"/>
              </a:rPr>
              <a:t>Multi-band drone detector, 4 bands</a:t>
            </a:r>
            <a:endParaRPr lang="en-US" sz="1200" dirty="0"/>
          </a:p>
        </p:txBody>
      </p:sp>
      <p:sp>
        <p:nvSpPr>
          <p:cNvPr id="10" name="Product card"/>
          <p:cNvSpPr/>
          <p:nvPr/>
        </p:nvSpPr>
        <p:spPr>
          <a:xfrm>
            <a:off x="4334256" y="2286000"/>
            <a:ext cx="3520440" cy="1783080"/>
          </a:xfrm>
          <a:prstGeom prst="rect">
            <a:avLst/>
          </a:prstGeom>
          <a:solidFill>
            <a:srgbClr val="111B2E"/>
          </a:solidFill>
          <a:ln w="9525">
            <a:solidFill>
              <a:srgbClr val="22334F"/>
            </a:solidFill>
            <a:prstDash val="solid"/>
          </a:ln>
        </p:spPr>
      </p:sp>
      <p:pic>
        <p:nvPicPr>
          <p:cNvPr id="11" name="Image 1" descr="Remote antenna">    </p:cNvPr>
          <p:cNvPicPr>
            <a:picLocks noChangeAspect="1"/>
          </p:cNvPicPr>
          <p:nvPr/>
        </p:nvPicPr>
        <p:blipFill>
          <a:blip r:embed="rId2"/>
          <a:stretch>
            <a:fillRect/>
          </a:stretch>
        </p:blipFill>
        <p:spPr>
          <a:xfrm>
            <a:off x="4517136" y="2833451"/>
            <a:ext cx="1554480" cy="587593"/>
          </a:xfrm>
          <a:prstGeom prst="rect">
            <a:avLst/>
          </a:prstGeom>
        </p:spPr>
      </p:pic>
      <p:sp>
        <p:nvSpPr>
          <p:cNvPr id="12" name="Text 8"/>
          <p:cNvSpPr txBox="1"/>
          <p:nvPr/>
        </p:nvSpPr>
        <p:spPr>
          <a:xfrm>
            <a:off x="6163056" y="2606040"/>
            <a:ext cx="1600200" cy="365760"/>
          </a:xfrm>
          <a:prstGeom prst="rect">
            <a:avLst/>
          </a:prstGeom>
          <a:noFill/>
          <a:ln/>
        </p:spPr>
        <p:txBody>
          <a:bodyPr wrap="square" lIns="0" tIns="0" rIns="0" bIns="0" rtlCol="0" anchor="ctr"/>
          <a:lstStyle/>
          <a:p>
            <a:pPr indent="0" marL="0">
              <a:buNone/>
            </a:pPr>
            <a:r>
              <a:rPr lang="en-US" sz="1500" b="1" dirty="0">
                <a:solidFill>
                  <a:srgbClr val="EDE8DC"/>
                </a:solidFill>
                <a:latin typeface="Cambria" pitchFamily="34" charset="0"/>
                <a:ea typeface="Cambria" pitchFamily="34" charset="-122"/>
                <a:cs typeface="Cambria" pitchFamily="34" charset="-120"/>
              </a:rPr>
              <a:t>Remote antenna</a:t>
            </a:r>
            <a:endParaRPr lang="en-US" sz="1500" dirty="0"/>
          </a:p>
        </p:txBody>
      </p:sp>
      <p:sp>
        <p:nvSpPr>
          <p:cNvPr id="13" name="Text 9"/>
          <p:cNvSpPr txBox="1"/>
          <p:nvPr/>
        </p:nvSpPr>
        <p:spPr>
          <a:xfrm>
            <a:off x="6163056" y="3017520"/>
            <a:ext cx="1554480" cy="822960"/>
          </a:xfrm>
          <a:prstGeom prst="rect">
            <a:avLst/>
          </a:prstGeom>
          <a:noFill/>
          <a:ln/>
        </p:spPr>
        <p:txBody>
          <a:bodyPr wrap="square" lIns="0" tIns="0" rIns="0" bIns="0" rtlCol="0" anchor="t"/>
          <a:lstStyle/>
          <a:p>
            <a:pPr indent="0" marL="0">
              <a:buNone/>
            </a:pPr>
            <a:r>
              <a:rPr lang="en-US" sz="1200" dirty="0">
                <a:solidFill>
                  <a:srgbClr val="98A4B8"/>
                </a:solidFill>
                <a:latin typeface="Calibri" pitchFamily="34" charset="0"/>
                <a:ea typeface="Calibri" pitchFamily="34" charset="-122"/>
                <a:cs typeface="Calibri" pitchFamily="34" charset="-120"/>
              </a:rPr>
              <a:t>Magnetic mount, built-in amplifiers</a:t>
            </a:r>
            <a:endParaRPr lang="en-US" sz="1200" dirty="0"/>
          </a:p>
        </p:txBody>
      </p:sp>
      <p:sp>
        <p:nvSpPr>
          <p:cNvPr id="14" name="Product card"/>
          <p:cNvSpPr/>
          <p:nvPr/>
        </p:nvSpPr>
        <p:spPr>
          <a:xfrm>
            <a:off x="8028432" y="2286000"/>
            <a:ext cx="3520440" cy="1783080"/>
          </a:xfrm>
          <a:prstGeom prst="rect">
            <a:avLst/>
          </a:prstGeom>
          <a:solidFill>
            <a:srgbClr val="111B2E"/>
          </a:solidFill>
          <a:ln w="9525">
            <a:solidFill>
              <a:srgbClr val="22334F"/>
            </a:solidFill>
            <a:prstDash val="solid"/>
          </a:ln>
        </p:spPr>
      </p:sp>
      <p:pic>
        <p:nvPicPr>
          <p:cNvPr id="15" name="Image 2" descr="NICH">    </p:cNvPr>
          <p:cNvPicPr>
            <a:picLocks noChangeAspect="1"/>
          </p:cNvPicPr>
          <p:nvPr/>
        </p:nvPicPr>
        <p:blipFill>
          <a:blip r:embed="rId3"/>
          <a:stretch>
            <a:fillRect/>
          </a:stretch>
        </p:blipFill>
        <p:spPr>
          <a:xfrm>
            <a:off x="8211312" y="2776935"/>
            <a:ext cx="1554480" cy="700626"/>
          </a:xfrm>
          <a:prstGeom prst="rect">
            <a:avLst/>
          </a:prstGeom>
        </p:spPr>
      </p:pic>
      <p:sp>
        <p:nvSpPr>
          <p:cNvPr id="16" name="Text 11"/>
          <p:cNvSpPr txBox="1"/>
          <p:nvPr/>
        </p:nvSpPr>
        <p:spPr>
          <a:xfrm>
            <a:off x="9857232" y="2606040"/>
            <a:ext cx="1600200" cy="365760"/>
          </a:xfrm>
          <a:prstGeom prst="rect">
            <a:avLst/>
          </a:prstGeom>
          <a:noFill/>
          <a:ln/>
        </p:spPr>
        <p:txBody>
          <a:bodyPr wrap="square" lIns="0" tIns="0" rIns="0" bIns="0" rtlCol="0" anchor="ctr"/>
          <a:lstStyle/>
          <a:p>
            <a:pPr indent="0" marL="0">
              <a:buNone/>
            </a:pPr>
            <a:r>
              <a:rPr lang="en-US" sz="1500" b="1" dirty="0">
                <a:solidFill>
                  <a:srgbClr val="EDE8DC"/>
                </a:solidFill>
                <a:latin typeface="Cambria" pitchFamily="34" charset="0"/>
                <a:ea typeface="Cambria" pitchFamily="34" charset="-122"/>
                <a:cs typeface="Cambria" pitchFamily="34" charset="-120"/>
              </a:rPr>
              <a:t>NICH</a:t>
            </a:r>
            <a:endParaRPr lang="en-US" sz="1500" dirty="0"/>
          </a:p>
        </p:txBody>
      </p:sp>
      <p:sp>
        <p:nvSpPr>
          <p:cNvPr id="17" name="Text 12"/>
          <p:cNvSpPr txBox="1"/>
          <p:nvPr/>
        </p:nvSpPr>
        <p:spPr>
          <a:xfrm>
            <a:off x="9857232" y="3017520"/>
            <a:ext cx="1554480" cy="822960"/>
          </a:xfrm>
          <a:prstGeom prst="rect">
            <a:avLst/>
          </a:prstGeom>
          <a:noFill/>
          <a:ln/>
        </p:spPr>
        <p:txBody>
          <a:bodyPr wrap="square" lIns="0" tIns="0" rIns="0" bIns="0" rtlCol="0" anchor="t"/>
          <a:lstStyle/>
          <a:p>
            <a:pPr indent="0" marL="0">
              <a:buNone/>
            </a:pPr>
            <a:r>
              <a:rPr lang="en-US" sz="1200" dirty="0">
                <a:solidFill>
                  <a:srgbClr val="98A4B8"/>
                </a:solidFill>
                <a:latin typeface="Calibri" pitchFamily="34" charset="0"/>
                <a:ea typeface="Calibri" pitchFamily="34" charset="-122"/>
                <a:cs typeface="Calibri" pitchFamily="34" charset="-120"/>
              </a:rPr>
              <a:t>Pan-controlled thermal camera</a:t>
            </a:r>
            <a:endParaRPr lang="en-US" sz="1200" dirty="0"/>
          </a:p>
        </p:txBody>
      </p:sp>
      <p:sp>
        <p:nvSpPr>
          <p:cNvPr id="18" name="Text 13"/>
          <p:cNvSpPr txBox="1"/>
          <p:nvPr/>
        </p:nvSpPr>
        <p:spPr>
          <a:xfrm>
            <a:off x="640080" y="4224528"/>
            <a:ext cx="7315200" cy="274320"/>
          </a:xfrm>
          <a:prstGeom prst="rect">
            <a:avLst/>
          </a:prstGeom>
          <a:noFill/>
          <a:ln/>
        </p:spPr>
        <p:txBody>
          <a:bodyPr wrap="square" lIns="0" tIns="0" rIns="0" bIns="0" rtlCol="0" anchor="ctr"/>
          <a:lstStyle/>
          <a:p>
            <a:pPr indent="0" marL="0">
              <a:buNone/>
            </a:pPr>
            <a:r>
              <a:rPr lang="en-US" sz="1200" b="1" spc="300" kern="0" dirty="0">
                <a:solidFill>
                  <a:srgbClr val="C2A25D"/>
                </a:solidFill>
                <a:latin typeface="Calibri" pitchFamily="34" charset="0"/>
                <a:ea typeface="Calibri" pitchFamily="34" charset="-122"/>
                <a:cs typeface="Calibri" pitchFamily="34" charset="-120"/>
              </a:rPr>
              <a:t>ELECTRONIC WARFARE, 300–6000 MHZ</a:t>
            </a:r>
            <a:endParaRPr lang="en-US" sz="1200" dirty="0"/>
          </a:p>
        </p:txBody>
      </p:sp>
      <p:sp>
        <p:nvSpPr>
          <p:cNvPr id="19" name="Product card"/>
          <p:cNvSpPr/>
          <p:nvPr/>
        </p:nvSpPr>
        <p:spPr>
          <a:xfrm>
            <a:off x="640080" y="4526280"/>
            <a:ext cx="2615184" cy="1783080"/>
          </a:xfrm>
          <a:prstGeom prst="rect">
            <a:avLst/>
          </a:prstGeom>
          <a:solidFill>
            <a:srgbClr val="111B2E"/>
          </a:solidFill>
          <a:ln w="9525">
            <a:solidFill>
              <a:srgbClr val="22334F"/>
            </a:solidFill>
            <a:prstDash val="solid"/>
          </a:ln>
        </p:spPr>
      </p:sp>
      <p:pic>
        <p:nvPicPr>
          <p:cNvPr id="20" name="Image 3" descr="Delfin">    </p:cNvPr>
          <p:cNvPicPr>
            <a:picLocks noChangeAspect="1"/>
          </p:cNvPicPr>
          <p:nvPr/>
        </p:nvPicPr>
        <p:blipFill>
          <a:blip r:embed="rId4"/>
          <a:stretch>
            <a:fillRect/>
          </a:stretch>
        </p:blipFill>
        <p:spPr>
          <a:xfrm>
            <a:off x="858763" y="4590288"/>
            <a:ext cx="2177817" cy="868680"/>
          </a:xfrm>
          <a:prstGeom prst="rect">
            <a:avLst/>
          </a:prstGeom>
        </p:spPr>
      </p:pic>
      <p:sp>
        <p:nvSpPr>
          <p:cNvPr id="21" name="Text 15"/>
          <p:cNvSpPr txBox="1"/>
          <p:nvPr/>
        </p:nvSpPr>
        <p:spPr>
          <a:xfrm>
            <a:off x="822960" y="5504688"/>
            <a:ext cx="2249424" cy="274320"/>
          </a:xfrm>
          <a:prstGeom prst="rect">
            <a:avLst/>
          </a:prstGeom>
          <a:noFill/>
          <a:ln/>
        </p:spPr>
        <p:txBody>
          <a:bodyPr wrap="square" lIns="0" tIns="0" rIns="0" bIns="0" rtlCol="0" anchor="ctr"/>
          <a:lstStyle/>
          <a:p>
            <a:pPr indent="0" marL="0">
              <a:buNone/>
            </a:pPr>
            <a:r>
              <a:rPr lang="en-US" sz="1600" b="1" dirty="0">
                <a:solidFill>
                  <a:srgbClr val="EDE8DC"/>
                </a:solidFill>
                <a:latin typeface="Cambria" pitchFamily="34" charset="0"/>
                <a:ea typeface="Cambria" pitchFamily="34" charset="-122"/>
                <a:cs typeface="Cambria" pitchFamily="34" charset="-120"/>
              </a:rPr>
              <a:t>Delfin</a:t>
            </a:r>
            <a:endParaRPr lang="en-US" sz="1600" dirty="0"/>
          </a:p>
        </p:txBody>
      </p:sp>
      <p:sp>
        <p:nvSpPr>
          <p:cNvPr id="22" name="Text 16"/>
          <p:cNvSpPr txBox="1"/>
          <p:nvPr/>
        </p:nvSpPr>
        <p:spPr>
          <a:xfrm>
            <a:off x="822960" y="5788152"/>
            <a:ext cx="2249424" cy="457200"/>
          </a:xfrm>
          <a:prstGeom prst="rect">
            <a:avLst/>
          </a:prstGeom>
          <a:noFill/>
          <a:ln/>
        </p:spPr>
        <p:txBody>
          <a:bodyPr wrap="square" lIns="0" tIns="0" rIns="0" bIns="0" rtlCol="0" anchor="t"/>
          <a:lstStyle/>
          <a:p>
            <a:pPr indent="0" marL="0">
              <a:buNone/>
            </a:pPr>
            <a:r>
              <a:rPr lang="en-US" sz="1200" dirty="0">
                <a:solidFill>
                  <a:srgbClr val="98A4B8"/>
                </a:solidFill>
                <a:latin typeface="Calibri" pitchFamily="34" charset="0"/>
                <a:ea typeface="Calibri" pitchFamily="34" charset="-122"/>
                <a:cs typeface="Calibri" pitchFamily="34" charset="-120"/>
              </a:rPr>
              <a:t>Disguised as a civilian car roof box</a:t>
            </a:r>
            <a:endParaRPr lang="en-US" sz="1200" dirty="0"/>
          </a:p>
        </p:txBody>
      </p:sp>
      <p:sp>
        <p:nvSpPr>
          <p:cNvPr id="23" name="Product card"/>
          <p:cNvSpPr/>
          <p:nvPr/>
        </p:nvSpPr>
        <p:spPr>
          <a:xfrm>
            <a:off x="3392424" y="4526280"/>
            <a:ext cx="2615184" cy="1783080"/>
          </a:xfrm>
          <a:prstGeom prst="rect">
            <a:avLst/>
          </a:prstGeom>
          <a:solidFill>
            <a:srgbClr val="111B2E"/>
          </a:solidFill>
          <a:ln w="9525">
            <a:solidFill>
              <a:srgbClr val="22334F"/>
            </a:solidFill>
            <a:prstDash val="solid"/>
          </a:ln>
        </p:spPr>
      </p:sp>
      <p:pic>
        <p:nvPicPr>
          <p:cNvPr id="24" name="Image 4" descr="Hydra 2U">    </p:cNvPr>
          <p:cNvPicPr>
            <a:picLocks noChangeAspect="1"/>
          </p:cNvPicPr>
          <p:nvPr/>
        </p:nvPicPr>
        <p:blipFill>
          <a:blip r:embed="rId5"/>
          <a:stretch>
            <a:fillRect/>
          </a:stretch>
        </p:blipFill>
        <p:spPr>
          <a:xfrm>
            <a:off x="3919823" y="4590288"/>
            <a:ext cx="1560387" cy="868680"/>
          </a:xfrm>
          <a:prstGeom prst="rect">
            <a:avLst/>
          </a:prstGeom>
        </p:spPr>
      </p:pic>
      <p:sp>
        <p:nvSpPr>
          <p:cNvPr id="25" name="Text 18"/>
          <p:cNvSpPr txBox="1"/>
          <p:nvPr/>
        </p:nvSpPr>
        <p:spPr>
          <a:xfrm>
            <a:off x="3575304" y="5504688"/>
            <a:ext cx="2249424" cy="274320"/>
          </a:xfrm>
          <a:prstGeom prst="rect">
            <a:avLst/>
          </a:prstGeom>
          <a:noFill/>
          <a:ln/>
        </p:spPr>
        <p:txBody>
          <a:bodyPr wrap="square" lIns="0" tIns="0" rIns="0" bIns="0" rtlCol="0" anchor="ctr"/>
          <a:lstStyle/>
          <a:p>
            <a:pPr indent="0" marL="0">
              <a:buNone/>
            </a:pPr>
            <a:r>
              <a:rPr lang="en-US" sz="1600" b="1" dirty="0">
                <a:solidFill>
                  <a:srgbClr val="EDE8DC"/>
                </a:solidFill>
                <a:latin typeface="Cambria" pitchFamily="34" charset="0"/>
                <a:ea typeface="Cambria" pitchFamily="34" charset="-122"/>
                <a:cs typeface="Cambria" pitchFamily="34" charset="-120"/>
              </a:rPr>
              <a:t>Hydra 2U</a:t>
            </a:r>
            <a:endParaRPr lang="en-US" sz="1600" dirty="0"/>
          </a:p>
        </p:txBody>
      </p:sp>
      <p:sp>
        <p:nvSpPr>
          <p:cNvPr id="26" name="Text 19"/>
          <p:cNvSpPr txBox="1"/>
          <p:nvPr/>
        </p:nvSpPr>
        <p:spPr>
          <a:xfrm>
            <a:off x="3575304" y="5788152"/>
            <a:ext cx="2249424" cy="457200"/>
          </a:xfrm>
          <a:prstGeom prst="rect">
            <a:avLst/>
          </a:prstGeom>
          <a:noFill/>
          <a:ln/>
        </p:spPr>
        <p:txBody>
          <a:bodyPr wrap="square" lIns="0" tIns="0" rIns="0" bIns="0" rtlCol="0" anchor="t"/>
          <a:lstStyle/>
          <a:p>
            <a:pPr indent="0" marL="0">
              <a:buNone/>
            </a:pPr>
            <a:r>
              <a:rPr lang="en-US" sz="1200" dirty="0">
                <a:solidFill>
                  <a:srgbClr val="98A4B8"/>
                </a:solidFill>
                <a:latin typeface="Calibri" pitchFamily="34" charset="0"/>
                <a:ea typeface="Calibri" pitchFamily="34" charset="-122"/>
                <a:cs typeface="Calibri" pitchFamily="34" charset="-120"/>
              </a:rPr>
              <a:t>19″ rack for heavy vehicles, 8–20 bands</a:t>
            </a:r>
            <a:endParaRPr lang="en-US" sz="1200" dirty="0"/>
          </a:p>
        </p:txBody>
      </p:sp>
      <p:sp>
        <p:nvSpPr>
          <p:cNvPr id="27" name="Product card"/>
          <p:cNvSpPr/>
          <p:nvPr/>
        </p:nvSpPr>
        <p:spPr>
          <a:xfrm>
            <a:off x="6144768" y="4526280"/>
            <a:ext cx="2615184" cy="1783080"/>
          </a:xfrm>
          <a:prstGeom prst="rect">
            <a:avLst/>
          </a:prstGeom>
          <a:solidFill>
            <a:srgbClr val="111B2E"/>
          </a:solidFill>
          <a:ln w="9525">
            <a:solidFill>
              <a:srgbClr val="22334F"/>
            </a:solidFill>
            <a:prstDash val="solid"/>
          </a:ln>
        </p:spPr>
      </p:sp>
      <p:pic>
        <p:nvPicPr>
          <p:cNvPr id="28" name="Image 5" descr="Dokatka">    </p:cNvPr>
          <p:cNvPicPr>
            <a:picLocks noChangeAspect="1"/>
          </p:cNvPicPr>
          <p:nvPr/>
        </p:nvPicPr>
        <p:blipFill>
          <a:blip r:embed="rId6"/>
          <a:stretch>
            <a:fillRect/>
          </a:stretch>
        </p:blipFill>
        <p:spPr>
          <a:xfrm>
            <a:off x="6715849" y="4590288"/>
            <a:ext cx="1473023" cy="868680"/>
          </a:xfrm>
          <a:prstGeom prst="rect">
            <a:avLst/>
          </a:prstGeom>
        </p:spPr>
      </p:pic>
      <p:sp>
        <p:nvSpPr>
          <p:cNvPr id="29" name="Text 21"/>
          <p:cNvSpPr txBox="1"/>
          <p:nvPr/>
        </p:nvSpPr>
        <p:spPr>
          <a:xfrm>
            <a:off x="6327648" y="5504688"/>
            <a:ext cx="2249424" cy="274320"/>
          </a:xfrm>
          <a:prstGeom prst="rect">
            <a:avLst/>
          </a:prstGeom>
          <a:noFill/>
          <a:ln/>
        </p:spPr>
        <p:txBody>
          <a:bodyPr wrap="square" lIns="0" tIns="0" rIns="0" bIns="0" rtlCol="0" anchor="ctr"/>
          <a:lstStyle/>
          <a:p>
            <a:pPr indent="0" marL="0">
              <a:buNone/>
            </a:pPr>
            <a:r>
              <a:rPr lang="en-US" sz="1600" b="1" dirty="0">
                <a:solidFill>
                  <a:srgbClr val="EDE8DC"/>
                </a:solidFill>
                <a:latin typeface="Cambria" pitchFamily="34" charset="0"/>
                <a:ea typeface="Cambria" pitchFamily="34" charset="-122"/>
                <a:cs typeface="Cambria" pitchFamily="34" charset="-120"/>
              </a:rPr>
              <a:t>Dokatka</a:t>
            </a:r>
            <a:endParaRPr lang="en-US" sz="1600" dirty="0"/>
          </a:p>
        </p:txBody>
      </p:sp>
      <p:sp>
        <p:nvSpPr>
          <p:cNvPr id="30" name="Text 22"/>
          <p:cNvSpPr txBox="1"/>
          <p:nvPr/>
        </p:nvSpPr>
        <p:spPr>
          <a:xfrm>
            <a:off x="6327648" y="5788152"/>
            <a:ext cx="2249424" cy="457200"/>
          </a:xfrm>
          <a:prstGeom prst="rect">
            <a:avLst/>
          </a:prstGeom>
          <a:noFill/>
          <a:ln/>
        </p:spPr>
        <p:txBody>
          <a:bodyPr wrap="square" lIns="0" tIns="0" rIns="0" bIns="0" rtlCol="0" anchor="t"/>
          <a:lstStyle/>
          <a:p>
            <a:pPr indent="0" marL="0">
              <a:buNone/>
            </a:pPr>
            <a:r>
              <a:rPr lang="en-US" sz="1200" dirty="0">
                <a:solidFill>
                  <a:srgbClr val="98A4B8"/>
                </a:solidFill>
                <a:latin typeface="Calibri" pitchFamily="34" charset="0"/>
                <a:ea typeface="Calibri" pitchFamily="34" charset="-122"/>
                <a:cs typeface="Calibri" pitchFamily="34" charset="-120"/>
              </a:rPr>
              <a:t>Hidden in truck-wheel form factor</a:t>
            </a:r>
            <a:endParaRPr lang="en-US" sz="1200" dirty="0"/>
          </a:p>
        </p:txBody>
      </p:sp>
      <p:sp>
        <p:nvSpPr>
          <p:cNvPr id="31" name="Product card"/>
          <p:cNvSpPr/>
          <p:nvPr/>
        </p:nvSpPr>
        <p:spPr>
          <a:xfrm>
            <a:off x="8897112" y="4526280"/>
            <a:ext cx="2615184" cy="1783080"/>
          </a:xfrm>
          <a:prstGeom prst="rect">
            <a:avLst/>
          </a:prstGeom>
          <a:solidFill>
            <a:srgbClr val="111B2E"/>
          </a:solidFill>
          <a:ln w="9525">
            <a:solidFill>
              <a:srgbClr val="22334F"/>
            </a:solidFill>
            <a:prstDash val="solid"/>
          </a:ln>
        </p:spPr>
      </p:sp>
      <p:pic>
        <p:nvPicPr>
          <p:cNvPr id="32" name="Image 6" descr="Kraken">    </p:cNvPr>
          <p:cNvPicPr>
            <a:picLocks noChangeAspect="1"/>
          </p:cNvPicPr>
          <p:nvPr/>
        </p:nvPicPr>
        <p:blipFill>
          <a:blip r:embed="rId7"/>
          <a:stretch>
            <a:fillRect/>
          </a:stretch>
        </p:blipFill>
        <p:spPr>
          <a:xfrm>
            <a:off x="9649478" y="4590288"/>
            <a:ext cx="1110451" cy="868680"/>
          </a:xfrm>
          <a:prstGeom prst="rect">
            <a:avLst/>
          </a:prstGeom>
        </p:spPr>
      </p:pic>
      <p:sp>
        <p:nvSpPr>
          <p:cNvPr id="33" name="Text 24"/>
          <p:cNvSpPr txBox="1"/>
          <p:nvPr/>
        </p:nvSpPr>
        <p:spPr>
          <a:xfrm>
            <a:off x="9079992" y="5504688"/>
            <a:ext cx="2249424" cy="274320"/>
          </a:xfrm>
          <a:prstGeom prst="rect">
            <a:avLst/>
          </a:prstGeom>
          <a:noFill/>
          <a:ln/>
        </p:spPr>
        <p:txBody>
          <a:bodyPr wrap="square" lIns="0" tIns="0" rIns="0" bIns="0" rtlCol="0" anchor="ctr"/>
          <a:lstStyle/>
          <a:p>
            <a:pPr indent="0" marL="0">
              <a:buNone/>
            </a:pPr>
            <a:r>
              <a:rPr lang="en-US" sz="1600" b="1" dirty="0">
                <a:solidFill>
                  <a:srgbClr val="EDE8DC"/>
                </a:solidFill>
                <a:latin typeface="Cambria" pitchFamily="34" charset="0"/>
                <a:ea typeface="Cambria" pitchFamily="34" charset="-122"/>
                <a:cs typeface="Cambria" pitchFamily="34" charset="-120"/>
              </a:rPr>
              <a:t>Kraken</a:t>
            </a:r>
            <a:endParaRPr lang="en-US" sz="1600" dirty="0"/>
          </a:p>
        </p:txBody>
      </p:sp>
      <p:sp>
        <p:nvSpPr>
          <p:cNvPr id="34" name="Text 25"/>
          <p:cNvSpPr txBox="1"/>
          <p:nvPr/>
        </p:nvSpPr>
        <p:spPr>
          <a:xfrm>
            <a:off x="9079992" y="5788152"/>
            <a:ext cx="2249424" cy="457200"/>
          </a:xfrm>
          <a:prstGeom prst="rect">
            <a:avLst/>
          </a:prstGeom>
          <a:noFill/>
          <a:ln/>
        </p:spPr>
        <p:txBody>
          <a:bodyPr wrap="square" lIns="0" tIns="0" rIns="0" bIns="0" rtlCol="0" anchor="t"/>
          <a:lstStyle/>
          <a:p>
            <a:pPr indent="0" marL="0">
              <a:buNone/>
            </a:pPr>
            <a:r>
              <a:rPr lang="en-US" sz="1200" dirty="0">
                <a:solidFill>
                  <a:srgbClr val="98A4B8"/>
                </a:solidFill>
                <a:latin typeface="Calibri" pitchFamily="34" charset="0"/>
                <a:ea typeface="Calibri" pitchFamily="34" charset="-122"/>
                <a:cs typeface="Calibri" pitchFamily="34" charset="-120"/>
              </a:rPr>
              <a:t>Directional sector suppression</a:t>
            </a:r>
            <a:endParaRPr lang="en-US" sz="1200" dirty="0"/>
          </a:p>
        </p:txBody>
      </p:sp>
      <p:sp>
        <p:nvSpPr>
          <p:cNvPr id="25" name="Slide Number Placeholder 0"/>
          <p:cNvSpPr>
            <a:spLocks noGrp="1"/>
          </p:cNvSpPr>
          <p:nvPr>
            <p:ph type="sldNum" sz="quarter" idx="4294967295"/>
          </p:nvPr>
        </p:nvSpPr>
        <p:spPr>
          <a:xfrm>
            <a:off x="10820095" y="20116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A25D"/>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640080" y="777240"/>
            <a:ext cx="8229600" cy="274320"/>
          </a:xfrm>
          <a:prstGeom prst="rect">
            <a:avLst/>
          </a:prstGeom>
          <a:noFill/>
          <a:ln/>
        </p:spPr>
        <p:txBody>
          <a:bodyPr wrap="square" lIns="0" tIns="0" rIns="0" bIns="0" rtlCol="0" anchor="ctr"/>
          <a:lstStyle/>
          <a:p>
            <a:pPr indent="0" marL="0">
              <a:buNone/>
            </a:pPr>
            <a:r>
              <a:rPr lang="en-US" sz="1200" b="1" spc="400" kern="0" dirty="0">
                <a:solidFill>
                  <a:srgbClr val="C2A25D"/>
                </a:solidFill>
                <a:latin typeface="Calibri" pitchFamily="34" charset="0"/>
                <a:ea typeface="Calibri" pitchFamily="34" charset="-122"/>
                <a:cs typeface="Calibri" pitchFamily="34" charset="-120"/>
              </a:rPr>
              <a:t>SCALE AND READINESS</a:t>
            </a:r>
            <a:endParaRPr lang="en-US" sz="1200" dirty="0"/>
          </a:p>
        </p:txBody>
      </p:sp>
      <p:sp>
        <p:nvSpPr>
          <p:cNvPr id="3" name="Title"/>
          <p:cNvSpPr txBox="1"/>
          <p:nvPr/>
        </p:nvSpPr>
        <p:spPr>
          <a:xfrm>
            <a:off x="640080" y="1051560"/>
            <a:ext cx="10515600" cy="822960"/>
          </a:xfrm>
          <a:prstGeom prst="rect">
            <a:avLst/>
          </a:prstGeom>
          <a:noFill/>
          <a:ln/>
        </p:spPr>
        <p:txBody>
          <a:bodyPr wrap="square" lIns="0" tIns="0" rIns="0" bIns="0" rtlCol="0" anchor="t"/>
          <a:lstStyle/>
          <a:p>
            <a:pPr indent="0" marL="0">
              <a:buNone/>
            </a:pPr>
            <a:r>
              <a:rPr lang="en-US" sz="3600" b="1" dirty="0">
                <a:solidFill>
                  <a:srgbClr val="EDE8DC"/>
                </a:solidFill>
                <a:latin typeface="Cambria" pitchFamily="34" charset="0"/>
                <a:ea typeface="Cambria" pitchFamily="34" charset="-122"/>
                <a:cs typeface="Cambria" pitchFamily="34" charset="-120"/>
              </a:rPr>
              <a:t>Field-validated, ready to scale</a:t>
            </a:r>
            <a:endParaRPr lang="en-US" sz="3600" dirty="0"/>
          </a:p>
        </p:txBody>
      </p:sp>
      <p:sp>
        <p:nvSpPr>
          <p:cNvPr id="4" name="Stat card"/>
          <p:cNvSpPr/>
          <p:nvPr/>
        </p:nvSpPr>
        <p:spPr>
          <a:xfrm>
            <a:off x="640080" y="2011680"/>
            <a:ext cx="2606040" cy="1417320"/>
          </a:xfrm>
          <a:prstGeom prst="rect">
            <a:avLst/>
          </a:prstGeom>
          <a:solidFill>
            <a:srgbClr val="111B2E"/>
          </a:solidFill>
          <a:ln w="9525">
            <a:solidFill>
              <a:srgbClr val="22334F"/>
            </a:solidFill>
            <a:prstDash val="solid"/>
          </a:ln>
        </p:spPr>
      </p:sp>
      <p:sp>
        <p:nvSpPr>
          <p:cNvPr id="5" name="Text 3"/>
          <p:cNvSpPr txBox="1"/>
          <p:nvPr/>
        </p:nvSpPr>
        <p:spPr>
          <a:xfrm>
            <a:off x="822960" y="2121408"/>
            <a:ext cx="2240280" cy="737006"/>
          </a:xfrm>
          <a:prstGeom prst="rect">
            <a:avLst/>
          </a:prstGeom>
          <a:noFill/>
          <a:ln/>
        </p:spPr>
        <p:txBody>
          <a:bodyPr wrap="square" lIns="0" tIns="0" rIns="0" bIns="0" rtlCol="0" anchor="ctr"/>
          <a:lstStyle/>
          <a:p>
            <a:pPr indent="0" marL="0">
              <a:buNone/>
            </a:pPr>
            <a:r>
              <a:rPr lang="en-US" sz="3800" b="1" dirty="0">
                <a:solidFill>
                  <a:srgbClr val="C2A25D"/>
                </a:solidFill>
                <a:latin typeface="Cambria" pitchFamily="34" charset="0"/>
                <a:ea typeface="Cambria" pitchFamily="34" charset="-122"/>
                <a:cs typeface="Cambria" pitchFamily="34" charset="-120"/>
              </a:rPr>
              <a:t>80%</a:t>
            </a:r>
            <a:endParaRPr lang="en-US" sz="3800" dirty="0"/>
          </a:p>
        </p:txBody>
      </p:sp>
      <p:sp>
        <p:nvSpPr>
          <p:cNvPr id="6" name="Text 4"/>
          <p:cNvSpPr txBox="1"/>
          <p:nvPr/>
        </p:nvSpPr>
        <p:spPr>
          <a:xfrm>
            <a:off x="822960" y="2890418"/>
            <a:ext cx="2240280" cy="481889"/>
          </a:xfrm>
          <a:prstGeom prst="rect">
            <a:avLst/>
          </a:prstGeom>
          <a:noFill/>
          <a:ln/>
        </p:spPr>
        <p:txBody>
          <a:bodyPr wrap="square" lIns="0" tIns="0" rIns="0" bIns="0" rtlCol="0" anchor="t"/>
          <a:lstStyle/>
          <a:p>
            <a:pPr indent="0" marL="0">
              <a:buNone/>
            </a:pPr>
            <a:r>
              <a:rPr lang="en-US" sz="1200" dirty="0">
                <a:solidFill>
                  <a:srgbClr val="98A4B8"/>
                </a:solidFill>
                <a:latin typeface="Calibri" pitchFamily="34" charset="0"/>
                <a:ea typeface="Calibri" pitchFamily="34" charset="-122"/>
                <a:cs typeface="Calibri" pitchFamily="34" charset="-120"/>
              </a:rPr>
              <a:t>vertical integration</a:t>
            </a:r>
            <a:endParaRPr lang="en-US" sz="1200" dirty="0"/>
          </a:p>
        </p:txBody>
      </p:sp>
      <p:sp>
        <p:nvSpPr>
          <p:cNvPr id="7" name="Stat card"/>
          <p:cNvSpPr/>
          <p:nvPr/>
        </p:nvSpPr>
        <p:spPr>
          <a:xfrm>
            <a:off x="3383280" y="2011680"/>
            <a:ext cx="2606040" cy="1417320"/>
          </a:xfrm>
          <a:prstGeom prst="rect">
            <a:avLst/>
          </a:prstGeom>
          <a:solidFill>
            <a:srgbClr val="111B2E"/>
          </a:solidFill>
          <a:ln w="9525">
            <a:solidFill>
              <a:srgbClr val="22334F"/>
            </a:solidFill>
            <a:prstDash val="solid"/>
          </a:ln>
        </p:spPr>
      </p:sp>
      <p:sp>
        <p:nvSpPr>
          <p:cNvPr id="8" name="Text 6"/>
          <p:cNvSpPr txBox="1"/>
          <p:nvPr/>
        </p:nvSpPr>
        <p:spPr>
          <a:xfrm>
            <a:off x="3566160" y="2121408"/>
            <a:ext cx="2240280" cy="737006"/>
          </a:xfrm>
          <a:prstGeom prst="rect">
            <a:avLst/>
          </a:prstGeom>
          <a:noFill/>
          <a:ln/>
        </p:spPr>
        <p:txBody>
          <a:bodyPr wrap="square" lIns="0" tIns="0" rIns="0" bIns="0" rtlCol="0" anchor="ctr"/>
          <a:lstStyle/>
          <a:p>
            <a:pPr indent="0" marL="0">
              <a:buNone/>
            </a:pPr>
            <a:r>
              <a:rPr lang="en-US" sz="3800" b="1" dirty="0">
                <a:solidFill>
                  <a:srgbClr val="C2A25D"/>
                </a:solidFill>
                <a:latin typeface="Cambria" pitchFamily="34" charset="0"/>
                <a:ea typeface="Cambria" pitchFamily="34" charset="-122"/>
                <a:cs typeface="Cambria" pitchFamily="34" charset="-120"/>
              </a:rPr>
              <a:t>500</a:t>
            </a:r>
            <a:endParaRPr lang="en-US" sz="3800" dirty="0"/>
          </a:p>
        </p:txBody>
      </p:sp>
      <p:sp>
        <p:nvSpPr>
          <p:cNvPr id="9" name="Text 7"/>
          <p:cNvSpPr txBox="1"/>
          <p:nvPr/>
        </p:nvSpPr>
        <p:spPr>
          <a:xfrm>
            <a:off x="3566160" y="2890418"/>
            <a:ext cx="2240280" cy="481889"/>
          </a:xfrm>
          <a:prstGeom prst="rect">
            <a:avLst/>
          </a:prstGeom>
          <a:noFill/>
          <a:ln/>
        </p:spPr>
        <p:txBody>
          <a:bodyPr wrap="square" lIns="0" tIns="0" rIns="0" bIns="0" rtlCol="0" anchor="t"/>
          <a:lstStyle/>
          <a:p>
            <a:pPr indent="0" marL="0">
              <a:buNone/>
            </a:pPr>
            <a:r>
              <a:rPr lang="en-US" sz="1200" dirty="0">
                <a:solidFill>
                  <a:srgbClr val="98A4B8"/>
                </a:solidFill>
                <a:latin typeface="Calibri" pitchFamily="34" charset="0"/>
                <a:ea typeface="Calibri" pitchFamily="34" charset="-122"/>
                <a:cs typeface="Calibri" pitchFamily="34" charset="-120"/>
              </a:rPr>
              <a:t>detectors per month, up to</a:t>
            </a:r>
            <a:endParaRPr lang="en-US" sz="1200" dirty="0"/>
          </a:p>
        </p:txBody>
      </p:sp>
      <p:sp>
        <p:nvSpPr>
          <p:cNvPr id="10" name="Stat card"/>
          <p:cNvSpPr/>
          <p:nvPr/>
        </p:nvSpPr>
        <p:spPr>
          <a:xfrm>
            <a:off x="6126480" y="2011680"/>
            <a:ext cx="2606040" cy="1417320"/>
          </a:xfrm>
          <a:prstGeom prst="rect">
            <a:avLst/>
          </a:prstGeom>
          <a:solidFill>
            <a:srgbClr val="111B2E"/>
          </a:solidFill>
          <a:ln w="9525">
            <a:solidFill>
              <a:srgbClr val="22334F"/>
            </a:solidFill>
            <a:prstDash val="solid"/>
          </a:ln>
        </p:spPr>
      </p:sp>
      <p:sp>
        <p:nvSpPr>
          <p:cNvPr id="11" name="Text 9"/>
          <p:cNvSpPr txBox="1"/>
          <p:nvPr/>
        </p:nvSpPr>
        <p:spPr>
          <a:xfrm>
            <a:off x="6309360" y="2121408"/>
            <a:ext cx="2240280" cy="737006"/>
          </a:xfrm>
          <a:prstGeom prst="rect">
            <a:avLst/>
          </a:prstGeom>
          <a:noFill/>
          <a:ln/>
        </p:spPr>
        <p:txBody>
          <a:bodyPr wrap="square" lIns="0" tIns="0" rIns="0" bIns="0" rtlCol="0" anchor="ctr"/>
          <a:lstStyle/>
          <a:p>
            <a:pPr indent="0" marL="0">
              <a:buNone/>
            </a:pPr>
            <a:r>
              <a:rPr lang="en-US" sz="3800" b="1" dirty="0">
                <a:solidFill>
                  <a:srgbClr val="C2A25D"/>
                </a:solidFill>
                <a:latin typeface="Cambria" pitchFamily="34" charset="0"/>
                <a:ea typeface="Cambria" pitchFamily="34" charset="-122"/>
                <a:cs typeface="Cambria" pitchFamily="34" charset="-120"/>
              </a:rPr>
              <a:t>50</a:t>
            </a:r>
            <a:endParaRPr lang="en-US" sz="3800" dirty="0"/>
          </a:p>
        </p:txBody>
      </p:sp>
      <p:sp>
        <p:nvSpPr>
          <p:cNvPr id="12" name="Text 10"/>
          <p:cNvSpPr txBox="1"/>
          <p:nvPr/>
        </p:nvSpPr>
        <p:spPr>
          <a:xfrm>
            <a:off x="6309360" y="2890418"/>
            <a:ext cx="2240280" cy="481889"/>
          </a:xfrm>
          <a:prstGeom prst="rect">
            <a:avLst/>
          </a:prstGeom>
          <a:noFill/>
          <a:ln/>
        </p:spPr>
        <p:txBody>
          <a:bodyPr wrap="square" lIns="0" tIns="0" rIns="0" bIns="0" rtlCol="0" anchor="t"/>
          <a:lstStyle/>
          <a:p>
            <a:pPr indent="0" marL="0">
              <a:buNone/>
            </a:pPr>
            <a:r>
              <a:rPr lang="en-US" sz="1200" dirty="0">
                <a:solidFill>
                  <a:srgbClr val="98A4B8"/>
                </a:solidFill>
                <a:latin typeface="Calibri" pitchFamily="34" charset="0"/>
                <a:ea typeface="Calibri" pitchFamily="34" charset="-122"/>
                <a:cs typeface="Calibri" pitchFamily="34" charset="-120"/>
              </a:rPr>
              <a:t>EW systems per month, up to</a:t>
            </a:r>
            <a:endParaRPr lang="en-US" sz="1200" dirty="0"/>
          </a:p>
        </p:txBody>
      </p:sp>
      <p:sp>
        <p:nvSpPr>
          <p:cNvPr id="13" name="Stat card"/>
          <p:cNvSpPr/>
          <p:nvPr/>
        </p:nvSpPr>
        <p:spPr>
          <a:xfrm>
            <a:off x="8869680" y="2011680"/>
            <a:ext cx="2606040" cy="1417320"/>
          </a:xfrm>
          <a:prstGeom prst="rect">
            <a:avLst/>
          </a:prstGeom>
          <a:solidFill>
            <a:srgbClr val="111B2E"/>
          </a:solidFill>
          <a:ln w="9525">
            <a:solidFill>
              <a:srgbClr val="22334F"/>
            </a:solidFill>
            <a:prstDash val="solid"/>
          </a:ln>
        </p:spPr>
      </p:sp>
      <p:sp>
        <p:nvSpPr>
          <p:cNvPr id="14" name="Text 12"/>
          <p:cNvSpPr txBox="1"/>
          <p:nvPr/>
        </p:nvSpPr>
        <p:spPr>
          <a:xfrm>
            <a:off x="9052560" y="2121408"/>
            <a:ext cx="2240280" cy="737006"/>
          </a:xfrm>
          <a:prstGeom prst="rect">
            <a:avLst/>
          </a:prstGeom>
          <a:noFill/>
          <a:ln/>
        </p:spPr>
        <p:txBody>
          <a:bodyPr wrap="square" lIns="0" tIns="0" rIns="0" bIns="0" rtlCol="0" anchor="ctr"/>
          <a:lstStyle/>
          <a:p>
            <a:pPr indent="0" marL="0">
              <a:buNone/>
            </a:pPr>
            <a:r>
              <a:rPr lang="en-US" sz="3800" b="1" dirty="0">
                <a:solidFill>
                  <a:srgbClr val="C2A25D"/>
                </a:solidFill>
                <a:latin typeface="Cambria" pitchFamily="34" charset="0"/>
                <a:ea typeface="Cambria" pitchFamily="34" charset="-122"/>
                <a:cs typeface="Cambria" pitchFamily="34" charset="-120"/>
              </a:rPr>
              <a:t>Days</a:t>
            </a:r>
            <a:endParaRPr lang="en-US" sz="3800" dirty="0"/>
          </a:p>
        </p:txBody>
      </p:sp>
      <p:sp>
        <p:nvSpPr>
          <p:cNvPr id="15" name="Text 13"/>
          <p:cNvSpPr txBox="1"/>
          <p:nvPr/>
        </p:nvSpPr>
        <p:spPr>
          <a:xfrm>
            <a:off x="9052560" y="2890418"/>
            <a:ext cx="2240280" cy="481889"/>
          </a:xfrm>
          <a:prstGeom prst="rect">
            <a:avLst/>
          </a:prstGeom>
          <a:noFill/>
          <a:ln/>
        </p:spPr>
        <p:txBody>
          <a:bodyPr wrap="square" lIns="0" tIns="0" rIns="0" bIns="0" rtlCol="0" anchor="t"/>
          <a:lstStyle/>
          <a:p>
            <a:pPr indent="0" marL="0">
              <a:buNone/>
            </a:pPr>
            <a:r>
              <a:rPr lang="en-US" sz="1200" dirty="0">
                <a:solidFill>
                  <a:srgbClr val="98A4B8"/>
                </a:solidFill>
                <a:latin typeface="Calibri" pitchFamily="34" charset="0"/>
                <a:ea typeface="Calibri" pitchFamily="34" charset="-122"/>
                <a:cs typeface="Calibri" pitchFamily="34" charset="-120"/>
              </a:rPr>
              <a:t>for firmware and hardware updates</a:t>
            </a:r>
            <a:endParaRPr lang="en-US" sz="1200" dirty="0"/>
          </a:p>
        </p:txBody>
      </p:sp>
      <p:sp>
        <p:nvSpPr>
          <p:cNvPr id="16" name="Readiness card"/>
          <p:cNvSpPr/>
          <p:nvPr/>
        </p:nvSpPr>
        <p:spPr>
          <a:xfrm>
            <a:off x="640080" y="3703320"/>
            <a:ext cx="3593592" cy="2514600"/>
          </a:xfrm>
          <a:prstGeom prst="rect">
            <a:avLst/>
          </a:prstGeom>
          <a:solidFill>
            <a:srgbClr val="111B2E"/>
          </a:solidFill>
          <a:ln w="9525">
            <a:solidFill>
              <a:srgbClr val="22334F"/>
            </a:solidFill>
            <a:prstDash val="solid"/>
          </a:ln>
        </p:spPr>
      </p:sp>
      <p:sp>
        <p:nvSpPr>
          <p:cNvPr id="17" name="IconRing"/>
          <p:cNvSpPr/>
          <p:nvPr/>
        </p:nvSpPr>
        <p:spPr>
          <a:xfrm>
            <a:off x="914400" y="3931920"/>
            <a:ext cx="566928" cy="566928"/>
          </a:xfrm>
          <a:prstGeom prst="ellipse">
            <a:avLst/>
          </a:prstGeom>
          <a:solidFill>
            <a:srgbClr val="0B1220"/>
          </a:solidFill>
          <a:ln w="12700">
            <a:solidFill>
              <a:srgbClr val="C2A25D"/>
            </a:solidFill>
            <a:prstDash val="solid"/>
          </a:ln>
        </p:spPr>
      </p:sp>
      <p:pic>
        <p:nvPicPr>
          <p:cNvPr id="18" name="Image 0" descr="icon">    </p:cNvPr>
          <p:cNvPicPr>
            <a:picLocks noChangeAspect="1"/>
          </p:cNvPicPr>
          <p:nvPr/>
        </p:nvPicPr>
        <p:blipFill>
          <a:blip r:embed="rId1"/>
          <a:stretch>
            <a:fillRect/>
          </a:stretch>
        </p:blipFill>
        <p:spPr>
          <a:xfrm>
            <a:off x="1067471" y="4084991"/>
            <a:ext cx="260787" cy="260787"/>
          </a:xfrm>
          <a:prstGeom prst="rect">
            <a:avLst/>
          </a:prstGeom>
        </p:spPr>
      </p:pic>
      <p:sp>
        <p:nvSpPr>
          <p:cNvPr id="19" name="Text 16"/>
          <p:cNvSpPr txBox="1"/>
          <p:nvPr/>
        </p:nvSpPr>
        <p:spPr>
          <a:xfrm>
            <a:off x="1645920" y="3931920"/>
            <a:ext cx="2468880" cy="566928"/>
          </a:xfrm>
          <a:prstGeom prst="rect">
            <a:avLst/>
          </a:prstGeom>
          <a:noFill/>
          <a:ln/>
        </p:spPr>
        <p:txBody>
          <a:bodyPr wrap="square" lIns="0" tIns="0" rIns="0" bIns="0" rtlCol="0" anchor="ctr"/>
          <a:lstStyle/>
          <a:p>
            <a:pPr indent="0" marL="0">
              <a:buNone/>
            </a:pPr>
            <a:r>
              <a:rPr lang="en-US" sz="1700" b="1" dirty="0">
                <a:solidFill>
                  <a:srgbClr val="EDE8DC"/>
                </a:solidFill>
                <a:latin typeface="Cambria" pitchFamily="34" charset="0"/>
                <a:ea typeface="Cambria" pitchFamily="34" charset="-122"/>
                <a:cs typeface="Cambria" pitchFamily="34" charset="-120"/>
              </a:rPr>
              <a:t>TRL 9 readiness</a:t>
            </a:r>
            <a:endParaRPr lang="en-US" sz="1700" dirty="0"/>
          </a:p>
        </p:txBody>
      </p:sp>
      <p:sp>
        <p:nvSpPr>
          <p:cNvPr id="20" name="Text 17"/>
          <p:cNvSpPr txBox="1"/>
          <p:nvPr/>
        </p:nvSpPr>
        <p:spPr>
          <a:xfrm>
            <a:off x="914400" y="4709160"/>
            <a:ext cx="3063240" cy="1463040"/>
          </a:xfrm>
          <a:prstGeom prst="rect">
            <a:avLst/>
          </a:prstGeom>
          <a:noFill/>
          <a:ln/>
        </p:spPr>
        <p:txBody>
          <a:bodyPr wrap="square" lIns="0" tIns="0" rIns="0" bIns="0" rtlCol="0" anchor="t"/>
          <a:lstStyle/>
          <a:p>
            <a:pPr indent="0" marL="0">
              <a:buNone/>
            </a:pPr>
            <a:r>
              <a:rPr lang="en-US" sz="1300" dirty="0">
                <a:solidFill>
                  <a:srgbClr val="98A4B8"/>
                </a:solidFill>
                <a:latin typeface="Calibri" pitchFamily="34" charset="0"/>
                <a:ea typeface="Calibri" pitchFamily="34" charset="-122"/>
                <a:cs typeface="Calibri" pitchFamily="34" charset="-120"/>
              </a:rPr>
              <a:t>Products passed full verification in real combat conditions, with hundreds of positive feedback reports from military units.</a:t>
            </a:r>
            <a:endParaRPr lang="en-US" sz="1300" dirty="0"/>
          </a:p>
        </p:txBody>
      </p:sp>
      <p:sp>
        <p:nvSpPr>
          <p:cNvPr id="21" name="Readiness card"/>
          <p:cNvSpPr/>
          <p:nvPr/>
        </p:nvSpPr>
        <p:spPr>
          <a:xfrm>
            <a:off x="4297680" y="3703320"/>
            <a:ext cx="3593592" cy="2514600"/>
          </a:xfrm>
          <a:prstGeom prst="rect">
            <a:avLst/>
          </a:prstGeom>
          <a:solidFill>
            <a:srgbClr val="111B2E"/>
          </a:solidFill>
          <a:ln w="9525">
            <a:solidFill>
              <a:srgbClr val="22334F"/>
            </a:solidFill>
            <a:prstDash val="solid"/>
          </a:ln>
        </p:spPr>
      </p:sp>
      <p:sp>
        <p:nvSpPr>
          <p:cNvPr id="22" name="IconRing"/>
          <p:cNvSpPr/>
          <p:nvPr/>
        </p:nvSpPr>
        <p:spPr>
          <a:xfrm>
            <a:off x="4572000" y="3931920"/>
            <a:ext cx="566928" cy="566928"/>
          </a:xfrm>
          <a:prstGeom prst="ellipse">
            <a:avLst/>
          </a:prstGeom>
          <a:solidFill>
            <a:srgbClr val="0B1220"/>
          </a:solidFill>
          <a:ln w="12700">
            <a:solidFill>
              <a:srgbClr val="C2A25D"/>
            </a:solidFill>
            <a:prstDash val="solid"/>
          </a:ln>
        </p:spPr>
      </p:sp>
      <p:pic>
        <p:nvPicPr>
          <p:cNvPr id="23" name="Image 1" descr="icon">    </p:cNvPr>
          <p:cNvPicPr>
            <a:picLocks noChangeAspect="1"/>
          </p:cNvPicPr>
          <p:nvPr/>
        </p:nvPicPr>
        <p:blipFill>
          <a:blip r:embed="rId2"/>
          <a:stretch>
            <a:fillRect/>
          </a:stretch>
        </p:blipFill>
        <p:spPr>
          <a:xfrm>
            <a:off x="4725071" y="4084991"/>
            <a:ext cx="260787" cy="260787"/>
          </a:xfrm>
          <a:prstGeom prst="rect">
            <a:avLst/>
          </a:prstGeom>
        </p:spPr>
      </p:pic>
      <p:sp>
        <p:nvSpPr>
          <p:cNvPr id="24" name="Text 20"/>
          <p:cNvSpPr txBox="1"/>
          <p:nvPr/>
        </p:nvSpPr>
        <p:spPr>
          <a:xfrm>
            <a:off x="5303520" y="3931920"/>
            <a:ext cx="2468880" cy="566928"/>
          </a:xfrm>
          <a:prstGeom prst="rect">
            <a:avLst/>
          </a:prstGeom>
          <a:noFill/>
          <a:ln/>
        </p:spPr>
        <p:txBody>
          <a:bodyPr wrap="square" lIns="0" tIns="0" rIns="0" bIns="0" rtlCol="0" anchor="ctr"/>
          <a:lstStyle/>
          <a:p>
            <a:pPr indent="0" marL="0">
              <a:buNone/>
            </a:pPr>
            <a:r>
              <a:rPr lang="en-US" sz="1700" b="1" dirty="0">
                <a:solidFill>
                  <a:srgbClr val="EDE8DC"/>
                </a:solidFill>
                <a:latin typeface="Cambria" pitchFamily="34" charset="0"/>
                <a:ea typeface="Cambria" pitchFamily="34" charset="-122"/>
                <a:cs typeface="Cambria" pitchFamily="34" charset="-120"/>
              </a:rPr>
              <a:t>International forums</a:t>
            </a:r>
            <a:endParaRPr lang="en-US" sz="1700" dirty="0"/>
          </a:p>
        </p:txBody>
      </p:sp>
      <p:sp>
        <p:nvSpPr>
          <p:cNvPr id="25" name="Text 21"/>
          <p:cNvSpPr txBox="1"/>
          <p:nvPr/>
        </p:nvSpPr>
        <p:spPr>
          <a:xfrm>
            <a:off x="4572000" y="4709160"/>
            <a:ext cx="3063240" cy="1463040"/>
          </a:xfrm>
          <a:prstGeom prst="rect">
            <a:avLst/>
          </a:prstGeom>
          <a:noFill/>
          <a:ln/>
        </p:spPr>
        <p:txBody>
          <a:bodyPr wrap="square" lIns="0" tIns="0" rIns="0" bIns="0" rtlCol="0" anchor="t"/>
          <a:lstStyle/>
          <a:p>
            <a:pPr indent="0" marL="0">
              <a:buNone/>
            </a:pPr>
            <a:r>
              <a:rPr lang="en-US" sz="1300" dirty="0">
                <a:solidFill>
                  <a:srgbClr val="98A4B8"/>
                </a:solidFill>
                <a:latin typeface="Calibri" pitchFamily="34" charset="0"/>
                <a:ea typeface="Calibri" pitchFamily="34" charset="-122"/>
                <a:cs typeface="Calibri" pitchFamily="34" charset="-120"/>
              </a:rPr>
              <a:t>Participation in, and official invitations to, defense events in the USA, Lithuania, Norway, Italy and others.</a:t>
            </a:r>
            <a:endParaRPr lang="en-US" sz="1300" dirty="0"/>
          </a:p>
        </p:txBody>
      </p:sp>
      <p:sp>
        <p:nvSpPr>
          <p:cNvPr id="26" name="Readiness card"/>
          <p:cNvSpPr/>
          <p:nvPr/>
        </p:nvSpPr>
        <p:spPr>
          <a:xfrm>
            <a:off x="7955280" y="3703320"/>
            <a:ext cx="3593592" cy="2514600"/>
          </a:xfrm>
          <a:prstGeom prst="rect">
            <a:avLst/>
          </a:prstGeom>
          <a:solidFill>
            <a:srgbClr val="111B2E"/>
          </a:solidFill>
          <a:ln w="9525">
            <a:solidFill>
              <a:srgbClr val="22334F"/>
            </a:solidFill>
            <a:prstDash val="solid"/>
          </a:ln>
        </p:spPr>
      </p:sp>
      <p:sp>
        <p:nvSpPr>
          <p:cNvPr id="27" name="IconRing"/>
          <p:cNvSpPr/>
          <p:nvPr/>
        </p:nvSpPr>
        <p:spPr>
          <a:xfrm>
            <a:off x="8229600" y="3931920"/>
            <a:ext cx="566928" cy="566928"/>
          </a:xfrm>
          <a:prstGeom prst="ellipse">
            <a:avLst/>
          </a:prstGeom>
          <a:solidFill>
            <a:srgbClr val="0B1220"/>
          </a:solidFill>
          <a:ln w="12700">
            <a:solidFill>
              <a:srgbClr val="C2A25D"/>
            </a:solidFill>
            <a:prstDash val="solid"/>
          </a:ln>
        </p:spPr>
      </p:sp>
      <p:pic>
        <p:nvPicPr>
          <p:cNvPr id="28" name="Image 2" descr="icon">    </p:cNvPr>
          <p:cNvPicPr>
            <a:picLocks noChangeAspect="1"/>
          </p:cNvPicPr>
          <p:nvPr/>
        </p:nvPicPr>
        <p:blipFill>
          <a:blip r:embed="rId3"/>
          <a:stretch>
            <a:fillRect/>
          </a:stretch>
        </p:blipFill>
        <p:spPr>
          <a:xfrm>
            <a:off x="8382671" y="4084991"/>
            <a:ext cx="260787" cy="260787"/>
          </a:xfrm>
          <a:prstGeom prst="rect">
            <a:avLst/>
          </a:prstGeom>
        </p:spPr>
      </p:pic>
      <p:sp>
        <p:nvSpPr>
          <p:cNvPr id="29" name="Text 24"/>
          <p:cNvSpPr txBox="1"/>
          <p:nvPr/>
        </p:nvSpPr>
        <p:spPr>
          <a:xfrm>
            <a:off x="8961120" y="3931920"/>
            <a:ext cx="2468880" cy="566928"/>
          </a:xfrm>
          <a:prstGeom prst="rect">
            <a:avLst/>
          </a:prstGeom>
          <a:noFill/>
          <a:ln/>
        </p:spPr>
        <p:txBody>
          <a:bodyPr wrap="square" lIns="0" tIns="0" rIns="0" bIns="0" rtlCol="0" anchor="ctr"/>
          <a:lstStyle/>
          <a:p>
            <a:pPr indent="0" marL="0">
              <a:buNone/>
            </a:pPr>
            <a:r>
              <a:rPr lang="en-US" sz="1700" b="1" dirty="0">
                <a:solidFill>
                  <a:srgbClr val="EDE8DC"/>
                </a:solidFill>
                <a:latin typeface="Cambria" pitchFamily="34" charset="0"/>
                <a:ea typeface="Cambria" pitchFamily="34" charset="-122"/>
                <a:cs typeface="Cambria" pitchFamily="34" charset="-120"/>
              </a:rPr>
              <a:t>Partnerships and certification</a:t>
            </a:r>
            <a:endParaRPr lang="en-US" sz="1700" dirty="0"/>
          </a:p>
        </p:txBody>
      </p:sp>
      <p:sp>
        <p:nvSpPr>
          <p:cNvPr id="30" name="Text 25"/>
          <p:cNvSpPr txBox="1"/>
          <p:nvPr/>
        </p:nvSpPr>
        <p:spPr>
          <a:xfrm>
            <a:off x="8229600" y="4709160"/>
            <a:ext cx="3063240" cy="1463040"/>
          </a:xfrm>
          <a:prstGeom prst="rect">
            <a:avLst/>
          </a:prstGeom>
          <a:noFill/>
          <a:ln/>
        </p:spPr>
        <p:txBody>
          <a:bodyPr wrap="square" lIns="0" tIns="0" rIns="0" bIns="0" rtlCol="0" anchor="t"/>
          <a:lstStyle/>
          <a:p>
            <a:pPr indent="0" marL="0">
              <a:buNone/>
            </a:pPr>
            <a:r>
              <a:rPr lang="en-US" sz="1300" dirty="0">
                <a:solidFill>
                  <a:srgbClr val="98A4B8"/>
                </a:solidFill>
                <a:latin typeface="Calibri" pitchFamily="34" charset="0"/>
                <a:ea typeface="Calibri" pitchFamily="34" charset="-122"/>
                <a:cs typeface="Calibri" pitchFamily="34" charset="-120"/>
              </a:rPr>
              <a:t>Preliminary cooperation agreements reached; codification, patenting and international certification under way.</a:t>
            </a:r>
            <a:endParaRPr lang="en-US" sz="1300" dirty="0"/>
          </a:p>
        </p:txBody>
      </p:sp>
      <p:sp>
        <p:nvSpPr>
          <p:cNvPr id="25" name="Slide Number Placeholder 0"/>
          <p:cNvSpPr>
            <a:spLocks noGrp="1"/>
          </p:cNvSpPr>
          <p:nvPr>
            <p:ph type="sldNum" sz="quarter" idx="4294967295"/>
          </p:nvPr>
        </p:nvSpPr>
        <p:spPr>
          <a:xfrm>
            <a:off x="10820095" y="20116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A25D"/>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640080" y="777240"/>
            <a:ext cx="8229600" cy="274320"/>
          </a:xfrm>
          <a:prstGeom prst="rect">
            <a:avLst/>
          </a:prstGeom>
          <a:noFill/>
          <a:ln/>
        </p:spPr>
        <p:txBody>
          <a:bodyPr wrap="square" lIns="0" tIns="0" rIns="0" bIns="0" rtlCol="0" anchor="ctr"/>
          <a:lstStyle/>
          <a:p>
            <a:pPr indent="0" marL="0">
              <a:buNone/>
            </a:pPr>
            <a:r>
              <a:rPr lang="en-US" sz="1200" b="1" spc="400" kern="0" dirty="0">
                <a:solidFill>
                  <a:srgbClr val="C2A25D"/>
                </a:solidFill>
                <a:latin typeface="Calibri" pitchFamily="34" charset="0"/>
                <a:ea typeface="Calibri" pitchFamily="34" charset="-122"/>
                <a:cs typeface="Calibri" pitchFamily="34" charset="-120"/>
              </a:rPr>
              <a:t>ROADMAP</a:t>
            </a:r>
            <a:endParaRPr lang="en-US" sz="1200" dirty="0"/>
          </a:p>
        </p:txBody>
      </p:sp>
      <p:sp>
        <p:nvSpPr>
          <p:cNvPr id="3" name="Title"/>
          <p:cNvSpPr txBox="1"/>
          <p:nvPr/>
        </p:nvSpPr>
        <p:spPr>
          <a:xfrm>
            <a:off x="640080" y="1051560"/>
            <a:ext cx="10515600" cy="822960"/>
          </a:xfrm>
          <a:prstGeom prst="rect">
            <a:avLst/>
          </a:prstGeom>
          <a:noFill/>
          <a:ln/>
        </p:spPr>
        <p:txBody>
          <a:bodyPr wrap="square" lIns="0" tIns="0" rIns="0" bIns="0" rtlCol="0" anchor="t"/>
          <a:lstStyle/>
          <a:p>
            <a:pPr indent="0" marL="0">
              <a:buNone/>
            </a:pPr>
            <a:r>
              <a:rPr lang="en-US" sz="3600" b="1" dirty="0">
                <a:solidFill>
                  <a:srgbClr val="EDE8DC"/>
                </a:solidFill>
                <a:latin typeface="Cambria" pitchFamily="34" charset="0"/>
                <a:ea typeface="Cambria" pitchFamily="34" charset="-122"/>
                <a:cs typeface="Cambria" pitchFamily="34" charset="-120"/>
              </a:rPr>
              <a:t>Our path to the NATO market</a:t>
            </a:r>
            <a:endParaRPr lang="en-US" sz="3600" dirty="0"/>
          </a:p>
        </p:txBody>
      </p:sp>
      <p:sp>
        <p:nvSpPr>
          <p:cNvPr id="4" name="Shape 2"/>
          <p:cNvSpPr/>
          <p:nvPr/>
        </p:nvSpPr>
        <p:spPr>
          <a:xfrm>
            <a:off x="960120" y="2514600"/>
            <a:ext cx="8229600" cy="0"/>
          </a:xfrm>
          <a:prstGeom prst="line">
            <a:avLst/>
          </a:prstGeom>
          <a:noFill/>
          <a:ln w="19050">
            <a:solidFill>
              <a:srgbClr val="2F4468"/>
            </a:solidFill>
            <a:prstDash val="solid"/>
          </a:ln>
        </p:spPr>
      </p:sp>
      <p:sp>
        <p:nvSpPr>
          <p:cNvPr id="5" name="Step marker"/>
          <p:cNvSpPr/>
          <p:nvPr/>
        </p:nvSpPr>
        <p:spPr>
          <a:xfrm>
            <a:off x="640080" y="2194560"/>
            <a:ext cx="640080" cy="640080"/>
          </a:xfrm>
          <a:prstGeom prst="ellipse">
            <a:avLst/>
          </a:prstGeom>
          <a:solidFill>
            <a:srgbClr val="0B1220"/>
          </a:solidFill>
          <a:ln w="19050">
            <a:solidFill>
              <a:srgbClr val="C2A25D"/>
            </a:solidFill>
            <a:prstDash val="solid"/>
          </a:ln>
        </p:spPr>
      </p:sp>
      <p:sp>
        <p:nvSpPr>
          <p:cNvPr id="6" name="Text 4"/>
          <p:cNvSpPr txBox="1"/>
          <p:nvPr/>
        </p:nvSpPr>
        <p:spPr>
          <a:xfrm>
            <a:off x="640080" y="2194560"/>
            <a:ext cx="640080" cy="640080"/>
          </a:xfrm>
          <a:prstGeom prst="rect">
            <a:avLst/>
          </a:prstGeom>
          <a:noFill/>
          <a:ln/>
        </p:spPr>
        <p:txBody>
          <a:bodyPr wrap="square" lIns="0" tIns="0" rIns="0" bIns="0" rtlCol="0" anchor="ctr"/>
          <a:lstStyle/>
          <a:p>
            <a:pPr algn="ctr" indent="0" marL="0">
              <a:buNone/>
            </a:pPr>
            <a:r>
              <a:rPr lang="en-US" sz="2200" b="1" dirty="0">
                <a:solidFill>
                  <a:srgbClr val="C2A25D"/>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640080" y="3063240"/>
            <a:ext cx="2514600" cy="685800"/>
          </a:xfrm>
          <a:prstGeom prst="rect">
            <a:avLst/>
          </a:prstGeom>
          <a:noFill/>
          <a:ln/>
        </p:spPr>
        <p:txBody>
          <a:bodyPr wrap="square" lIns="0" tIns="0" rIns="0" bIns="0" rtlCol="0" anchor="t"/>
          <a:lstStyle/>
          <a:p>
            <a:pPr indent="0" marL="0">
              <a:buNone/>
            </a:pPr>
            <a:r>
              <a:rPr lang="en-US" sz="1900" b="1" dirty="0">
                <a:solidFill>
                  <a:srgbClr val="EDE8DC"/>
                </a:solidFill>
                <a:latin typeface="Cambria" pitchFamily="34" charset="0"/>
                <a:ea typeface="Cambria" pitchFamily="34" charset="-122"/>
                <a:cs typeface="Cambria" pitchFamily="34" charset="-120"/>
              </a:rPr>
              <a:t>Export and certification</a:t>
            </a:r>
            <a:endParaRPr lang="en-US" sz="1900" dirty="0"/>
          </a:p>
        </p:txBody>
      </p:sp>
      <p:sp>
        <p:nvSpPr>
          <p:cNvPr id="8" name="Text 6"/>
          <p:cNvSpPr txBox="1"/>
          <p:nvPr/>
        </p:nvSpPr>
        <p:spPr>
          <a:xfrm>
            <a:off x="640080" y="3794760"/>
            <a:ext cx="2423160" cy="1005840"/>
          </a:xfrm>
          <a:prstGeom prst="rect">
            <a:avLst/>
          </a:prstGeom>
          <a:noFill/>
          <a:ln/>
        </p:spPr>
        <p:txBody>
          <a:bodyPr wrap="square" lIns="0" tIns="0" rIns="0" bIns="0" rtlCol="0" anchor="t"/>
          <a:lstStyle/>
          <a:p>
            <a:pPr indent="0" marL="0">
              <a:buNone/>
            </a:pPr>
            <a:r>
              <a:rPr lang="en-US" sz="1300" dirty="0">
                <a:solidFill>
                  <a:srgbClr val="98A4B8"/>
                </a:solidFill>
                <a:latin typeface="Calibri" pitchFamily="34" charset="0"/>
                <a:ea typeface="Calibri" pitchFamily="34" charset="-122"/>
                <a:cs typeface="Calibri" pitchFamily="34" charset="-120"/>
              </a:rPr>
              <a:t>Complete codification, obtain export permits and international certificates.</a:t>
            </a:r>
            <a:endParaRPr lang="en-US" sz="1300" dirty="0"/>
          </a:p>
        </p:txBody>
      </p:sp>
      <p:sp>
        <p:nvSpPr>
          <p:cNvPr id="9" name="Step marker"/>
          <p:cNvSpPr/>
          <p:nvPr/>
        </p:nvSpPr>
        <p:spPr>
          <a:xfrm>
            <a:off x="3383280" y="2194560"/>
            <a:ext cx="640080" cy="640080"/>
          </a:xfrm>
          <a:prstGeom prst="ellipse">
            <a:avLst/>
          </a:prstGeom>
          <a:solidFill>
            <a:srgbClr val="0B1220"/>
          </a:solidFill>
          <a:ln w="19050">
            <a:solidFill>
              <a:srgbClr val="C2A25D"/>
            </a:solidFill>
            <a:prstDash val="solid"/>
          </a:ln>
        </p:spPr>
      </p:sp>
      <p:sp>
        <p:nvSpPr>
          <p:cNvPr id="10" name="Text 8"/>
          <p:cNvSpPr txBox="1"/>
          <p:nvPr/>
        </p:nvSpPr>
        <p:spPr>
          <a:xfrm>
            <a:off x="3383280" y="2194560"/>
            <a:ext cx="640080" cy="640080"/>
          </a:xfrm>
          <a:prstGeom prst="rect">
            <a:avLst/>
          </a:prstGeom>
          <a:noFill/>
          <a:ln/>
        </p:spPr>
        <p:txBody>
          <a:bodyPr wrap="square" lIns="0" tIns="0" rIns="0" bIns="0" rtlCol="0" anchor="ctr"/>
          <a:lstStyle/>
          <a:p>
            <a:pPr algn="ctr" indent="0" marL="0">
              <a:buNone/>
            </a:pPr>
            <a:r>
              <a:rPr lang="en-US" sz="2200" b="1" dirty="0">
                <a:solidFill>
                  <a:srgbClr val="C2A25D"/>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3383280" y="3063240"/>
            <a:ext cx="2514600" cy="685800"/>
          </a:xfrm>
          <a:prstGeom prst="rect">
            <a:avLst/>
          </a:prstGeom>
          <a:noFill/>
          <a:ln/>
        </p:spPr>
        <p:txBody>
          <a:bodyPr wrap="square" lIns="0" tIns="0" rIns="0" bIns="0" rtlCol="0" anchor="t"/>
          <a:lstStyle/>
          <a:p>
            <a:pPr indent="0" marL="0">
              <a:buNone/>
            </a:pPr>
            <a:r>
              <a:rPr lang="en-US" sz="1900" b="1" dirty="0">
                <a:solidFill>
                  <a:srgbClr val="EDE8DC"/>
                </a:solidFill>
                <a:latin typeface="Cambria" pitchFamily="34" charset="0"/>
                <a:ea typeface="Cambria" pitchFamily="34" charset="-122"/>
                <a:cs typeface="Cambria" pitchFamily="34" charset="-120"/>
              </a:rPr>
              <a:t>European hub</a:t>
            </a:r>
            <a:endParaRPr lang="en-US" sz="1900" dirty="0"/>
          </a:p>
        </p:txBody>
      </p:sp>
      <p:sp>
        <p:nvSpPr>
          <p:cNvPr id="12" name="Text 10"/>
          <p:cNvSpPr txBox="1"/>
          <p:nvPr/>
        </p:nvSpPr>
        <p:spPr>
          <a:xfrm>
            <a:off x="3383280" y="3794760"/>
            <a:ext cx="2423160" cy="1005840"/>
          </a:xfrm>
          <a:prstGeom prst="rect">
            <a:avLst/>
          </a:prstGeom>
          <a:noFill/>
          <a:ln/>
        </p:spPr>
        <p:txBody>
          <a:bodyPr wrap="square" lIns="0" tIns="0" rIns="0" bIns="0" rtlCol="0" anchor="t"/>
          <a:lstStyle/>
          <a:p>
            <a:pPr indent="0" marL="0">
              <a:buNone/>
            </a:pPr>
            <a:r>
              <a:rPr lang="en-US" sz="1300" dirty="0">
                <a:solidFill>
                  <a:srgbClr val="98A4B8"/>
                </a:solidFill>
                <a:latin typeface="Calibri" pitchFamily="34" charset="0"/>
                <a:ea typeface="Calibri" pitchFamily="34" charset="-122"/>
                <a:cs typeface="Calibri" pitchFamily="34" charset="-120"/>
              </a:rPr>
              <a:t>Establish an official presence and legal entity in Poland or Italy.</a:t>
            </a:r>
            <a:endParaRPr lang="en-US" sz="1300" dirty="0"/>
          </a:p>
        </p:txBody>
      </p:sp>
      <p:sp>
        <p:nvSpPr>
          <p:cNvPr id="13" name="Step marker"/>
          <p:cNvSpPr/>
          <p:nvPr/>
        </p:nvSpPr>
        <p:spPr>
          <a:xfrm>
            <a:off x="6126480" y="2194560"/>
            <a:ext cx="640080" cy="640080"/>
          </a:xfrm>
          <a:prstGeom prst="ellipse">
            <a:avLst/>
          </a:prstGeom>
          <a:solidFill>
            <a:srgbClr val="0B1220"/>
          </a:solidFill>
          <a:ln w="19050">
            <a:solidFill>
              <a:srgbClr val="C2A25D"/>
            </a:solidFill>
            <a:prstDash val="solid"/>
          </a:ln>
        </p:spPr>
      </p:sp>
      <p:sp>
        <p:nvSpPr>
          <p:cNvPr id="14" name="Text 12"/>
          <p:cNvSpPr txBox="1"/>
          <p:nvPr/>
        </p:nvSpPr>
        <p:spPr>
          <a:xfrm>
            <a:off x="6126480" y="2194560"/>
            <a:ext cx="640080" cy="640080"/>
          </a:xfrm>
          <a:prstGeom prst="rect">
            <a:avLst/>
          </a:prstGeom>
          <a:noFill/>
          <a:ln/>
        </p:spPr>
        <p:txBody>
          <a:bodyPr wrap="square" lIns="0" tIns="0" rIns="0" bIns="0" rtlCol="0" anchor="ctr"/>
          <a:lstStyle/>
          <a:p>
            <a:pPr algn="ctr" indent="0" marL="0">
              <a:buNone/>
            </a:pPr>
            <a:r>
              <a:rPr lang="en-US" sz="2200" b="1" dirty="0">
                <a:solidFill>
                  <a:srgbClr val="C2A25D"/>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6126480" y="3063240"/>
            <a:ext cx="2514600" cy="685800"/>
          </a:xfrm>
          <a:prstGeom prst="rect">
            <a:avLst/>
          </a:prstGeom>
          <a:noFill/>
          <a:ln/>
        </p:spPr>
        <p:txBody>
          <a:bodyPr wrap="square" lIns="0" tIns="0" rIns="0" bIns="0" rtlCol="0" anchor="t"/>
          <a:lstStyle/>
          <a:p>
            <a:pPr indent="0" marL="0">
              <a:buNone/>
            </a:pPr>
            <a:r>
              <a:rPr lang="en-US" sz="1900" b="1" dirty="0">
                <a:solidFill>
                  <a:srgbClr val="EDE8DC"/>
                </a:solidFill>
                <a:latin typeface="Cambria" pitchFamily="34" charset="0"/>
                <a:ea typeface="Cambria" pitchFamily="34" charset="-122"/>
                <a:cs typeface="Cambria" pitchFamily="34" charset="-120"/>
              </a:rPr>
              <a:t>Partner network</a:t>
            </a:r>
            <a:endParaRPr lang="en-US" sz="1900" dirty="0"/>
          </a:p>
        </p:txBody>
      </p:sp>
      <p:sp>
        <p:nvSpPr>
          <p:cNvPr id="16" name="Text 14"/>
          <p:cNvSpPr txBox="1"/>
          <p:nvPr/>
        </p:nvSpPr>
        <p:spPr>
          <a:xfrm>
            <a:off x="6126480" y="3794760"/>
            <a:ext cx="2423160" cy="1005840"/>
          </a:xfrm>
          <a:prstGeom prst="rect">
            <a:avLst/>
          </a:prstGeom>
          <a:noFill/>
          <a:ln/>
        </p:spPr>
        <p:txBody>
          <a:bodyPr wrap="square" lIns="0" tIns="0" rIns="0" bIns="0" rtlCol="0" anchor="t"/>
          <a:lstStyle/>
          <a:p>
            <a:pPr indent="0" marL="0">
              <a:buNone/>
            </a:pPr>
            <a:r>
              <a:rPr lang="en-US" sz="1300" dirty="0">
                <a:solidFill>
                  <a:srgbClr val="98A4B8"/>
                </a:solidFill>
                <a:latin typeface="Calibri" pitchFamily="34" charset="0"/>
                <a:ea typeface="Calibri" pitchFamily="34" charset="-122"/>
                <a:cs typeface="Calibri" pitchFamily="34" charset="-120"/>
              </a:rPr>
              <a:t>Build distribution and joint ventures with Western defense contractors.</a:t>
            </a:r>
            <a:endParaRPr lang="en-US" sz="1300" dirty="0"/>
          </a:p>
        </p:txBody>
      </p:sp>
      <p:sp>
        <p:nvSpPr>
          <p:cNvPr id="17" name="Step marker"/>
          <p:cNvSpPr/>
          <p:nvPr/>
        </p:nvSpPr>
        <p:spPr>
          <a:xfrm>
            <a:off x="8869680" y="2194560"/>
            <a:ext cx="640080" cy="640080"/>
          </a:xfrm>
          <a:prstGeom prst="ellipse">
            <a:avLst/>
          </a:prstGeom>
          <a:solidFill>
            <a:srgbClr val="0B1220"/>
          </a:solidFill>
          <a:ln w="19050">
            <a:solidFill>
              <a:srgbClr val="C2A25D"/>
            </a:solidFill>
            <a:prstDash val="solid"/>
          </a:ln>
        </p:spPr>
      </p:sp>
      <p:sp>
        <p:nvSpPr>
          <p:cNvPr id="18" name="Text 16"/>
          <p:cNvSpPr txBox="1"/>
          <p:nvPr/>
        </p:nvSpPr>
        <p:spPr>
          <a:xfrm>
            <a:off x="8869680" y="2194560"/>
            <a:ext cx="640080" cy="640080"/>
          </a:xfrm>
          <a:prstGeom prst="rect">
            <a:avLst/>
          </a:prstGeom>
          <a:noFill/>
          <a:ln/>
        </p:spPr>
        <p:txBody>
          <a:bodyPr wrap="square" lIns="0" tIns="0" rIns="0" bIns="0" rtlCol="0" anchor="ctr"/>
          <a:lstStyle/>
          <a:p>
            <a:pPr algn="ctr" indent="0" marL="0">
              <a:buNone/>
            </a:pPr>
            <a:r>
              <a:rPr lang="en-US" sz="2200" b="1" dirty="0">
                <a:solidFill>
                  <a:srgbClr val="C2A25D"/>
                </a:solidFill>
                <a:latin typeface="Cambria" pitchFamily="34" charset="0"/>
                <a:ea typeface="Cambria" pitchFamily="34" charset="-122"/>
                <a:cs typeface="Cambria" pitchFamily="34" charset="-120"/>
              </a:rPr>
              <a:t>4</a:t>
            </a:r>
            <a:endParaRPr lang="en-US" sz="2200" dirty="0"/>
          </a:p>
        </p:txBody>
      </p:sp>
      <p:sp>
        <p:nvSpPr>
          <p:cNvPr id="19" name="Text 17"/>
          <p:cNvSpPr txBox="1"/>
          <p:nvPr/>
        </p:nvSpPr>
        <p:spPr>
          <a:xfrm>
            <a:off x="8869680" y="3063240"/>
            <a:ext cx="2514600" cy="685800"/>
          </a:xfrm>
          <a:prstGeom prst="rect">
            <a:avLst/>
          </a:prstGeom>
          <a:noFill/>
          <a:ln/>
        </p:spPr>
        <p:txBody>
          <a:bodyPr wrap="square" lIns="0" tIns="0" rIns="0" bIns="0" rtlCol="0" anchor="t"/>
          <a:lstStyle/>
          <a:p>
            <a:pPr indent="0" marL="0">
              <a:buNone/>
            </a:pPr>
            <a:r>
              <a:rPr lang="en-US" sz="1900" b="1" dirty="0">
                <a:solidFill>
                  <a:srgbClr val="EDE8DC"/>
                </a:solidFill>
                <a:latin typeface="Cambria" pitchFamily="34" charset="0"/>
                <a:ea typeface="Cambria" pitchFamily="34" charset="-122"/>
                <a:cs typeface="Cambria" pitchFamily="34" charset="-120"/>
              </a:rPr>
              <a:t>Serial supply</a:t>
            </a:r>
            <a:endParaRPr lang="en-US" sz="1900" dirty="0"/>
          </a:p>
        </p:txBody>
      </p:sp>
      <p:sp>
        <p:nvSpPr>
          <p:cNvPr id="20" name="Text 18"/>
          <p:cNvSpPr txBox="1"/>
          <p:nvPr/>
        </p:nvSpPr>
        <p:spPr>
          <a:xfrm>
            <a:off x="8869680" y="3794760"/>
            <a:ext cx="2423160" cy="1005840"/>
          </a:xfrm>
          <a:prstGeom prst="rect">
            <a:avLst/>
          </a:prstGeom>
          <a:noFill/>
          <a:ln/>
        </p:spPr>
        <p:txBody>
          <a:bodyPr wrap="square" lIns="0" tIns="0" rIns="0" bIns="0" rtlCol="0" anchor="t"/>
          <a:lstStyle/>
          <a:p>
            <a:pPr indent="0" marL="0">
              <a:buNone/>
            </a:pPr>
            <a:r>
              <a:rPr lang="en-US" sz="1300" dirty="0">
                <a:solidFill>
                  <a:srgbClr val="98A4B8"/>
                </a:solidFill>
                <a:latin typeface="Calibri" pitchFamily="34" charset="0"/>
                <a:ea typeface="Calibri" pitchFamily="34" charset="-122"/>
                <a:cs typeface="Calibri" pitchFamily="34" charset="-120"/>
              </a:rPr>
              <a:t>Scale production to meet direct defense contracts with partners.</a:t>
            </a:r>
            <a:endParaRPr lang="en-US" sz="1300" dirty="0"/>
          </a:p>
        </p:txBody>
      </p:sp>
      <p:sp>
        <p:nvSpPr>
          <p:cNvPr id="21" name="Market panel"/>
          <p:cNvSpPr/>
          <p:nvPr/>
        </p:nvSpPr>
        <p:spPr>
          <a:xfrm>
            <a:off x="640080" y="4983480"/>
            <a:ext cx="10911535" cy="1280160"/>
          </a:xfrm>
          <a:prstGeom prst="rect">
            <a:avLst/>
          </a:prstGeom>
          <a:solidFill>
            <a:srgbClr val="111B2E"/>
          </a:solidFill>
          <a:ln w="9525">
            <a:solidFill>
              <a:srgbClr val="22334F"/>
            </a:solidFill>
            <a:prstDash val="solid"/>
          </a:ln>
        </p:spPr>
      </p:sp>
      <p:sp>
        <p:nvSpPr>
          <p:cNvPr id="22" name="Text 20"/>
          <p:cNvSpPr txBox="1"/>
          <p:nvPr/>
        </p:nvSpPr>
        <p:spPr>
          <a:xfrm>
            <a:off x="914400" y="5102352"/>
            <a:ext cx="2743200" cy="274320"/>
          </a:xfrm>
          <a:prstGeom prst="rect">
            <a:avLst/>
          </a:prstGeom>
          <a:noFill/>
          <a:ln/>
        </p:spPr>
        <p:txBody>
          <a:bodyPr wrap="square" lIns="0" tIns="0" rIns="0" bIns="0" rtlCol="0" anchor="ctr"/>
          <a:lstStyle/>
          <a:p>
            <a:pPr indent="0" marL="0">
              <a:buNone/>
            </a:pPr>
            <a:r>
              <a:rPr lang="en-US" sz="1200" b="1" spc="300" kern="0" dirty="0">
                <a:solidFill>
                  <a:srgbClr val="C2A25D"/>
                </a:solidFill>
                <a:latin typeface="Calibri" pitchFamily="34" charset="0"/>
                <a:ea typeface="Calibri" pitchFamily="34" charset="-122"/>
                <a:cs typeface="Calibri" pitchFamily="34" charset="-120"/>
              </a:rPr>
              <a:t>WHY NOW</a:t>
            </a:r>
            <a:endParaRPr lang="en-US" sz="1200" dirty="0"/>
          </a:p>
        </p:txBody>
      </p:sp>
      <p:sp>
        <p:nvSpPr>
          <p:cNvPr id="23" name="Text 21"/>
          <p:cNvSpPr txBox="1"/>
          <p:nvPr/>
        </p:nvSpPr>
        <p:spPr>
          <a:xfrm>
            <a:off x="914400" y="5422392"/>
            <a:ext cx="10332720" cy="777240"/>
          </a:xfrm>
          <a:prstGeom prst="rect">
            <a:avLst/>
          </a:prstGeom>
          <a:noFill/>
          <a:ln/>
        </p:spPr>
        <p:txBody>
          <a:bodyPr wrap="square" lIns="0" tIns="0" rIns="0" bIns="0" rtlCol="0" anchor="t"/>
          <a:lstStyle/>
          <a:p>
            <a:pPr indent="0" marL="0">
              <a:buNone/>
            </a:pPr>
            <a:r>
              <a:rPr lang="en-US" sz="1400" dirty="0">
                <a:solidFill>
                  <a:srgbClr val="EDE8DC"/>
                </a:solidFill>
                <a:latin typeface="Calibri" pitchFamily="34" charset="0"/>
                <a:ea typeface="Calibri" pitchFamily="34" charset="-122"/>
                <a:cs typeface="Calibri" pitchFamily="34" charset="-120"/>
              </a:rPr>
              <a:t>Demand for counter-drone systems is rising sharply as European armed forces re-arm. Western buyers want solutions validated in real conditions against a technologically advanced adversary, with better price and speed than bulky alternatives.</a:t>
            </a:r>
            <a:endParaRPr lang="en-US" sz="1400" dirty="0"/>
          </a:p>
        </p:txBody>
      </p:sp>
      <p:sp>
        <p:nvSpPr>
          <p:cNvPr id="25" name="Slide Number Placeholder 0"/>
          <p:cNvSpPr>
            <a:spLocks noGrp="1"/>
          </p:cNvSpPr>
          <p:nvPr>
            <p:ph type="sldNum" sz="quarter" idx="4294967295"/>
          </p:nvPr>
        </p:nvSpPr>
        <p:spPr>
          <a:xfrm>
            <a:off x="10820095" y="20116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A25D"/>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Vanguard logo">    </p:cNvPr>
          <p:cNvPicPr>
            <a:picLocks noChangeAspect="1"/>
          </p:cNvPicPr>
          <p:nvPr/>
        </p:nvPicPr>
        <p:blipFill>
          <a:blip r:embed="rId1"/>
          <a:stretch>
            <a:fillRect/>
          </a:stretch>
        </p:blipFill>
        <p:spPr>
          <a:xfrm>
            <a:off x="640080" y="640080"/>
            <a:ext cx="2926080" cy="1173994"/>
          </a:xfrm>
          <a:prstGeom prst="rect">
            <a:avLst/>
          </a:prstGeom>
        </p:spPr>
      </p:pic>
      <p:sp>
        <p:nvSpPr>
          <p:cNvPr id="3" name="Title"/>
          <p:cNvSpPr txBox="1"/>
          <p:nvPr/>
        </p:nvSpPr>
        <p:spPr>
          <a:xfrm>
            <a:off x="640080" y="2286000"/>
            <a:ext cx="6583680" cy="1463040"/>
          </a:xfrm>
          <a:prstGeom prst="rect">
            <a:avLst/>
          </a:prstGeom>
          <a:noFill/>
          <a:ln/>
        </p:spPr>
        <p:txBody>
          <a:bodyPr wrap="square" lIns="0" tIns="0" rIns="0" bIns="0" rtlCol="0" anchor="t"/>
          <a:lstStyle/>
          <a:p>
            <a:pPr indent="0" marL="0">
              <a:buNone/>
            </a:pPr>
            <a:r>
              <a:rPr lang="en-US" sz="4000" b="1" dirty="0">
                <a:solidFill>
                  <a:srgbClr val="EDE8DC"/>
                </a:solidFill>
                <a:latin typeface="Cambria" pitchFamily="34" charset="0"/>
                <a:ea typeface="Cambria" pitchFamily="34" charset="-122"/>
                <a:cs typeface="Cambria" pitchFamily="34" charset="-120"/>
              </a:rPr>
              <a:t>Let’s build the future of defense technology together</a:t>
            </a:r>
            <a:endParaRPr lang="en-US" sz="4000" dirty="0"/>
          </a:p>
        </p:txBody>
      </p:sp>
      <p:sp>
        <p:nvSpPr>
          <p:cNvPr id="4" name="IconRing"/>
          <p:cNvSpPr/>
          <p:nvPr/>
        </p:nvSpPr>
        <p:spPr>
          <a:xfrm>
            <a:off x="640080" y="3931920"/>
            <a:ext cx="420624" cy="420624"/>
          </a:xfrm>
          <a:prstGeom prst="ellipse">
            <a:avLst/>
          </a:prstGeom>
          <a:solidFill>
            <a:srgbClr val="0B1220"/>
          </a:solidFill>
          <a:ln w="12700">
            <a:solidFill>
              <a:srgbClr val="C2A25D"/>
            </a:solidFill>
            <a:prstDash val="solid"/>
          </a:ln>
        </p:spPr>
      </p:sp>
      <p:pic>
        <p:nvPicPr>
          <p:cNvPr id="5" name="Image 1" descr="icon">    </p:cNvPr>
          <p:cNvPicPr>
            <a:picLocks noChangeAspect="1"/>
          </p:cNvPicPr>
          <p:nvPr/>
        </p:nvPicPr>
        <p:blipFill>
          <a:blip r:embed="rId2"/>
          <a:stretch>
            <a:fillRect/>
          </a:stretch>
        </p:blipFill>
        <p:spPr>
          <a:xfrm>
            <a:off x="753648" y="4045488"/>
            <a:ext cx="193487" cy="193487"/>
          </a:xfrm>
          <a:prstGeom prst="rect">
            <a:avLst/>
          </a:prstGeom>
        </p:spPr>
      </p:pic>
      <p:sp>
        <p:nvSpPr>
          <p:cNvPr id="6" name="Text 2"/>
          <p:cNvSpPr txBox="1"/>
          <p:nvPr/>
        </p:nvSpPr>
        <p:spPr>
          <a:xfrm>
            <a:off x="1280160" y="3931920"/>
            <a:ext cx="5486400" cy="420624"/>
          </a:xfrm>
          <a:prstGeom prst="rect">
            <a:avLst/>
          </a:prstGeom>
          <a:noFill/>
          <a:ln/>
        </p:spPr>
        <p:txBody>
          <a:bodyPr wrap="square" lIns="0" tIns="0" rIns="0" bIns="0" rtlCol="0" anchor="ctr"/>
          <a:lstStyle/>
          <a:p>
            <a:pPr indent="0" marL="0">
              <a:buNone/>
            </a:pPr>
            <a:r>
              <a:rPr lang="en-US" sz="1800" dirty="0">
                <a:solidFill>
                  <a:srgbClr val="EDE8DC"/>
                </a:solidFill>
                <a:latin typeface="Calibri" pitchFamily="34" charset="0"/>
                <a:ea typeface="Calibri" pitchFamily="34" charset="-122"/>
                <a:cs typeface="Calibri" pitchFamily="34" charset="-120"/>
              </a:rPr>
              <a:t>URS “Vanguard” LLC, Kyiv, Ukraine</a:t>
            </a:r>
            <a:endParaRPr lang="en-US" sz="1800" dirty="0"/>
          </a:p>
        </p:txBody>
      </p:sp>
      <p:sp>
        <p:nvSpPr>
          <p:cNvPr id="7" name="IconRing"/>
          <p:cNvSpPr/>
          <p:nvPr/>
        </p:nvSpPr>
        <p:spPr>
          <a:xfrm>
            <a:off x="640080" y="4535424"/>
            <a:ext cx="420624" cy="420624"/>
          </a:xfrm>
          <a:prstGeom prst="ellipse">
            <a:avLst/>
          </a:prstGeom>
          <a:solidFill>
            <a:srgbClr val="0B1220"/>
          </a:solidFill>
          <a:ln w="12700">
            <a:solidFill>
              <a:srgbClr val="C2A25D"/>
            </a:solidFill>
            <a:prstDash val="solid"/>
          </a:ln>
        </p:spPr>
      </p:sp>
      <p:pic>
        <p:nvPicPr>
          <p:cNvPr id="8" name="Image 2" descr="icon">    </p:cNvPr>
          <p:cNvPicPr>
            <a:picLocks noChangeAspect="1"/>
          </p:cNvPicPr>
          <p:nvPr/>
        </p:nvPicPr>
        <p:blipFill>
          <a:blip r:embed="rId3"/>
          <a:stretch>
            <a:fillRect/>
          </a:stretch>
        </p:blipFill>
        <p:spPr>
          <a:xfrm>
            <a:off x="753648" y="4648992"/>
            <a:ext cx="193487" cy="193487"/>
          </a:xfrm>
          <a:prstGeom prst="rect">
            <a:avLst/>
          </a:prstGeom>
        </p:spPr>
      </p:pic>
      <p:sp>
        <p:nvSpPr>
          <p:cNvPr id="9" name="Text 4"/>
          <p:cNvSpPr txBox="1"/>
          <p:nvPr/>
        </p:nvSpPr>
        <p:spPr>
          <a:xfrm>
            <a:off x="1280160" y="4535424"/>
            <a:ext cx="5486400" cy="420624"/>
          </a:xfrm>
          <a:prstGeom prst="rect">
            <a:avLst/>
          </a:prstGeom>
          <a:noFill/>
          <a:ln/>
        </p:spPr>
        <p:txBody>
          <a:bodyPr wrap="square" lIns="0" tIns="0" rIns="0" bIns="0" rtlCol="0" anchor="ctr"/>
          <a:lstStyle/>
          <a:p>
            <a:pPr indent="0" marL="0">
              <a:buNone/>
            </a:pPr>
            <a:r>
              <a:rPr lang="en-US" sz="1800" dirty="0">
                <a:solidFill>
                  <a:srgbClr val="EDE8DC"/>
                </a:solidFill>
                <a:latin typeface="Calibri" pitchFamily="34" charset="0"/>
                <a:ea typeface="Calibri" pitchFamily="34" charset="-122"/>
                <a:cs typeface="Calibri" pitchFamily="34" charset="-120"/>
              </a:rPr>
              <a:t>+38 (093) 968 59 73</a:t>
            </a:r>
            <a:endParaRPr lang="en-US" sz="1800" dirty="0"/>
          </a:p>
        </p:txBody>
      </p:sp>
      <p:sp>
        <p:nvSpPr>
          <p:cNvPr id="10" name="IconRing"/>
          <p:cNvSpPr/>
          <p:nvPr/>
        </p:nvSpPr>
        <p:spPr>
          <a:xfrm>
            <a:off x="640080" y="5138928"/>
            <a:ext cx="420624" cy="420624"/>
          </a:xfrm>
          <a:prstGeom prst="ellipse">
            <a:avLst/>
          </a:prstGeom>
          <a:solidFill>
            <a:srgbClr val="0B1220"/>
          </a:solidFill>
          <a:ln w="12700">
            <a:solidFill>
              <a:srgbClr val="C2A25D"/>
            </a:solidFill>
            <a:prstDash val="solid"/>
          </a:ln>
        </p:spPr>
      </p:sp>
      <p:pic>
        <p:nvPicPr>
          <p:cNvPr id="11" name="Image 3" descr="icon">    </p:cNvPr>
          <p:cNvPicPr>
            <a:picLocks noChangeAspect="1"/>
          </p:cNvPicPr>
          <p:nvPr/>
        </p:nvPicPr>
        <p:blipFill>
          <a:blip r:embed="rId4"/>
          <a:stretch>
            <a:fillRect/>
          </a:stretch>
        </p:blipFill>
        <p:spPr>
          <a:xfrm>
            <a:off x="753648" y="5252496"/>
            <a:ext cx="193487" cy="193487"/>
          </a:xfrm>
          <a:prstGeom prst="rect">
            <a:avLst/>
          </a:prstGeom>
        </p:spPr>
      </p:pic>
      <p:sp>
        <p:nvSpPr>
          <p:cNvPr id="12" name="Text 6"/>
          <p:cNvSpPr txBox="1"/>
          <p:nvPr/>
        </p:nvSpPr>
        <p:spPr>
          <a:xfrm>
            <a:off x="1280160" y="5138928"/>
            <a:ext cx="5486400" cy="420624"/>
          </a:xfrm>
          <a:prstGeom prst="rect">
            <a:avLst/>
          </a:prstGeom>
          <a:noFill/>
          <a:ln/>
        </p:spPr>
        <p:txBody>
          <a:bodyPr wrap="square" lIns="0" tIns="0" rIns="0" bIns="0" rtlCol="0" anchor="ctr"/>
          <a:lstStyle/>
          <a:p>
            <a:pPr indent="0" marL="0">
              <a:buNone/>
            </a:pPr>
            <a:r>
              <a:rPr lang="en-US" sz="1800" dirty="0">
                <a:solidFill>
                  <a:srgbClr val="EDE8DC"/>
                </a:solidFill>
                <a:latin typeface="Calibri" pitchFamily="34" charset="0"/>
                <a:ea typeface="Calibri" pitchFamily="34" charset="-122"/>
                <a:cs typeface="Calibri" pitchFamily="34" charset="-120"/>
              </a:rPr>
              <a:t>vanguardltd25@gmail.com</a:t>
            </a:r>
            <a:endParaRPr lang="en-US" sz="1800" dirty="0"/>
          </a:p>
        </p:txBody>
      </p:sp>
      <p:sp>
        <p:nvSpPr>
          <p:cNvPr id="13" name="IconRing"/>
          <p:cNvSpPr/>
          <p:nvPr/>
        </p:nvSpPr>
        <p:spPr>
          <a:xfrm>
            <a:off x="640080" y="5742432"/>
            <a:ext cx="420624" cy="420624"/>
          </a:xfrm>
          <a:prstGeom prst="ellipse">
            <a:avLst/>
          </a:prstGeom>
          <a:solidFill>
            <a:srgbClr val="0B1220"/>
          </a:solidFill>
          <a:ln w="12700">
            <a:solidFill>
              <a:srgbClr val="C2A25D"/>
            </a:solidFill>
            <a:prstDash val="solid"/>
          </a:ln>
        </p:spPr>
      </p:sp>
      <p:pic>
        <p:nvPicPr>
          <p:cNvPr id="14" name="Image 4" descr="icon">    </p:cNvPr>
          <p:cNvPicPr>
            <a:picLocks noChangeAspect="1"/>
          </p:cNvPicPr>
          <p:nvPr/>
        </p:nvPicPr>
        <p:blipFill>
          <a:blip r:embed="rId5"/>
          <a:stretch>
            <a:fillRect/>
          </a:stretch>
        </p:blipFill>
        <p:spPr>
          <a:xfrm>
            <a:off x="753648" y="5856000"/>
            <a:ext cx="193487" cy="193487"/>
          </a:xfrm>
          <a:prstGeom prst="rect">
            <a:avLst/>
          </a:prstGeom>
        </p:spPr>
      </p:pic>
      <p:sp>
        <p:nvSpPr>
          <p:cNvPr id="15" name="Text 8">
            <a:hlinkClick r:id="rId6" tooltip=""/>
          </p:cNvPr>
          <p:cNvSpPr txBox="1"/>
          <p:nvPr/>
        </p:nvSpPr>
        <p:spPr>
          <a:xfrm>
            <a:off x="1280160" y="5742432"/>
            <a:ext cx="5486400" cy="420624"/>
          </a:xfrm>
          <a:prstGeom prst="rect">
            <a:avLst/>
          </a:prstGeom>
          <a:noFill/>
          <a:ln/>
        </p:spPr>
        <p:txBody>
          <a:bodyPr wrap="square" lIns="0" tIns="0" rIns="0" bIns="0" rtlCol="0" anchor="ctr"/>
          <a:lstStyle/>
          <a:p>
            <a:pPr indent="0" marL="0">
              <a:buNone/>
            </a:pPr>
            <a:r>
              <a:rPr lang="en-US" sz="1800" u="sng" dirty="0">
                <a:solidFill>
                  <a:srgbClr val="EDE8DC"/>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ursvanguard.com</a:t>
            </a:r>
            <a:endParaRPr lang="en-US" sz="1800" dirty="0"/>
          </a:p>
        </p:txBody>
      </p:sp>
      <p:sp>
        <p:nvSpPr>
          <p:cNvPr id="16" name="QR card"/>
          <p:cNvSpPr/>
          <p:nvPr/>
        </p:nvSpPr>
        <p:spPr>
          <a:xfrm>
            <a:off x="7818120" y="1920240"/>
            <a:ext cx="3749040" cy="4206240"/>
          </a:xfrm>
          <a:prstGeom prst="rect">
            <a:avLst/>
          </a:prstGeom>
          <a:solidFill>
            <a:srgbClr val="EDE8DC"/>
          </a:solidFill>
          <a:ln w="19050">
            <a:solidFill>
              <a:srgbClr val="C2A25D"/>
            </a:solidFill>
            <a:prstDash val="solid"/>
          </a:ln>
        </p:spPr>
      </p:sp>
      <p:pic>
        <p:nvPicPr>
          <p:cNvPr id="17" name="Image 5" descr="QR code linking to ursvanguard.com">
            <a:hlinkClick r:id="rId8" tooltip=""/>
          </p:cNvPr>
          <p:cNvPicPr>
            <a:picLocks noChangeAspect="1"/>
          </p:cNvPicPr>
          <p:nvPr/>
        </p:nvPicPr>
        <p:blipFill>
          <a:blip r:embed="rId7"/>
          <a:stretch>
            <a:fillRect/>
          </a:stretch>
        </p:blipFill>
        <p:spPr>
          <a:xfrm>
            <a:off x="8092440" y="2194560"/>
            <a:ext cx="3200400" cy="3200400"/>
          </a:xfrm>
          <a:prstGeom prst="rect">
            <a:avLst/>
          </a:prstGeom>
        </p:spPr>
      </p:pic>
      <p:sp>
        <p:nvSpPr>
          <p:cNvPr id="18" name="Text 10"/>
          <p:cNvSpPr txBox="1"/>
          <p:nvPr/>
        </p:nvSpPr>
        <p:spPr>
          <a:xfrm>
            <a:off x="7818120" y="5486400"/>
            <a:ext cx="3749040" cy="274320"/>
          </a:xfrm>
          <a:prstGeom prst="rect">
            <a:avLst/>
          </a:prstGeom>
          <a:noFill/>
          <a:ln/>
        </p:spPr>
        <p:txBody>
          <a:bodyPr wrap="square" lIns="0" tIns="0" rIns="0" bIns="0" rtlCol="0" anchor="ctr"/>
          <a:lstStyle/>
          <a:p>
            <a:pPr algn="ctr" indent="0" marL="0">
              <a:buNone/>
            </a:pPr>
            <a:r>
              <a:rPr lang="en-US" sz="1200" b="1" spc="300" kern="0" dirty="0">
                <a:solidFill>
                  <a:srgbClr val="0B1220"/>
                </a:solidFill>
                <a:latin typeface="Calibri" pitchFamily="34" charset="0"/>
                <a:ea typeface="Calibri" pitchFamily="34" charset="-122"/>
                <a:cs typeface="Calibri" pitchFamily="34" charset="-120"/>
              </a:rPr>
              <a:t>SCAN TO VISIT US</a:t>
            </a:r>
            <a:endParaRPr lang="en-US" sz="1200" dirty="0"/>
          </a:p>
        </p:txBody>
      </p:sp>
      <p:sp>
        <p:nvSpPr>
          <p:cNvPr id="19" name="Text 11"/>
          <p:cNvSpPr txBox="1"/>
          <p:nvPr/>
        </p:nvSpPr>
        <p:spPr>
          <a:xfrm>
            <a:off x="7818120" y="5760720"/>
            <a:ext cx="3749040" cy="274320"/>
          </a:xfrm>
          <a:prstGeom prst="rect">
            <a:avLst/>
          </a:prstGeom>
          <a:noFill/>
          <a:ln/>
        </p:spPr>
        <p:txBody>
          <a:bodyPr wrap="square" lIns="0" tIns="0" rIns="0" bIns="0" rtlCol="0" anchor="ctr"/>
          <a:lstStyle/>
          <a:p>
            <a:pPr algn="ctr" indent="0" marL="0">
              <a:buNone/>
            </a:pPr>
            <a:r>
              <a:rPr lang="en-US" sz="1200" dirty="0">
                <a:solidFill>
                  <a:srgbClr val="2F4468"/>
                </a:solidFill>
                <a:latin typeface="Calibri" pitchFamily="34" charset="0"/>
                <a:ea typeface="Calibri" pitchFamily="34" charset="-122"/>
                <a:cs typeface="Calibri" pitchFamily="34" charset="-120"/>
              </a:rPr>
              <a:t>ursvanguard.com</a:t>
            </a:r>
            <a:endParaRPr lang="en-US" sz="1200" dirty="0"/>
          </a:p>
        </p:txBody>
      </p:sp>
    </p:spTree>
  </p:cSld>
  <p:clrMapOvr>
    <a:masterClrMapping/>
  </p:clrMapOvr>
</p:sld>
</file>

<file path=ppt/theme/theme1.xml><?xml version="1.0" encoding="utf-8"?>
<a:theme xmlns:a="http://schemas.openxmlformats.org/drawingml/2006/main" name="Vanguard Military">
  <a:themeElements>
    <a:clrScheme name="Vanguard Military">
      <a:dk1>
        <a:srgbClr val="0B1220"/>
      </a:dk1>
      <a:lt1>
        <a:srgbClr val="EDE8DC"/>
      </a:lt1>
      <a:dk2>
        <a:srgbClr val="111B2E"/>
      </a:dk2>
      <a:lt2>
        <a:srgbClr val="98A4B8"/>
      </a:lt2>
      <a:accent1>
        <a:srgbClr val="C2A25D"/>
      </a:accent1>
      <a:accent2>
        <a:srgbClr val="2F4468"/>
      </a:accent2>
      <a:accent3>
        <a:srgbClr val="6B7A55"/>
      </a:accent3>
      <a:accent4>
        <a:srgbClr val="8C7A4B"/>
      </a:accent4>
      <a:accent5>
        <a:srgbClr val="22334F"/>
      </a:accent5>
      <a:accent6>
        <a:srgbClr val="B7BFCC"/>
      </a:accent6>
      <a:hlink>
        <a:srgbClr val="C2A25D"/>
      </a:hlink>
      <a:folHlink>
        <a:srgbClr val="98A4B8"/>
      </a:folHlink>
    </a:clrScheme>
    <a:fontScheme name="Vanguard Milita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URS Vanguard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Vanguard — Technologies that Protect</dc:title>
  <dc:subject>PptxGenJS Presentation</dc:subject>
  <dc:creator>URS Vanguard</dc:creator>
  <cp:lastModifiedBy>URS Vanguard</cp:lastModifiedBy>
  <cp:revision>1</cp:revision>
  <dcterms:created xsi:type="dcterms:W3CDTF">2026-10-29T10:17:50Z</dcterms:created>
  <dcterms:modified xsi:type="dcterms:W3CDTF">2026-10-29T10:17:50Z</dcterms:modified>
</cp:coreProperties>
</file>