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3027bb5-a0f0-9d61-2494-5deff168f396}">
          <p14:sldIdLst>
            <p14:sldId id="256"/>
          </p14:sldIdLst>
        </p14:section>
        <p14:section name="Company" id="{b0f3d949-6a24-bf52-cc61-83b96c8e2156}">
          <p14:sldIdLst>
            <p14:sldId id="257"/>
            <p14:sldId id="258"/>
            <p14:sldId id="259"/>
          </p14:sldIdLst>
        </p14:section>
        <p14:section name="KOZHAN 4.0" id="{aa5d2279-5339-5c2e-7bde-9f9a5831df5c}">
          <p14:sldIdLst>
            <p14:sldId id="260"/>
            <p14:sldId id="261"/>
            <p14:sldId id="262"/>
          </p14:sldIdLst>
        </p14:section>
        <p14:section name="Portfolio" id="{9e987367-76a0-919b-812e-f17ae950133a}">
          <p14:sldIdLst>
            <p14:sldId id="263"/>
          </p14:sldIdLst>
        </p14:section>
        <p14:section name="Readiness" id="{9cc9eb80-e8a9-df83-ee3f-a2e294bcd146}">
          <p14:sldIdLst>
            <p14:sldId id="264"/>
            <p14:sldId id="265"/>
          </p14:sldIdLst>
        </p14:section>
        <p14:section name="Contact" id="{b4a3ee0f-d654-0896-3e71-c077c5e3bb4a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Introduce Vanguard and the purpose of the meeting: present the 2026 product line and discuss partnership with Norwegian investors.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Company, mission and vision (from the earlier Vanguard presentation).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Traction figures are taken from the earlier Vanguard presentation; confirm they are current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Advantages taken from the earlier Vanguard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KOZHAN 4.0 is the focus of this presentation. How it works: scan, detect,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Specifications are taken from the product page on the company website (updated 23.10.2026). The earlier PDF catalog gave 2 km detection range and an upper band edge of 8260 MHz; the website values are used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 set, connectors and the optional active remote antenna (powered via MT-30; amplifier gain to be confirmed in the catalog).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products in three groups. All EW platforms can be switched on automatically by the KOZHAN detector.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Capacity, TRL and international engagement figures are taken from the earlier Vanguard presentation; confirm they are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and market drivers are taken from the earlier Vanguard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 with contacts and the QR code to the company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esentation-vanguard/assets/emblem_brass.png">    </p:cNvPr>
          <p:cNvPicPr>
            <a:picLocks noChangeAspect="1"/>
          </p:cNvPicPr>
          <p:nvPr/>
        </p:nvPicPr>
        <p:blipFill>
          <a:blip r:embed="rId1">
            <a:alphaModFix amt="6000"/>
          </a:blip>
          <a:stretch>
            <a:fillRect/>
          </a:stretch>
        </p:blipFill>
        <p:spPr>
          <a:xfrm>
            <a:off x="8778240" y="3291840"/>
            <a:ext cx="4023360" cy="39319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66928"/>
            <a:ext cx="10911535" cy="9144"/>
          </a:xfrm>
          <a:prstGeom prst="rect">
            <a:avLst/>
          </a:prstGeom>
          <a:solidFill>
            <a:srgbClr val="22334F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   ·   TECHNOLOGIES THAT PROTECT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esentation-vanguard/assets/emblem_brass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7498080" y="-548640"/>
            <a:ext cx="5852160" cy="56692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hyperlink" Target="https://ursvanguard.com" TargetMode="External"/><Relationship Id="rId8" Type="http://schemas.openxmlformats.org/officeDocument/2006/relationships/hyperlink" Target="https://ursvanguard.com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7" Type="http://schemas.openxmlformats.org/officeDocument/2006/relationships/image" Target="../media/image-11-6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anguard emblem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-1097280" y="2194560"/>
            <a:ext cx="6035040" cy="5852160"/>
          </a:xfrm>
          <a:prstGeom prst="rect">
            <a:avLst/>
          </a:prstGeom>
        </p:spPr>
      </p:pic>
      <p:pic>
        <p:nvPicPr>
          <p:cNvPr id="3" name="Image 1" descr="Vanguard — Ukrainian Radioelectronic System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3566160" cy="143080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697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PRESENTATION   ·   NORWAY   ·   2026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40080" y="306324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Technologies that Protect</a:t>
            </a:r>
            <a:endParaRPr lang="en-US" sz="50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49377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protection ecosystem: EW, ER and next-generation counter-UAS. Combat-proven, built on proprietary SDR technologies for NATO-market expansion.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 “Vanguard”   ·   Kyiv, Ukraine</a:t>
            </a:r>
            <a:endParaRPr lang="en-US" sz="1200" dirty="0"/>
          </a:p>
        </p:txBody>
      </p:sp>
      <p:pic>
        <p:nvPicPr>
          <p:cNvPr id="8" name="Image 2" descr="KOZHAN 4.0 drone detect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789" y="502920"/>
            <a:ext cx="3223382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URS VANGUARD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Europe’s DefenseTech ecosystem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Kyiv-based developer of electronic warfare (EW), radioelectronic reconnaissance (ER) and counter-UAS systems on proprietary SDR technologies.</a:t>
            </a:r>
            <a:endParaRPr lang="en-US" sz="1800" dirty="0"/>
          </a:p>
        </p:txBody>
      </p:sp>
      <p:sp>
        <p:nvSpPr>
          <p:cNvPr id="5" name="Mission card"/>
          <p:cNvSpPr/>
          <p:nvPr/>
        </p:nvSpPr>
        <p:spPr>
          <a:xfrm>
            <a:off x="640080" y="2880360"/>
            <a:ext cx="3593592" cy="33375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6" name="IconRing"/>
          <p:cNvSpPr/>
          <p:nvPr/>
        </p:nvSpPr>
        <p:spPr>
          <a:xfrm>
            <a:off x="914400" y="3154680"/>
            <a:ext cx="640080" cy="64008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7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2" y="3327502"/>
            <a:ext cx="294437" cy="2944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14400" y="3977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mission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4805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real-time technologies that significantly enhance the protection and survival of military personnel and the success of their missions.</a:t>
            </a:r>
            <a:endParaRPr lang="en-US" sz="1400" dirty="0"/>
          </a:p>
        </p:txBody>
      </p:sp>
      <p:sp>
        <p:nvSpPr>
          <p:cNvPr id="10" name="Mission card"/>
          <p:cNvSpPr/>
          <p:nvPr/>
        </p:nvSpPr>
        <p:spPr>
          <a:xfrm>
            <a:off x="4297680" y="2880360"/>
            <a:ext cx="3593592" cy="33375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1" name="IconRing"/>
          <p:cNvSpPr/>
          <p:nvPr/>
        </p:nvSpPr>
        <p:spPr>
          <a:xfrm>
            <a:off x="4572000" y="3154680"/>
            <a:ext cx="640080" cy="64008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2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822" y="3327502"/>
            <a:ext cx="294437" cy="2944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3977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Vision, 3–5 years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44805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 one of Europe’s key manufacturers of EW, ER and personal protection systems, unified on a single interoperable information-network platform.</a:t>
            </a:r>
            <a:endParaRPr lang="en-US" sz="1400" dirty="0"/>
          </a:p>
        </p:txBody>
      </p:sp>
      <p:sp>
        <p:nvSpPr>
          <p:cNvPr id="15" name="Mission card"/>
          <p:cNvSpPr/>
          <p:nvPr/>
        </p:nvSpPr>
        <p:spPr>
          <a:xfrm>
            <a:off x="7955280" y="2880360"/>
            <a:ext cx="3593592" cy="33375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6" name="IconRing"/>
          <p:cNvSpPr/>
          <p:nvPr/>
        </p:nvSpPr>
        <p:spPr>
          <a:xfrm>
            <a:off x="8229600" y="3154680"/>
            <a:ext cx="640080" cy="64008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7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422" y="3327502"/>
            <a:ext cx="294437" cy="29443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29600" y="3977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expansion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229600" y="448056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battle-tested front-line experience into certified, standardized solutions for NATO countries and international partners.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demand and rapid growth</a:t>
            </a:r>
            <a:endParaRPr lang="en-US" sz="3600" dirty="0"/>
          </a:p>
        </p:txBody>
      </p:sp>
      <p:sp>
        <p:nvSpPr>
          <p:cNvPr id="4" name="Stat card"/>
          <p:cNvSpPr/>
          <p:nvPr/>
        </p:nvSpPr>
        <p:spPr>
          <a:xfrm>
            <a:off x="640080" y="2103120"/>
            <a:ext cx="2578608" cy="4023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42316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84048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Year-over-year growth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77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tripling of demand each year.</a:t>
            </a:r>
            <a:endParaRPr lang="en-US" sz="1400" dirty="0"/>
          </a:p>
        </p:txBody>
      </p:sp>
      <p:sp>
        <p:nvSpPr>
          <p:cNvPr id="8" name="Stat card"/>
          <p:cNvSpPr/>
          <p:nvPr/>
        </p:nvSpPr>
        <p:spPr>
          <a:xfrm>
            <a:off x="3410712" y="2103120"/>
            <a:ext cx="2578608" cy="4023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85032" y="242316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300+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3685032" y="384048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Completed deliveries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85032" y="46177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capacity booked more than a month ahead.</a:t>
            </a:r>
            <a:endParaRPr lang="en-US" sz="1400" dirty="0"/>
          </a:p>
        </p:txBody>
      </p:sp>
      <p:sp>
        <p:nvSpPr>
          <p:cNvPr id="12" name="Stat card"/>
          <p:cNvSpPr/>
          <p:nvPr/>
        </p:nvSpPr>
        <p:spPr>
          <a:xfrm>
            <a:off x="6181344" y="2103120"/>
            <a:ext cx="2578608" cy="4023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55664" y="242316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60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384048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team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46177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specialists covering the full development and production cycle.</a:t>
            </a:r>
            <a:endParaRPr lang="en-US" sz="1400" dirty="0"/>
          </a:p>
        </p:txBody>
      </p:sp>
      <p:sp>
        <p:nvSpPr>
          <p:cNvPr id="16" name="Stat card"/>
          <p:cNvSpPr/>
          <p:nvPr/>
        </p:nvSpPr>
        <p:spPr>
          <a:xfrm>
            <a:off x="8951976" y="2103120"/>
            <a:ext cx="2578608" cy="4023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6296" y="2423160"/>
            <a:ext cx="20299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6–12</a:t>
            </a:r>
            <a:endParaRPr lang="en-US" sz="6600" dirty="0"/>
          </a:p>
        </p:txBody>
      </p:sp>
      <p:sp>
        <p:nvSpPr>
          <p:cNvPr id="18" name="Text 16"/>
          <p:cNvSpPr txBox="1"/>
          <p:nvPr/>
        </p:nvSpPr>
        <p:spPr>
          <a:xfrm>
            <a:off x="9226296" y="3840480"/>
            <a:ext cx="202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of pipeline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226296" y="461772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direct contracts with military units under negotiation.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ADVANTAGES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Control, speed and proven results</a:t>
            </a:r>
            <a:endParaRPr lang="en-US" sz="3600" dirty="0"/>
          </a:p>
        </p:txBody>
      </p:sp>
      <p:sp>
        <p:nvSpPr>
          <p:cNvPr id="4" name="Benefit card"/>
          <p:cNvSpPr/>
          <p:nvPr/>
        </p:nvSpPr>
        <p:spPr>
          <a:xfrm>
            <a:off x="640080" y="210312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5" name="IconRing"/>
          <p:cNvSpPr/>
          <p:nvPr/>
        </p:nvSpPr>
        <p:spPr>
          <a:xfrm>
            <a:off x="914400" y="233172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6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471" y="2484791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proprietary software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429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signal processing, SDR architecture, in-house antenna topology and circuit design.</a:t>
            </a:r>
            <a:endParaRPr lang="en-US" sz="1250" dirty="0"/>
          </a:p>
        </p:txBody>
      </p:sp>
      <p:sp>
        <p:nvSpPr>
          <p:cNvPr id="9" name="Benefit card"/>
          <p:cNvSpPr/>
          <p:nvPr/>
        </p:nvSpPr>
        <p:spPr>
          <a:xfrm>
            <a:off x="4297680" y="210312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0" name="IconRing"/>
          <p:cNvSpPr/>
          <p:nvPr/>
        </p:nvSpPr>
        <p:spPr>
          <a:xfrm>
            <a:off x="4572000" y="233172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1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071" y="2484791"/>
            <a:ext cx="260787" cy="2607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Widest scanning range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429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frequency coverage for detecting masked and non-standard UAV control channels.</a:t>
            </a:r>
            <a:endParaRPr lang="en-US" sz="1250" dirty="0"/>
          </a:p>
        </p:txBody>
      </p:sp>
      <p:sp>
        <p:nvSpPr>
          <p:cNvPr id="14" name="Benefit card"/>
          <p:cNvSpPr/>
          <p:nvPr/>
        </p:nvSpPr>
        <p:spPr>
          <a:xfrm>
            <a:off x="7955280" y="210312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5" name="IconRing"/>
          <p:cNvSpPr/>
          <p:nvPr/>
        </p:nvSpPr>
        <p:spPr>
          <a:xfrm>
            <a:off x="8229600" y="233172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6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671" y="2484791"/>
            <a:ext cx="260787" cy="26078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29600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Minimized false alarms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34290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digital filtering delivers accurate situational awareness.</a:t>
            </a:r>
            <a:endParaRPr lang="en-US" sz="1250" dirty="0"/>
          </a:p>
        </p:txBody>
      </p:sp>
      <p:sp>
        <p:nvSpPr>
          <p:cNvPr id="19" name="Benefit card"/>
          <p:cNvSpPr/>
          <p:nvPr/>
        </p:nvSpPr>
        <p:spPr>
          <a:xfrm>
            <a:off x="640080" y="429768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20" name="IconRing"/>
          <p:cNvSpPr/>
          <p:nvPr/>
        </p:nvSpPr>
        <p:spPr>
          <a:xfrm>
            <a:off x="914400" y="452628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21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471" y="4679351"/>
            <a:ext cx="260787" cy="26078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4400" y="5212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 ecosystem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91440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(ER) and suppression (EW) integrated into a single automated network.</a:t>
            </a:r>
            <a:endParaRPr lang="en-US" sz="1250" dirty="0"/>
          </a:p>
        </p:txBody>
      </p:sp>
      <p:sp>
        <p:nvSpPr>
          <p:cNvPr id="24" name="Benefit card"/>
          <p:cNvSpPr/>
          <p:nvPr/>
        </p:nvSpPr>
        <p:spPr>
          <a:xfrm>
            <a:off x="4297680" y="429768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25" name="IconRing"/>
          <p:cNvSpPr/>
          <p:nvPr/>
        </p:nvSpPr>
        <p:spPr>
          <a:xfrm>
            <a:off x="4572000" y="452628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26" name="Image 4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071" y="4679351"/>
            <a:ext cx="260787" cy="26078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72000" y="5212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control of the chain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R&amp;D, software and production in one company: a high barrier to entry.</a:t>
            </a:r>
            <a:endParaRPr lang="en-US" sz="1250" dirty="0"/>
          </a:p>
        </p:txBody>
      </p:sp>
      <p:sp>
        <p:nvSpPr>
          <p:cNvPr id="29" name="Benefit card"/>
          <p:cNvSpPr/>
          <p:nvPr/>
        </p:nvSpPr>
        <p:spPr>
          <a:xfrm>
            <a:off x="7955280" y="429768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30" name="IconRing"/>
          <p:cNvSpPr/>
          <p:nvPr/>
        </p:nvSpPr>
        <p:spPr>
          <a:xfrm>
            <a:off x="8229600" y="452628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31" name="Image 5" descr="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671" y="4679351"/>
            <a:ext cx="260787" cy="26078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29600" y="5212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adaptation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229600" y="56235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update cycle and direct feedback from front-line operators.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PRODUCT  ·  RF RECONNAISSANCE DEVICE (DRONE DETECTOR)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24128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KOZHAN 4.0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multi-band detector that scans the set frequency ranges and picks up the analog video signal of UAVs from 3 km. Three automatic scan modes, a log of detected signals and fast software updates over Wi-Fi. Interface languages: Ukrainian, English, German and Polish.</a:t>
            </a:r>
            <a:endParaRPr lang="en-US" sz="1500" dirty="0"/>
          </a:p>
        </p:txBody>
      </p:sp>
      <p:sp>
        <p:nvSpPr>
          <p:cNvPr id="5" name="NATO badge"/>
          <p:cNvSpPr/>
          <p:nvPr/>
        </p:nvSpPr>
        <p:spPr>
          <a:xfrm>
            <a:off x="640080" y="3456432"/>
            <a:ext cx="5669280" cy="384048"/>
          </a:xfrm>
          <a:prstGeom prst="rect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456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STAGE OF NATO CODIFICATION  ·  NATO STOCK NUMBER</a:t>
            </a:r>
            <a:endParaRPr lang="en-US" sz="1100" dirty="0"/>
          </a:p>
        </p:txBody>
      </p:sp>
      <p:sp>
        <p:nvSpPr>
          <p:cNvPr id="7" name="Step card"/>
          <p:cNvSpPr/>
          <p:nvPr/>
        </p:nvSpPr>
        <p:spPr>
          <a:xfrm>
            <a:off x="640080" y="4114800"/>
            <a:ext cx="2148840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8" name="IconRing"/>
          <p:cNvSpPr/>
          <p:nvPr/>
        </p:nvSpPr>
        <p:spPr>
          <a:xfrm>
            <a:off x="868680" y="4297680"/>
            <a:ext cx="512064" cy="51206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9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937" y="4435937"/>
            <a:ext cx="235549" cy="23554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8680" y="4919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SCAN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52578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monitoring of 4 radio bands in real time</a:t>
            </a:r>
            <a:endParaRPr lang="en-US" sz="1300" dirty="0"/>
          </a:p>
        </p:txBody>
      </p:sp>
      <p:sp>
        <p:nvSpPr>
          <p:cNvPr id="12" name="Step card"/>
          <p:cNvSpPr/>
          <p:nvPr/>
        </p:nvSpPr>
        <p:spPr>
          <a:xfrm>
            <a:off x="2926080" y="4114800"/>
            <a:ext cx="2148840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3" name="IconRing"/>
          <p:cNvSpPr/>
          <p:nvPr/>
        </p:nvSpPr>
        <p:spPr>
          <a:xfrm>
            <a:off x="3154680" y="4297680"/>
            <a:ext cx="512064" cy="51206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4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2937" y="4435937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154680" y="4919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DETECT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3154680" y="52578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Locks onto the analog UAV video signal</a:t>
            </a:r>
            <a:endParaRPr lang="en-US" sz="1300" dirty="0"/>
          </a:p>
        </p:txBody>
      </p:sp>
      <p:sp>
        <p:nvSpPr>
          <p:cNvPr id="17" name="Step card"/>
          <p:cNvSpPr/>
          <p:nvPr/>
        </p:nvSpPr>
        <p:spPr>
          <a:xfrm>
            <a:off x="5212080" y="4114800"/>
            <a:ext cx="2148840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8" name="IconRing"/>
          <p:cNvSpPr/>
          <p:nvPr/>
        </p:nvSpPr>
        <p:spPr>
          <a:xfrm>
            <a:off x="5440680" y="4297680"/>
            <a:ext cx="512064" cy="51206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9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937" y="4435937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440680" y="4919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ALERT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440680" y="52578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operator notification and log entry</a:t>
            </a:r>
            <a:endParaRPr lang="en-US" sz="1300" dirty="0"/>
          </a:p>
        </p:txBody>
      </p:sp>
      <p:pic>
        <p:nvPicPr>
          <p:cNvPr id="22" name="Image 3" descr="KOZHAN 4.0 detector with four antenn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2566" y="1097280"/>
            <a:ext cx="385154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KOZHAN 4.0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characteristics</a:t>
            </a:r>
            <a:endParaRPr lang="en-US" sz="3600" dirty="0"/>
          </a:p>
        </p:txBody>
      </p:sp>
      <p:sp>
        <p:nvSpPr>
          <p:cNvPr id="4" name="Stat card"/>
          <p:cNvSpPr/>
          <p:nvPr/>
        </p:nvSpPr>
        <p:spPr>
          <a:xfrm>
            <a:off x="640080" y="2103120"/>
            <a:ext cx="2514600" cy="1737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08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bands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· 3G · 5G · 6G</a:t>
            </a:r>
            <a:endParaRPr lang="en-US" sz="1400" dirty="0"/>
          </a:p>
        </p:txBody>
      </p:sp>
      <p:sp>
        <p:nvSpPr>
          <p:cNvPr id="7" name="Stat card"/>
          <p:cNvSpPr/>
          <p:nvPr/>
        </p:nvSpPr>
        <p:spPr>
          <a:xfrm>
            <a:off x="3337560" y="2103120"/>
            <a:ext cx="2514600" cy="1737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240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km+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range,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 km</a:t>
            </a:r>
            <a:endParaRPr lang="en-US" sz="1400" dirty="0"/>
          </a:p>
        </p:txBody>
      </p:sp>
      <p:sp>
        <p:nvSpPr>
          <p:cNvPr id="10" name="Stat card"/>
          <p:cNvSpPr/>
          <p:nvPr/>
        </p:nvSpPr>
        <p:spPr>
          <a:xfrm>
            <a:off x="640080" y="4023360"/>
            <a:ext cx="2514600" cy="1737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1605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h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5029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</a:t>
            </a:r>
            <a:endParaRPr lang="en-US" sz="1400" dirty="0"/>
          </a:p>
        </p:txBody>
      </p:sp>
      <p:sp>
        <p:nvSpPr>
          <p:cNvPr id="13" name="Stat card"/>
          <p:cNvSpPr/>
          <p:nvPr/>
        </p:nvSpPr>
        <p:spPr>
          <a:xfrm>
            <a:off x="3337560" y="4023360"/>
            <a:ext cx="2514600" cy="1737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41605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IP54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5029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Bands, MHz:  900–1800  ·  2700–4500  ·  4850–6150  ·  6000–8200</a:t>
            </a:r>
            <a:endParaRPr lang="en-US" sz="1200" dirty="0"/>
          </a:p>
        </p:txBody>
      </p:sp>
      <p:graphicFrame>
        <p:nvGraphicFramePr>
          <p:cNvPr id="7" name="Spe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103120"/>
          <a:ext cx="52852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73552"/>
              </a:tblGrid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2A2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2A2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 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3 km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7 seconds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modes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automatic, signal 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 5″ (800 × 480); external via AV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battery 75.6 Wh, USB-C charging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 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280×110×45 mm; 155×110×45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Wi-Fi updates; UA, EN, DE, PL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 auto-activation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MT-30 connector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KOZHAN 4.0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kit, ready for the field</a:t>
            </a:r>
            <a:endParaRPr lang="en-US" sz="3600" dirty="0"/>
          </a:p>
        </p:txBody>
      </p:sp>
      <p:pic>
        <p:nvPicPr>
          <p:cNvPr id="4" name="Image 0" descr="KOZHAN 4.0 with antenn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397" y="2011680"/>
            <a:ext cx="2316806" cy="4206240"/>
          </a:xfrm>
          <a:prstGeom prst="rect">
            <a:avLst/>
          </a:prstGeom>
        </p:spPr>
      </p:pic>
      <p:sp>
        <p:nvSpPr>
          <p:cNvPr id="5" name="Kit panel"/>
          <p:cNvSpPr/>
          <p:nvPr/>
        </p:nvSpPr>
        <p:spPr>
          <a:xfrm>
            <a:off x="3246120" y="2103120"/>
            <a:ext cx="2697480" cy="411480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47472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474720" y="2697480"/>
            <a:ext cx="2286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4-band receiver 1G+3G+5G+6G in a solid case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1G, 3G, 5G, 6G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charging cable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mount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Velcro strap set</a:t>
            </a:r>
            <a:endParaRPr lang="en-US" sz="1500" dirty="0"/>
          </a:p>
        </p:txBody>
      </p:sp>
      <p:sp>
        <p:nvSpPr>
          <p:cNvPr id="8" name="Interfaces panel"/>
          <p:cNvSpPr/>
          <p:nvPr/>
        </p:nvSpPr>
        <p:spPr>
          <a:xfrm>
            <a:off x="6126480" y="2103120"/>
            <a:ext cx="2697480" cy="411480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</a:t>
            </a:r>
            <a:endParaRPr lang="en-US" sz="1200" dirty="0"/>
          </a:p>
        </p:txBody>
      </p:sp>
      <p:sp>
        <p:nvSpPr>
          <p:cNvPr id="10" name="IconRing"/>
          <p:cNvSpPr/>
          <p:nvPr/>
        </p:nvSpPr>
        <p:spPr>
          <a:xfrm>
            <a:off x="6355080" y="2788920"/>
            <a:ext cx="502920" cy="50292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1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868" y="292470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40880" y="277063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040880" y="30815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display</a:t>
            </a:r>
            <a:endParaRPr lang="en-US" sz="1200" dirty="0"/>
          </a:p>
        </p:txBody>
      </p:sp>
      <p:sp>
        <p:nvSpPr>
          <p:cNvPr id="14" name="IconRing"/>
          <p:cNvSpPr/>
          <p:nvPr/>
        </p:nvSpPr>
        <p:spPr>
          <a:xfrm>
            <a:off x="6355080" y="3886200"/>
            <a:ext cx="502920" cy="50292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5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868" y="4021988"/>
            <a:ext cx="231343" cy="23134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040880" y="38679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USB-C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7040880" y="41788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</a:t>
            </a:r>
            <a:endParaRPr lang="en-US" sz="1200" dirty="0"/>
          </a:p>
        </p:txBody>
      </p:sp>
      <p:sp>
        <p:nvSpPr>
          <p:cNvPr id="18" name="IconRing"/>
          <p:cNvSpPr/>
          <p:nvPr/>
        </p:nvSpPr>
        <p:spPr>
          <a:xfrm>
            <a:off x="6355080" y="4983480"/>
            <a:ext cx="502920" cy="50292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9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0868" y="5119268"/>
            <a:ext cx="231343" cy="23134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40880" y="49651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MT-30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7040880" y="5276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Auto-start of EW system</a:t>
            </a:r>
            <a:endParaRPr lang="en-US" sz="1200" dirty="0"/>
          </a:p>
        </p:txBody>
      </p:sp>
      <p:sp>
        <p:nvSpPr>
          <p:cNvPr id="22" name="Accessory panel"/>
          <p:cNvSpPr/>
          <p:nvPr/>
        </p:nvSpPr>
        <p:spPr>
          <a:xfrm>
            <a:off x="9006840" y="2103120"/>
            <a:ext cx="2542032" cy="411480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923544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ACCESSORY</a:t>
            </a:r>
            <a:endParaRPr lang="en-US" sz="1200" dirty="0"/>
          </a:p>
        </p:txBody>
      </p:sp>
      <p:pic>
        <p:nvPicPr>
          <p:cNvPr id="24" name="Image 4" descr="Active remote antenn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2722626"/>
            <a:ext cx="2286000" cy="8641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23544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remote antenna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9235440" y="41605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mount, four antenna channels with built-in amplifiers, 3 m RG316 cables. For KOZHAN 4.0 and 3.0.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PORTFOLIO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ecosystem: detect, observe, suppress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Delfin and Kraken are in serial production and used in real operations; EW platforms can be started automatically by KOZHAN.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AND SURVEILLANCE</a:t>
            </a:r>
            <a:endParaRPr lang="en-US" sz="1200" dirty="0"/>
          </a:p>
        </p:txBody>
      </p:sp>
      <p:sp>
        <p:nvSpPr>
          <p:cNvPr id="6" name="Product card"/>
          <p:cNvSpPr/>
          <p:nvPr/>
        </p:nvSpPr>
        <p:spPr>
          <a:xfrm>
            <a:off x="640080" y="2286000"/>
            <a:ext cx="3520440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7" name="Image 0" descr="KOZHAN 4.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979" y="2395728"/>
            <a:ext cx="1100442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468880" y="2606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KOZHAN 4.0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30175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Multi-band drone detector, 4 bands</a:t>
            </a:r>
            <a:endParaRPr lang="en-US" sz="1200" dirty="0"/>
          </a:p>
        </p:txBody>
      </p:sp>
      <p:sp>
        <p:nvSpPr>
          <p:cNvPr id="10" name="Product card"/>
          <p:cNvSpPr/>
          <p:nvPr/>
        </p:nvSpPr>
        <p:spPr>
          <a:xfrm>
            <a:off x="4334256" y="2286000"/>
            <a:ext cx="3520440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11" name="Image 1" descr="Remote antenn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2833451"/>
            <a:ext cx="1554480" cy="5875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163056" y="2606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antenna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163056" y="30175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mount, built-in amplifiers</a:t>
            </a:r>
            <a:endParaRPr lang="en-US" sz="1200" dirty="0"/>
          </a:p>
        </p:txBody>
      </p:sp>
      <p:sp>
        <p:nvSpPr>
          <p:cNvPr id="14" name="Product card"/>
          <p:cNvSpPr/>
          <p:nvPr/>
        </p:nvSpPr>
        <p:spPr>
          <a:xfrm>
            <a:off x="8028432" y="2286000"/>
            <a:ext cx="3520440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15" name="Image 2" descr="N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2776935"/>
            <a:ext cx="1554480" cy="70062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857232" y="2606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857232" y="30175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Pan-controlled thermal camera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224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WARFARE, 300–6000 MHZ</a:t>
            </a:r>
            <a:endParaRPr lang="en-US" sz="1200" dirty="0"/>
          </a:p>
        </p:txBody>
      </p:sp>
      <p:sp>
        <p:nvSpPr>
          <p:cNvPr id="19" name="Product card"/>
          <p:cNvSpPr/>
          <p:nvPr/>
        </p:nvSpPr>
        <p:spPr>
          <a:xfrm>
            <a:off x="640080" y="4526280"/>
            <a:ext cx="2615184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20" name="Image 3" descr="Delf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763" y="4590288"/>
            <a:ext cx="2177817" cy="8686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Delfin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Disguised as a civilian car roof box</a:t>
            </a:r>
            <a:endParaRPr lang="en-US" sz="1200" dirty="0"/>
          </a:p>
        </p:txBody>
      </p:sp>
      <p:sp>
        <p:nvSpPr>
          <p:cNvPr id="23" name="Product card"/>
          <p:cNvSpPr/>
          <p:nvPr/>
        </p:nvSpPr>
        <p:spPr>
          <a:xfrm>
            <a:off x="3392424" y="4526280"/>
            <a:ext cx="2615184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24" name="Image 4" descr="Hydra 2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9823" y="4590288"/>
            <a:ext cx="1560387" cy="8686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575304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Hydra 2U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3575304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19″ rack for heavy vehicles, 8–20 bands</a:t>
            </a:r>
            <a:endParaRPr lang="en-US" sz="1200" dirty="0"/>
          </a:p>
        </p:txBody>
      </p:sp>
      <p:sp>
        <p:nvSpPr>
          <p:cNvPr id="27" name="Product card"/>
          <p:cNvSpPr/>
          <p:nvPr/>
        </p:nvSpPr>
        <p:spPr>
          <a:xfrm>
            <a:off x="6144768" y="4526280"/>
            <a:ext cx="2615184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28" name="Image 5" descr="Dokatk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5849" y="4590288"/>
            <a:ext cx="1473023" cy="86868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327648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Dokatka</a:t>
            </a:r>
            <a:endParaRPr lang="en-US" sz="1600" dirty="0"/>
          </a:p>
        </p:txBody>
      </p:sp>
      <p:sp>
        <p:nvSpPr>
          <p:cNvPr id="30" name="Text 22"/>
          <p:cNvSpPr txBox="1"/>
          <p:nvPr/>
        </p:nvSpPr>
        <p:spPr>
          <a:xfrm>
            <a:off x="6327648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in truck-wheel form factor</a:t>
            </a:r>
            <a:endParaRPr lang="en-US" sz="1200" dirty="0"/>
          </a:p>
        </p:txBody>
      </p:sp>
      <p:sp>
        <p:nvSpPr>
          <p:cNvPr id="31" name="Product card"/>
          <p:cNvSpPr/>
          <p:nvPr/>
        </p:nvSpPr>
        <p:spPr>
          <a:xfrm>
            <a:off x="8897112" y="4526280"/>
            <a:ext cx="2615184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32" name="Image 6" descr="Krake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9478" y="4590288"/>
            <a:ext cx="1110451" cy="86868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79992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Kraken</a:t>
            </a:r>
            <a:endParaRPr lang="en-US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9079992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sector suppression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AND READINESS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Field-validated, ready to scale</a:t>
            </a:r>
            <a:endParaRPr lang="en-US" sz="3600" dirty="0"/>
          </a:p>
        </p:txBody>
      </p:sp>
      <p:sp>
        <p:nvSpPr>
          <p:cNvPr id="4" name="Stat card"/>
          <p:cNvSpPr/>
          <p:nvPr/>
        </p:nvSpPr>
        <p:spPr>
          <a:xfrm>
            <a:off x="640080" y="2011680"/>
            <a:ext cx="2606040" cy="141732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1408"/>
            <a:ext cx="224028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90418"/>
            <a:ext cx="224028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integration</a:t>
            </a:r>
            <a:endParaRPr lang="en-US" sz="1200" dirty="0"/>
          </a:p>
        </p:txBody>
      </p:sp>
      <p:sp>
        <p:nvSpPr>
          <p:cNvPr id="7" name="Stat card"/>
          <p:cNvSpPr/>
          <p:nvPr/>
        </p:nvSpPr>
        <p:spPr>
          <a:xfrm>
            <a:off x="3383280" y="2011680"/>
            <a:ext cx="2606040" cy="141732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121408"/>
            <a:ext cx="224028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890418"/>
            <a:ext cx="224028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per month, up to</a:t>
            </a:r>
            <a:endParaRPr lang="en-US" sz="1200" dirty="0"/>
          </a:p>
        </p:txBody>
      </p:sp>
      <p:sp>
        <p:nvSpPr>
          <p:cNvPr id="10" name="Stat card"/>
          <p:cNvSpPr/>
          <p:nvPr/>
        </p:nvSpPr>
        <p:spPr>
          <a:xfrm>
            <a:off x="6126480" y="2011680"/>
            <a:ext cx="2606040" cy="141732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121408"/>
            <a:ext cx="224028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890418"/>
            <a:ext cx="224028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 systems per month, up to</a:t>
            </a:r>
            <a:endParaRPr lang="en-US" sz="1200" dirty="0"/>
          </a:p>
        </p:txBody>
      </p:sp>
      <p:sp>
        <p:nvSpPr>
          <p:cNvPr id="13" name="Stat card"/>
          <p:cNvSpPr/>
          <p:nvPr/>
        </p:nvSpPr>
        <p:spPr>
          <a:xfrm>
            <a:off x="8869680" y="2011680"/>
            <a:ext cx="2606040" cy="141732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2121408"/>
            <a:ext cx="224028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Days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890418"/>
            <a:ext cx="2240280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firmware and hardware updates</a:t>
            </a:r>
            <a:endParaRPr lang="en-US" sz="1200" dirty="0"/>
          </a:p>
        </p:txBody>
      </p:sp>
      <p:sp>
        <p:nvSpPr>
          <p:cNvPr id="16" name="Readiness card"/>
          <p:cNvSpPr/>
          <p:nvPr/>
        </p:nvSpPr>
        <p:spPr>
          <a:xfrm>
            <a:off x="640080" y="3703320"/>
            <a:ext cx="3593592" cy="251460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7" name="IconRing"/>
          <p:cNvSpPr/>
          <p:nvPr/>
        </p:nvSpPr>
        <p:spPr>
          <a:xfrm>
            <a:off x="914400" y="393192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8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471" y="4084991"/>
            <a:ext cx="260787" cy="260787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645920" y="39319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9 readiness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47091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passed full verification in real combat conditions, with hundreds of positive feedback reports from military units.</a:t>
            </a:r>
            <a:endParaRPr lang="en-US" sz="1300" dirty="0"/>
          </a:p>
        </p:txBody>
      </p:sp>
      <p:sp>
        <p:nvSpPr>
          <p:cNvPr id="21" name="Readiness card"/>
          <p:cNvSpPr/>
          <p:nvPr/>
        </p:nvSpPr>
        <p:spPr>
          <a:xfrm>
            <a:off x="4297680" y="3703320"/>
            <a:ext cx="3593592" cy="251460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22" name="IconRing"/>
          <p:cNvSpPr/>
          <p:nvPr/>
        </p:nvSpPr>
        <p:spPr>
          <a:xfrm>
            <a:off x="4572000" y="393192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23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071" y="4084991"/>
            <a:ext cx="260787" cy="26078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03520" y="39319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International forums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0" y="47091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in, and official invitations to, defense events in the USA, Lithuania, Norway, Italy and others.</a:t>
            </a:r>
            <a:endParaRPr lang="en-US" sz="1300" dirty="0"/>
          </a:p>
        </p:txBody>
      </p:sp>
      <p:sp>
        <p:nvSpPr>
          <p:cNvPr id="26" name="Readiness card"/>
          <p:cNvSpPr/>
          <p:nvPr/>
        </p:nvSpPr>
        <p:spPr>
          <a:xfrm>
            <a:off x="7955280" y="3703320"/>
            <a:ext cx="3593592" cy="251460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27" name="IconRing"/>
          <p:cNvSpPr/>
          <p:nvPr/>
        </p:nvSpPr>
        <p:spPr>
          <a:xfrm>
            <a:off x="8229600" y="393192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28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671" y="4084991"/>
            <a:ext cx="260787" cy="260787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961120" y="39319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Partnerships and certification</a:t>
            </a:r>
            <a:endParaRPr lang="en-US" sz="1700" dirty="0"/>
          </a:p>
        </p:txBody>
      </p:sp>
      <p:sp>
        <p:nvSpPr>
          <p:cNvPr id="30" name="Text 25"/>
          <p:cNvSpPr txBox="1"/>
          <p:nvPr/>
        </p:nvSpPr>
        <p:spPr>
          <a:xfrm>
            <a:off x="8229600" y="470916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cooperation agreements reached; codification, patenting and international certification under 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path to the NATO market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60120" y="2514600"/>
            <a:ext cx="8229600" cy="0"/>
          </a:xfrm>
          <a:prstGeom prst="line">
            <a:avLst/>
          </a:prstGeom>
          <a:noFill/>
          <a:ln w="19050">
            <a:solidFill>
              <a:srgbClr val="2F4468"/>
            </a:solidFill>
            <a:prstDash val="solid"/>
          </a:ln>
        </p:spPr>
      </p:sp>
      <p:sp>
        <p:nvSpPr>
          <p:cNvPr id="5" name="Step marker"/>
          <p:cNvSpPr/>
          <p:nvPr/>
        </p:nvSpPr>
        <p:spPr>
          <a:xfrm>
            <a:off x="640080" y="2194560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C2A25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6324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 and certification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947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codification, obtain export permits and international certificates.</a:t>
            </a:r>
            <a:endParaRPr lang="en-US" sz="1300" dirty="0"/>
          </a:p>
        </p:txBody>
      </p:sp>
      <p:sp>
        <p:nvSpPr>
          <p:cNvPr id="9" name="Step marker"/>
          <p:cNvSpPr/>
          <p:nvPr/>
        </p:nvSpPr>
        <p:spPr>
          <a:xfrm>
            <a:off x="3383280" y="2194560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C2A25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306324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European hub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7947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an official presence and legal entity in Poland or Italy.</a:t>
            </a:r>
            <a:endParaRPr lang="en-US" sz="1300" dirty="0"/>
          </a:p>
        </p:txBody>
      </p:sp>
      <p:sp>
        <p:nvSpPr>
          <p:cNvPr id="13" name="Step marker"/>
          <p:cNvSpPr/>
          <p:nvPr/>
        </p:nvSpPr>
        <p:spPr>
          <a:xfrm>
            <a:off x="6126480" y="2194560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C2A25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306324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 network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37947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distribution and joint ventures with Western defense contractors.</a:t>
            </a:r>
            <a:endParaRPr lang="en-US" sz="1300" dirty="0"/>
          </a:p>
        </p:txBody>
      </p:sp>
      <p:sp>
        <p:nvSpPr>
          <p:cNvPr id="17" name="Step marker"/>
          <p:cNvSpPr/>
          <p:nvPr/>
        </p:nvSpPr>
        <p:spPr>
          <a:xfrm>
            <a:off x="8869680" y="2194560"/>
            <a:ext cx="640080" cy="6400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C2A25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68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869680" y="306324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Serial supply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869680" y="37947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production to meet direct defense contracts with partners.</a:t>
            </a:r>
            <a:endParaRPr lang="en-US" sz="1300" dirty="0"/>
          </a:p>
        </p:txBody>
      </p:sp>
      <p:sp>
        <p:nvSpPr>
          <p:cNvPr id="21" name="Market panel"/>
          <p:cNvSpPr/>
          <p:nvPr/>
        </p:nvSpPr>
        <p:spPr>
          <a:xfrm>
            <a:off x="640080" y="4983480"/>
            <a:ext cx="10911535" cy="12801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5102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42239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 counter-drone systems is rising sharply as European armed forces re-arm. Western buyers want solutions validated in real conditions against a technologically advanced adversary, with better price and speed than bulky alternatives.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anguard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2926080" cy="1173994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22860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Let’s build the future of defense technology together</a:t>
            </a:r>
            <a:endParaRPr lang="en-US" sz="4000" dirty="0"/>
          </a:p>
        </p:txBody>
      </p:sp>
      <p:sp>
        <p:nvSpPr>
          <p:cNvPr id="4" name="IconRing"/>
          <p:cNvSpPr/>
          <p:nvPr/>
        </p:nvSpPr>
        <p:spPr>
          <a:xfrm>
            <a:off x="640080" y="3931920"/>
            <a:ext cx="420624" cy="42062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5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48" y="4045488"/>
            <a:ext cx="193487" cy="19348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80160" y="393192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 “Vanguard” LLC, Kyiv, Ukraine</a:t>
            </a:r>
            <a:endParaRPr lang="en-US" sz="1800" dirty="0"/>
          </a:p>
        </p:txBody>
      </p:sp>
      <p:sp>
        <p:nvSpPr>
          <p:cNvPr id="7" name="IconRing"/>
          <p:cNvSpPr/>
          <p:nvPr/>
        </p:nvSpPr>
        <p:spPr>
          <a:xfrm>
            <a:off x="640080" y="4535424"/>
            <a:ext cx="420624" cy="42062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8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48" y="4648992"/>
            <a:ext cx="193487" cy="19348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80160" y="4535424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 (093) 968 59 73</a:t>
            </a:r>
            <a:endParaRPr lang="en-US" sz="1800" dirty="0"/>
          </a:p>
        </p:txBody>
      </p:sp>
      <p:sp>
        <p:nvSpPr>
          <p:cNvPr id="10" name="IconRing"/>
          <p:cNvSpPr/>
          <p:nvPr/>
        </p:nvSpPr>
        <p:spPr>
          <a:xfrm>
            <a:off x="640080" y="5138928"/>
            <a:ext cx="420624" cy="42062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1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648" y="5252496"/>
            <a:ext cx="193487" cy="19348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5138928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vanguardltd25@gmail.com</a:t>
            </a:r>
            <a:endParaRPr lang="en-US" sz="1800" dirty="0"/>
          </a:p>
        </p:txBody>
      </p:sp>
      <p:sp>
        <p:nvSpPr>
          <p:cNvPr id="13" name="IconRing"/>
          <p:cNvSpPr/>
          <p:nvPr/>
        </p:nvSpPr>
        <p:spPr>
          <a:xfrm>
            <a:off x="640080" y="5742432"/>
            <a:ext cx="420624" cy="42062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4" name="Image 4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648" y="5856000"/>
            <a:ext cx="193487" cy="193487"/>
          </a:xfrm>
          <a:prstGeom prst="rect">
            <a:avLst/>
          </a:prstGeom>
        </p:spPr>
      </p:pic>
      <p:sp>
        <p:nvSpPr>
          <p:cNvPr id="15" name="Text 8">
            <a:hlinkClick r:id="rId6" tooltip=""/>
          </p:cNvPr>
          <p:cNvSpPr txBox="1"/>
          <p:nvPr/>
        </p:nvSpPr>
        <p:spPr>
          <a:xfrm>
            <a:off x="1280160" y="5742432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ursvanguard.com</a:t>
            </a:r>
            <a:endParaRPr lang="en-US" sz="1800" dirty="0"/>
          </a:p>
        </p:txBody>
      </p:sp>
      <p:sp>
        <p:nvSpPr>
          <p:cNvPr id="16" name="QR card"/>
          <p:cNvSpPr/>
          <p:nvPr/>
        </p:nvSpPr>
        <p:spPr>
          <a:xfrm>
            <a:off x="7818120" y="1920240"/>
            <a:ext cx="3749040" cy="4206240"/>
          </a:xfrm>
          <a:prstGeom prst="rect">
            <a:avLst/>
          </a:prstGeom>
          <a:solidFill>
            <a:srgbClr val="EDE8DC"/>
          </a:solidFill>
          <a:ln w="19050">
            <a:solidFill>
              <a:srgbClr val="C2A25D"/>
            </a:solidFill>
            <a:prstDash val="solid"/>
          </a:ln>
        </p:spPr>
      </p:sp>
      <p:pic>
        <p:nvPicPr>
          <p:cNvPr id="17" name="Image 5" descr="QR code linking to ursvanguard.com">
            <a:hlinkClick r:id="rId8" tooltip="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2194560"/>
            <a:ext cx="3200400" cy="320040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818120" y="5486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VISIT US</a:t>
            </a:r>
            <a:endParaRPr lang="en-US" sz="1200" dirty="0"/>
          </a:p>
        </p:txBody>
      </p:sp>
      <p:sp>
        <p:nvSpPr>
          <p:cNvPr id="19" name="Text 11"/>
          <p:cNvSpPr txBox="1"/>
          <p:nvPr/>
        </p:nvSpPr>
        <p:spPr>
          <a:xfrm>
            <a:off x="7818120" y="5760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F4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ursvanguard.com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anguard Military">
  <a:themeElements>
    <a:clrScheme name="Vanguard Military">
      <a:dk1>
        <a:srgbClr val="0B1220"/>
      </a:dk1>
      <a:lt1>
        <a:srgbClr val="EDE8DC"/>
      </a:lt1>
      <a:dk2>
        <a:srgbClr val="111B2E"/>
      </a:dk2>
      <a:lt2>
        <a:srgbClr val="98A4B8"/>
      </a:lt2>
      <a:accent1>
        <a:srgbClr val="C2A25D"/>
      </a:accent1>
      <a:accent2>
        <a:srgbClr val="2F4468"/>
      </a:accent2>
      <a:accent3>
        <a:srgbClr val="6B7A55"/>
      </a:accent3>
      <a:accent4>
        <a:srgbClr val="8C7A4B"/>
      </a:accent4>
      <a:accent5>
        <a:srgbClr val="22334F"/>
      </a:accent5>
      <a:accent6>
        <a:srgbClr val="B7BFCC"/>
      </a:accent6>
      <a:hlink>
        <a:srgbClr val="C2A25D"/>
      </a:hlink>
      <a:folHlink>
        <a:srgbClr val="98A4B8"/>
      </a:folHlink>
    </a:clrScheme>
    <a:fontScheme name="Vanguard Milita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URS Vanguard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Vanguard — Technologies that Protect</dc:title>
  <dc:subject>PptxGenJS Presentation</dc:subject>
  <dc:creator>URS Vanguard</dc:creator>
  <cp:lastModifiedBy>URS Vanguard</cp:lastModifiedBy>
  <cp:revision>1</cp:revision>
  <dcterms:created xsi:type="dcterms:W3CDTF">2026-10-29T10:44:47Z</dcterms:created>
  <dcterms:modified xsi:type="dcterms:W3CDTF">2026-10-29T10:44:47Z</dcterms:modified>
</cp:coreProperties>
</file>